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charts/chart6.xml" ContentType="application/vnd.openxmlformats-officedocument.drawingml.chart+xml"/>
  <Override PartName="/ppt/notesSlides/notesSlide12.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562" y="59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lineChart>
        <c:grouping val="standard"/>
        <c:varyColors val="0"/>
        <c:ser>
          <c:idx val="0"/>
          <c:order val="0"/>
          <c:tx>
            <c:strRef>
              <c:f>Sheet1!$B$1</c:f>
              <c:strCache>
                <c:ptCount val="1"/>
                <c:pt idx="0">
                  <c:v>Rice (INR/KG)</c:v>
                </c:pt>
              </c:strCache>
            </c:strRef>
          </c:tx>
          <c:spPr>
            <a:ln w="31750" cap="flat">
              <a:solidFill>
                <a:srgbClr val="82B36C"/>
              </a:solidFill>
              <a:prstDash val="solid"/>
              <a:round/>
            </a:ln>
            <a:effectLst/>
          </c:spPr>
          <c:marker>
            <c:symbol val="circle"/>
            <c:size val="6"/>
            <c:spPr>
              <a:solidFill>
                <a:srgbClr val="82B36C"/>
              </a:solidFill>
              <a:ln w="9525" cap="flat">
                <a:solidFill>
                  <a:srgbClr val="82B36C"/>
                </a:solidFill>
                <a:prstDash val="solid"/>
                <a:round/>
              </a:ln>
              <a:effectLst/>
            </c:spPr>
          </c:marker>
          <c:cat>
            <c:strRef>
              <c:f>Sheet1!$A$2:$A$15</c:f>
              <c:strCache>
                <c:ptCount val="14"/>
                <c:pt idx="0">
                  <c:v>2007</c:v>
                </c:pt>
                <c:pt idx="1">
                  <c:v>2008</c:v>
                </c:pt>
                <c:pt idx="2">
                  <c:v>2009</c:v>
                </c:pt>
                <c:pt idx="3">
                  <c:v>2010</c:v>
                </c:pt>
                <c:pt idx="4">
                  <c:v>2011</c:v>
                </c:pt>
                <c:pt idx="5">
                  <c:v>2012</c:v>
                </c:pt>
                <c:pt idx="6">
                  <c:v>2013</c:v>
                </c:pt>
                <c:pt idx="7">
                  <c:v>2014</c:v>
                </c:pt>
                <c:pt idx="8">
                  <c:v>2015</c:v>
                </c:pt>
                <c:pt idx="9">
                  <c:v>2016</c:v>
                </c:pt>
                <c:pt idx="10">
                  <c:v>2017</c:v>
                </c:pt>
                <c:pt idx="11">
                  <c:v>2018</c:v>
                </c:pt>
                <c:pt idx="12">
                  <c:v>2019</c:v>
                </c:pt>
                <c:pt idx="13">
                  <c:v>2020</c:v>
                </c:pt>
              </c:strCache>
            </c:strRef>
          </c:cat>
          <c:val>
            <c:numRef>
              <c:f>Sheet1!$B$2:$B$15</c:f>
              <c:numCache>
                <c:formatCode>General</c:formatCode>
                <c:ptCount val="14"/>
                <c:pt idx="0">
                  <c:v>14.2</c:v>
                </c:pt>
                <c:pt idx="1">
                  <c:v>16.8</c:v>
                </c:pt>
                <c:pt idx="2">
                  <c:v>17.899999999999999</c:v>
                </c:pt>
                <c:pt idx="3">
                  <c:v>19.5</c:v>
                </c:pt>
                <c:pt idx="4">
                  <c:v>22.1</c:v>
                </c:pt>
                <c:pt idx="5">
                  <c:v>24</c:v>
                </c:pt>
                <c:pt idx="6">
                  <c:v>26.3</c:v>
                </c:pt>
                <c:pt idx="7">
                  <c:v>28.1</c:v>
                </c:pt>
                <c:pt idx="8">
                  <c:v>27.9</c:v>
                </c:pt>
                <c:pt idx="9">
                  <c:v>28.7</c:v>
                </c:pt>
                <c:pt idx="10">
                  <c:v>30.2</c:v>
                </c:pt>
                <c:pt idx="11">
                  <c:v>32.1</c:v>
                </c:pt>
                <c:pt idx="12">
                  <c:v>33.799999999999997</c:v>
                </c:pt>
                <c:pt idx="13">
                  <c:v>35</c:v>
                </c:pt>
              </c:numCache>
            </c:numRef>
          </c:val>
          <c:smooth val="1"/>
          <c:extLst>
            <c:ext xmlns:c16="http://schemas.microsoft.com/office/drawing/2014/chart" uri="{C3380CC4-5D6E-409C-BE32-E72D297353CC}">
              <c16:uniqueId val="{00000000-5DBF-4BF8-98D5-6AF42BB04EBD}"/>
            </c:ext>
          </c:extLst>
        </c:ser>
        <c:ser>
          <c:idx val="1"/>
          <c:order val="1"/>
          <c:tx>
            <c:strRef>
              <c:f>Sheet1!$C$1</c:f>
              <c:strCache>
                <c:ptCount val="1"/>
                <c:pt idx="0">
                  <c:v>Milk (INR/KG)</c:v>
                </c:pt>
              </c:strCache>
            </c:strRef>
          </c:tx>
          <c:spPr>
            <a:ln w="31750" cap="flat">
              <a:solidFill>
                <a:srgbClr val="4DB6C4"/>
              </a:solidFill>
              <a:prstDash val="solid"/>
              <a:round/>
            </a:ln>
            <a:effectLst/>
          </c:spPr>
          <c:marker>
            <c:symbol val="circle"/>
            <c:size val="6"/>
            <c:spPr>
              <a:solidFill>
                <a:srgbClr val="4DB6C4"/>
              </a:solidFill>
              <a:ln w="9525" cap="flat">
                <a:solidFill>
                  <a:srgbClr val="4DB6C4"/>
                </a:solidFill>
                <a:prstDash val="solid"/>
                <a:round/>
              </a:ln>
              <a:effectLst/>
            </c:spPr>
          </c:marker>
          <c:cat>
            <c:strRef>
              <c:f>Sheet1!$A$2:$A$15</c:f>
              <c:strCache>
                <c:ptCount val="14"/>
                <c:pt idx="0">
                  <c:v>2007</c:v>
                </c:pt>
                <c:pt idx="1">
                  <c:v>2008</c:v>
                </c:pt>
                <c:pt idx="2">
                  <c:v>2009</c:v>
                </c:pt>
                <c:pt idx="3">
                  <c:v>2010</c:v>
                </c:pt>
                <c:pt idx="4">
                  <c:v>2011</c:v>
                </c:pt>
                <c:pt idx="5">
                  <c:v>2012</c:v>
                </c:pt>
                <c:pt idx="6">
                  <c:v>2013</c:v>
                </c:pt>
                <c:pt idx="7">
                  <c:v>2014</c:v>
                </c:pt>
                <c:pt idx="8">
                  <c:v>2015</c:v>
                </c:pt>
                <c:pt idx="9">
                  <c:v>2016</c:v>
                </c:pt>
                <c:pt idx="10">
                  <c:v>2017</c:v>
                </c:pt>
                <c:pt idx="11">
                  <c:v>2018</c:v>
                </c:pt>
                <c:pt idx="12">
                  <c:v>2019</c:v>
                </c:pt>
                <c:pt idx="13">
                  <c:v>2020</c:v>
                </c:pt>
              </c:strCache>
            </c:strRef>
          </c:cat>
          <c:val>
            <c:numRef>
              <c:f>Sheet1!$C$2:$C$15</c:f>
              <c:numCache>
                <c:formatCode>General</c:formatCode>
                <c:ptCount val="14"/>
                <c:pt idx="0">
                  <c:v>15</c:v>
                </c:pt>
                <c:pt idx="1">
                  <c:v>18.2</c:v>
                </c:pt>
                <c:pt idx="2">
                  <c:v>19.5</c:v>
                </c:pt>
                <c:pt idx="3">
                  <c:v>22</c:v>
                </c:pt>
                <c:pt idx="4">
                  <c:v>26</c:v>
                </c:pt>
                <c:pt idx="5">
                  <c:v>29.5</c:v>
                </c:pt>
                <c:pt idx="6">
                  <c:v>33</c:v>
                </c:pt>
                <c:pt idx="7">
                  <c:v>36</c:v>
                </c:pt>
                <c:pt idx="8">
                  <c:v>38</c:v>
                </c:pt>
                <c:pt idx="9">
                  <c:v>39.5</c:v>
                </c:pt>
                <c:pt idx="10">
                  <c:v>41</c:v>
                </c:pt>
                <c:pt idx="11">
                  <c:v>44</c:v>
                </c:pt>
                <c:pt idx="12">
                  <c:v>46</c:v>
                </c:pt>
                <c:pt idx="13">
                  <c:v>47.5</c:v>
                </c:pt>
              </c:numCache>
            </c:numRef>
          </c:val>
          <c:smooth val="1"/>
          <c:extLst>
            <c:ext xmlns:c16="http://schemas.microsoft.com/office/drawing/2014/chart" uri="{C3380CC4-5D6E-409C-BE32-E72D297353CC}">
              <c16:uniqueId val="{00000001-5DBF-4BF8-98D5-6AF42BB04EB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7A8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C"/>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lineChart>
        <c:grouping val="standard"/>
        <c:varyColors val="0"/>
        <c:ser>
          <c:idx val="0"/>
          <c:order val="0"/>
          <c:tx>
            <c:strRef>
              <c:f>Sheet1!$B$1</c:f>
              <c:strCache>
                <c:ptCount val="1"/>
                <c:pt idx="0">
                  <c:v>Meat</c:v>
                </c:pt>
              </c:strCache>
            </c:strRef>
          </c:tx>
          <c:spPr>
            <a:ln w="31750" cap="flat">
              <a:solidFill>
                <a:srgbClr val="C05454"/>
              </a:solidFill>
              <a:prstDash val="solid"/>
              <a:round/>
            </a:ln>
            <a:effectLst/>
          </c:spPr>
          <c:marker>
            <c:symbol val="circle"/>
            <c:size val="6"/>
            <c:spPr>
              <a:solidFill>
                <a:srgbClr val="C05454"/>
              </a:solidFill>
              <a:ln w="9525" cap="flat">
                <a:solidFill>
                  <a:srgbClr val="C05454"/>
                </a:solidFill>
                <a:prstDash val="solid"/>
                <a:round/>
              </a:ln>
              <a:effectLst/>
            </c:spPr>
          </c:marker>
          <c:cat>
            <c:strRef>
              <c:f>Sheet1!$A$2:$A$12</c:f>
              <c:strCache>
                <c:ptCount val="11"/>
                <c:pt idx="0">
                  <c:v>2008</c:v>
                </c:pt>
                <c:pt idx="1">
                  <c:v>2010</c:v>
                </c:pt>
                <c:pt idx="2">
                  <c:v>2012</c:v>
                </c:pt>
                <c:pt idx="3">
                  <c:v>2014</c:v>
                </c:pt>
                <c:pt idx="4">
                  <c:v>2015</c:v>
                </c:pt>
                <c:pt idx="5">
                  <c:v>2016</c:v>
                </c:pt>
                <c:pt idx="6">
                  <c:v>2017</c:v>
                </c:pt>
                <c:pt idx="7">
                  <c:v>2018</c:v>
                </c:pt>
                <c:pt idx="8">
                  <c:v>2019</c:v>
                </c:pt>
                <c:pt idx="9">
                  <c:v>2020</c:v>
                </c:pt>
                <c:pt idx="10">
                  <c:v>2021</c:v>
                </c:pt>
              </c:strCache>
            </c:strRef>
          </c:cat>
          <c:val>
            <c:numRef>
              <c:f>Sheet1!$B$2:$B$12</c:f>
              <c:numCache>
                <c:formatCode>General</c:formatCode>
                <c:ptCount val="11"/>
                <c:pt idx="0">
                  <c:v>24.5</c:v>
                </c:pt>
                <c:pt idx="1">
                  <c:v>28</c:v>
                </c:pt>
                <c:pt idx="2">
                  <c:v>32</c:v>
                </c:pt>
                <c:pt idx="3">
                  <c:v>36</c:v>
                </c:pt>
                <c:pt idx="4">
                  <c:v>55</c:v>
                </c:pt>
                <c:pt idx="5">
                  <c:v>68</c:v>
                </c:pt>
                <c:pt idx="6">
                  <c:v>72</c:v>
                </c:pt>
                <c:pt idx="7">
                  <c:v>80</c:v>
                </c:pt>
                <c:pt idx="8">
                  <c:v>85</c:v>
                </c:pt>
                <c:pt idx="9">
                  <c:v>90</c:v>
                </c:pt>
                <c:pt idx="10">
                  <c:v>95</c:v>
                </c:pt>
              </c:numCache>
            </c:numRef>
          </c:val>
          <c:smooth val="1"/>
          <c:extLst>
            <c:ext xmlns:c16="http://schemas.microsoft.com/office/drawing/2014/chart" uri="{C3380CC4-5D6E-409C-BE32-E72D297353CC}">
              <c16:uniqueId val="{00000000-4C8F-4C84-8745-852F049CAB6B}"/>
            </c:ext>
          </c:extLst>
        </c:ser>
        <c:ser>
          <c:idx val="1"/>
          <c:order val="1"/>
          <c:tx>
            <c:strRef>
              <c:f>Sheet1!$C$1</c:f>
              <c:strCache>
                <c:ptCount val="1"/>
                <c:pt idx="0">
                  <c:v>Milk</c:v>
                </c:pt>
              </c:strCache>
            </c:strRef>
          </c:tx>
          <c:spPr>
            <a:ln w="31750" cap="flat">
              <a:solidFill>
                <a:srgbClr val="4DB6C4"/>
              </a:solidFill>
              <a:prstDash val="solid"/>
              <a:round/>
            </a:ln>
            <a:effectLst/>
          </c:spPr>
          <c:marker>
            <c:symbol val="circle"/>
            <c:size val="6"/>
            <c:spPr>
              <a:solidFill>
                <a:srgbClr val="4DB6C4"/>
              </a:solidFill>
              <a:ln w="9525" cap="flat">
                <a:solidFill>
                  <a:srgbClr val="4DB6C4"/>
                </a:solidFill>
                <a:prstDash val="solid"/>
                <a:round/>
              </a:ln>
              <a:effectLst/>
            </c:spPr>
          </c:marker>
          <c:cat>
            <c:strRef>
              <c:f>Sheet1!$A$2:$A$12</c:f>
              <c:strCache>
                <c:ptCount val="11"/>
                <c:pt idx="0">
                  <c:v>2008</c:v>
                </c:pt>
                <c:pt idx="1">
                  <c:v>2010</c:v>
                </c:pt>
                <c:pt idx="2">
                  <c:v>2012</c:v>
                </c:pt>
                <c:pt idx="3">
                  <c:v>2014</c:v>
                </c:pt>
                <c:pt idx="4">
                  <c:v>2015</c:v>
                </c:pt>
                <c:pt idx="5">
                  <c:v>2016</c:v>
                </c:pt>
                <c:pt idx="6">
                  <c:v>2017</c:v>
                </c:pt>
                <c:pt idx="7">
                  <c:v>2018</c:v>
                </c:pt>
                <c:pt idx="8">
                  <c:v>2019</c:v>
                </c:pt>
                <c:pt idx="9">
                  <c:v>2020</c:v>
                </c:pt>
                <c:pt idx="10">
                  <c:v>2021</c:v>
                </c:pt>
              </c:strCache>
            </c:strRef>
          </c:cat>
          <c:val>
            <c:numRef>
              <c:f>Sheet1!$C$2:$C$12</c:f>
              <c:numCache>
                <c:formatCode>General</c:formatCode>
                <c:ptCount val="11"/>
                <c:pt idx="0">
                  <c:v>5.2</c:v>
                </c:pt>
                <c:pt idx="1">
                  <c:v>6</c:v>
                </c:pt>
                <c:pt idx="2">
                  <c:v>7.5</c:v>
                </c:pt>
                <c:pt idx="3">
                  <c:v>8.5</c:v>
                </c:pt>
                <c:pt idx="4">
                  <c:v>13</c:v>
                </c:pt>
                <c:pt idx="5">
                  <c:v>16</c:v>
                </c:pt>
                <c:pt idx="6">
                  <c:v>17.5</c:v>
                </c:pt>
                <c:pt idx="7">
                  <c:v>19</c:v>
                </c:pt>
                <c:pt idx="8">
                  <c:v>20.5</c:v>
                </c:pt>
                <c:pt idx="9">
                  <c:v>22</c:v>
                </c:pt>
                <c:pt idx="10">
                  <c:v>24.5</c:v>
                </c:pt>
              </c:numCache>
            </c:numRef>
          </c:val>
          <c:smooth val="1"/>
          <c:extLst>
            <c:ext xmlns:c16="http://schemas.microsoft.com/office/drawing/2014/chart" uri="{C3380CC4-5D6E-409C-BE32-E72D297353CC}">
              <c16:uniqueId val="{00000001-4C8F-4C84-8745-852F049CAB6B}"/>
            </c:ext>
          </c:extLst>
        </c:ser>
        <c:ser>
          <c:idx val="2"/>
          <c:order val="2"/>
          <c:tx>
            <c:strRef>
              <c:f>Sheet1!$D$1</c:f>
              <c:strCache>
                <c:ptCount val="1"/>
                <c:pt idx="0">
                  <c:v>Rice</c:v>
                </c:pt>
              </c:strCache>
            </c:strRef>
          </c:tx>
          <c:spPr>
            <a:ln w="31750" cap="flat">
              <a:solidFill>
                <a:srgbClr val="82B36C"/>
              </a:solidFill>
              <a:prstDash val="solid"/>
              <a:round/>
            </a:ln>
            <a:effectLst/>
          </c:spPr>
          <c:marker>
            <c:symbol val="circle"/>
            <c:size val="6"/>
            <c:spPr>
              <a:solidFill>
                <a:srgbClr val="82B36C"/>
              </a:solidFill>
              <a:ln w="9525" cap="flat">
                <a:solidFill>
                  <a:srgbClr val="82B36C"/>
                </a:solidFill>
                <a:prstDash val="solid"/>
                <a:round/>
              </a:ln>
              <a:effectLst/>
            </c:spPr>
          </c:marker>
          <c:cat>
            <c:strRef>
              <c:f>Sheet1!$A$2:$A$12</c:f>
              <c:strCache>
                <c:ptCount val="11"/>
                <c:pt idx="0">
                  <c:v>2008</c:v>
                </c:pt>
                <c:pt idx="1">
                  <c:v>2010</c:v>
                </c:pt>
                <c:pt idx="2">
                  <c:v>2012</c:v>
                </c:pt>
                <c:pt idx="3">
                  <c:v>2014</c:v>
                </c:pt>
                <c:pt idx="4">
                  <c:v>2015</c:v>
                </c:pt>
                <c:pt idx="5">
                  <c:v>2016</c:v>
                </c:pt>
                <c:pt idx="6">
                  <c:v>2017</c:v>
                </c:pt>
                <c:pt idx="7">
                  <c:v>2018</c:v>
                </c:pt>
                <c:pt idx="8">
                  <c:v>2019</c:v>
                </c:pt>
                <c:pt idx="9">
                  <c:v>2020</c:v>
                </c:pt>
                <c:pt idx="10">
                  <c:v>2021</c:v>
                </c:pt>
              </c:strCache>
            </c:strRef>
          </c:cat>
          <c:val>
            <c:numRef>
              <c:f>Sheet1!$D$2:$D$12</c:f>
              <c:numCache>
                <c:formatCode>General</c:formatCode>
                <c:ptCount val="11"/>
                <c:pt idx="0">
                  <c:v>7</c:v>
                </c:pt>
                <c:pt idx="1">
                  <c:v>8</c:v>
                </c:pt>
                <c:pt idx="2">
                  <c:v>10</c:v>
                </c:pt>
                <c:pt idx="3">
                  <c:v>11.5</c:v>
                </c:pt>
                <c:pt idx="4">
                  <c:v>17.5</c:v>
                </c:pt>
                <c:pt idx="5">
                  <c:v>21</c:v>
                </c:pt>
                <c:pt idx="6">
                  <c:v>22.5</c:v>
                </c:pt>
                <c:pt idx="7">
                  <c:v>24</c:v>
                </c:pt>
                <c:pt idx="8">
                  <c:v>25</c:v>
                </c:pt>
                <c:pt idx="9">
                  <c:v>26.5</c:v>
                </c:pt>
                <c:pt idx="10">
                  <c:v>29</c:v>
                </c:pt>
              </c:numCache>
            </c:numRef>
          </c:val>
          <c:smooth val="1"/>
          <c:extLst>
            <c:ext xmlns:c16="http://schemas.microsoft.com/office/drawing/2014/chart" uri="{C3380CC4-5D6E-409C-BE32-E72D297353CC}">
              <c16:uniqueId val="{00000002-4C8F-4C84-8745-852F049CAB6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7A8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C"/>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lineChart>
        <c:grouping val="standard"/>
        <c:varyColors val="0"/>
        <c:ser>
          <c:idx val="0"/>
          <c:order val="0"/>
          <c:tx>
            <c:strRef>
              <c:f>Sheet1!$B$1</c:f>
              <c:strCache>
                <c:ptCount val="1"/>
                <c:pt idx="0">
                  <c:v>Rice (XOF/KG)</c:v>
                </c:pt>
              </c:strCache>
            </c:strRef>
          </c:tx>
          <c:spPr>
            <a:ln w="31750" cap="flat">
              <a:solidFill>
                <a:srgbClr val="E8A838"/>
              </a:solidFill>
              <a:prstDash val="solid"/>
              <a:round/>
            </a:ln>
            <a:effectLst/>
          </c:spPr>
          <c:marker>
            <c:symbol val="circle"/>
            <c:size val="6"/>
            <c:spPr>
              <a:solidFill>
                <a:srgbClr val="E8A838"/>
              </a:solidFill>
              <a:ln w="9525" cap="flat">
                <a:solidFill>
                  <a:srgbClr val="E8A838"/>
                </a:solidFill>
                <a:prstDash val="solid"/>
                <a:round/>
              </a:ln>
              <a:effectLst/>
            </c:spPr>
          </c:marker>
          <c:cat>
            <c:strRef>
              <c:f>Sheet1!$A$2:$A$15</c:f>
              <c:strCache>
                <c:ptCount val="14"/>
                <c:pt idx="0">
                  <c:v>2005</c:v>
                </c:pt>
                <c:pt idx="1">
                  <c:v>2007</c:v>
                </c:pt>
                <c:pt idx="2">
                  <c:v>2009</c:v>
                </c:pt>
                <c:pt idx="3">
                  <c:v>2011</c:v>
                </c:pt>
                <c:pt idx="4">
                  <c:v>2012</c:v>
                </c:pt>
                <c:pt idx="5">
                  <c:v>2013</c:v>
                </c:pt>
                <c:pt idx="6">
                  <c:v>2014</c:v>
                </c:pt>
                <c:pt idx="7">
                  <c:v>2015</c:v>
                </c:pt>
                <c:pt idx="8">
                  <c:v>2016</c:v>
                </c:pt>
                <c:pt idx="9">
                  <c:v>2017</c:v>
                </c:pt>
                <c:pt idx="10">
                  <c:v>2018</c:v>
                </c:pt>
                <c:pt idx="11">
                  <c:v>2019</c:v>
                </c:pt>
                <c:pt idx="12">
                  <c:v>2020</c:v>
                </c:pt>
                <c:pt idx="13">
                  <c:v>2021</c:v>
                </c:pt>
              </c:strCache>
            </c:strRef>
          </c:cat>
          <c:val>
            <c:numRef>
              <c:f>Sheet1!$B$2:$B$15</c:f>
              <c:numCache>
                <c:formatCode>General</c:formatCode>
                <c:ptCount val="14"/>
                <c:pt idx="0">
                  <c:v>175</c:v>
                </c:pt>
                <c:pt idx="1">
                  <c:v>190</c:v>
                </c:pt>
                <c:pt idx="2">
                  <c:v>220</c:v>
                </c:pt>
                <c:pt idx="3">
                  <c:v>310</c:v>
                </c:pt>
                <c:pt idx="4">
                  <c:v>355</c:v>
                </c:pt>
                <c:pt idx="5">
                  <c:v>300</c:v>
                </c:pt>
                <c:pt idx="6">
                  <c:v>280</c:v>
                </c:pt>
                <c:pt idx="7">
                  <c:v>290</c:v>
                </c:pt>
                <c:pt idx="8">
                  <c:v>305</c:v>
                </c:pt>
                <c:pt idx="9">
                  <c:v>320</c:v>
                </c:pt>
                <c:pt idx="10">
                  <c:v>335</c:v>
                </c:pt>
                <c:pt idx="11">
                  <c:v>345</c:v>
                </c:pt>
                <c:pt idx="12">
                  <c:v>360</c:v>
                </c:pt>
                <c:pt idx="13">
                  <c:v>375</c:v>
                </c:pt>
              </c:numCache>
            </c:numRef>
          </c:val>
          <c:smooth val="1"/>
          <c:extLst>
            <c:ext xmlns:c16="http://schemas.microsoft.com/office/drawing/2014/chart" uri="{C3380CC4-5D6E-409C-BE32-E72D297353CC}">
              <c16:uniqueId val="{00000000-B8E7-4A2B-9BC5-79D119A4A03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7A8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lineChart>
        <c:grouping val="standard"/>
        <c:varyColors val="0"/>
        <c:ser>
          <c:idx val="0"/>
          <c:order val="0"/>
          <c:tx>
            <c:strRef>
              <c:f>Sheet1!$B$1</c:f>
              <c:strCache>
                <c:ptCount val="1"/>
                <c:pt idx="0">
                  <c:v>Rice (XOF/KG)</c:v>
                </c:pt>
              </c:strCache>
            </c:strRef>
          </c:tx>
          <c:spPr>
            <a:ln w="31750" cap="flat">
              <a:solidFill>
                <a:srgbClr val="82B36C"/>
              </a:solidFill>
              <a:prstDash val="solid"/>
              <a:round/>
            </a:ln>
            <a:effectLst/>
          </c:spPr>
          <c:marker>
            <c:symbol val="circle"/>
            <c:size val="6"/>
            <c:spPr>
              <a:solidFill>
                <a:srgbClr val="82B36C"/>
              </a:solidFill>
              <a:ln w="9525" cap="flat">
                <a:solidFill>
                  <a:srgbClr val="82B36C"/>
                </a:solidFill>
                <a:prstDash val="solid"/>
                <a:round/>
              </a:ln>
              <a:effectLst/>
            </c:spPr>
          </c:marker>
          <c:cat>
            <c:strRef>
              <c:f>Sheet1!$A$2:$A$14</c:f>
              <c:strCache>
                <c:ptCount val="13"/>
                <c:pt idx="0">
                  <c:v>2005</c:v>
                </c:pt>
                <c:pt idx="1">
                  <c:v>2007</c:v>
                </c:pt>
                <c:pt idx="2">
                  <c:v>2009</c:v>
                </c:pt>
                <c:pt idx="3">
                  <c:v>2011</c:v>
                </c:pt>
                <c:pt idx="4">
                  <c:v>2012</c:v>
                </c:pt>
                <c:pt idx="5">
                  <c:v>2014</c:v>
                </c:pt>
                <c:pt idx="6">
                  <c:v>2015</c:v>
                </c:pt>
                <c:pt idx="7">
                  <c:v>2016</c:v>
                </c:pt>
                <c:pt idx="8">
                  <c:v>2017</c:v>
                </c:pt>
                <c:pt idx="9">
                  <c:v>2018</c:v>
                </c:pt>
                <c:pt idx="10">
                  <c:v>2019</c:v>
                </c:pt>
                <c:pt idx="11">
                  <c:v>2020</c:v>
                </c:pt>
                <c:pt idx="12">
                  <c:v>2021</c:v>
                </c:pt>
              </c:strCache>
            </c:strRef>
          </c:cat>
          <c:val>
            <c:numRef>
              <c:f>Sheet1!$B$2:$B$14</c:f>
              <c:numCache>
                <c:formatCode>General</c:formatCode>
                <c:ptCount val="13"/>
                <c:pt idx="0">
                  <c:v>260</c:v>
                </c:pt>
                <c:pt idx="1">
                  <c:v>290</c:v>
                </c:pt>
                <c:pt idx="2">
                  <c:v>335</c:v>
                </c:pt>
                <c:pt idx="3">
                  <c:v>450</c:v>
                </c:pt>
                <c:pt idx="4">
                  <c:v>490</c:v>
                </c:pt>
                <c:pt idx="5">
                  <c:v>420</c:v>
                </c:pt>
                <c:pt idx="6">
                  <c:v>440</c:v>
                </c:pt>
                <c:pt idx="7">
                  <c:v>460</c:v>
                </c:pt>
                <c:pt idx="8">
                  <c:v>480</c:v>
                </c:pt>
                <c:pt idx="9">
                  <c:v>510</c:v>
                </c:pt>
                <c:pt idx="10">
                  <c:v>535</c:v>
                </c:pt>
                <c:pt idx="11">
                  <c:v>560</c:v>
                </c:pt>
                <c:pt idx="12">
                  <c:v>590</c:v>
                </c:pt>
              </c:numCache>
            </c:numRef>
          </c:val>
          <c:smooth val="1"/>
          <c:extLst>
            <c:ext xmlns:c16="http://schemas.microsoft.com/office/drawing/2014/chart" uri="{C3380CC4-5D6E-409C-BE32-E72D297353CC}">
              <c16:uniqueId val="{00000000-14E2-46EF-B004-A3B11D7CA19C}"/>
            </c:ext>
          </c:extLst>
        </c:ser>
        <c:ser>
          <c:idx val="1"/>
          <c:order val="1"/>
          <c:tx>
            <c:strRef>
              <c:f>Sheet1!$C$1</c:f>
              <c:strCache>
                <c:ptCount val="1"/>
                <c:pt idx="0">
                  <c:v>Meat (XOF/KG)</c:v>
                </c:pt>
              </c:strCache>
            </c:strRef>
          </c:tx>
          <c:spPr>
            <a:ln w="31750" cap="flat">
              <a:solidFill>
                <a:srgbClr val="C05454"/>
              </a:solidFill>
              <a:prstDash val="solid"/>
              <a:round/>
            </a:ln>
            <a:effectLst/>
          </c:spPr>
          <c:marker>
            <c:symbol val="circle"/>
            <c:size val="6"/>
            <c:spPr>
              <a:solidFill>
                <a:srgbClr val="C05454"/>
              </a:solidFill>
              <a:ln w="9525" cap="flat">
                <a:solidFill>
                  <a:srgbClr val="C05454"/>
                </a:solidFill>
                <a:prstDash val="solid"/>
                <a:round/>
              </a:ln>
              <a:effectLst/>
            </c:spPr>
          </c:marker>
          <c:cat>
            <c:strRef>
              <c:f>Sheet1!$A$2:$A$14</c:f>
              <c:strCache>
                <c:ptCount val="13"/>
                <c:pt idx="0">
                  <c:v>2005</c:v>
                </c:pt>
                <c:pt idx="1">
                  <c:v>2007</c:v>
                </c:pt>
                <c:pt idx="2">
                  <c:v>2009</c:v>
                </c:pt>
                <c:pt idx="3">
                  <c:v>2011</c:v>
                </c:pt>
                <c:pt idx="4">
                  <c:v>2012</c:v>
                </c:pt>
                <c:pt idx="5">
                  <c:v>2014</c:v>
                </c:pt>
                <c:pt idx="6">
                  <c:v>2015</c:v>
                </c:pt>
                <c:pt idx="7">
                  <c:v>2016</c:v>
                </c:pt>
                <c:pt idx="8">
                  <c:v>2017</c:v>
                </c:pt>
                <c:pt idx="9">
                  <c:v>2018</c:v>
                </c:pt>
                <c:pt idx="10">
                  <c:v>2019</c:v>
                </c:pt>
                <c:pt idx="11">
                  <c:v>2020</c:v>
                </c:pt>
                <c:pt idx="12">
                  <c:v>2021</c:v>
                </c:pt>
              </c:strCache>
            </c:strRef>
          </c:cat>
          <c:val>
            <c:numRef>
              <c:f>Sheet1!$C$2:$C$14</c:f>
              <c:numCache>
                <c:formatCode>General</c:formatCode>
                <c:ptCount val="13"/>
                <c:pt idx="0">
                  <c:v>1400</c:v>
                </c:pt>
                <c:pt idx="1">
                  <c:v>1550</c:v>
                </c:pt>
                <c:pt idx="2">
                  <c:v>1800</c:v>
                </c:pt>
                <c:pt idx="3">
                  <c:v>2200</c:v>
                </c:pt>
                <c:pt idx="4">
                  <c:v>2400</c:v>
                </c:pt>
                <c:pt idx="5">
                  <c:v>2150</c:v>
                </c:pt>
                <c:pt idx="6">
                  <c:v>2250</c:v>
                </c:pt>
                <c:pt idx="7">
                  <c:v>2350</c:v>
                </c:pt>
                <c:pt idx="8">
                  <c:v>2480</c:v>
                </c:pt>
                <c:pt idx="9">
                  <c:v>2620</c:v>
                </c:pt>
                <c:pt idx="10">
                  <c:v>2740</c:v>
                </c:pt>
                <c:pt idx="11">
                  <c:v>2850</c:v>
                </c:pt>
                <c:pt idx="12">
                  <c:v>2950</c:v>
                </c:pt>
              </c:numCache>
            </c:numRef>
          </c:val>
          <c:smooth val="1"/>
          <c:extLst>
            <c:ext xmlns:c16="http://schemas.microsoft.com/office/drawing/2014/chart" uri="{C3380CC4-5D6E-409C-BE32-E72D297353CC}">
              <c16:uniqueId val="{00000001-14E2-46EF-B004-A3B11D7CA19C}"/>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7A8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C"/>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Avg Rice Price</c:v>
                </c:pt>
              </c:strCache>
            </c:strRef>
          </c:tx>
          <c:spPr>
            <a:solidFill>
              <a:srgbClr val="1A6E8E"/>
            </a:solidFill>
            <a:effectLst/>
          </c:spPr>
          <c:invertIfNegative val="0"/>
          <c:dLbls>
            <c:numFmt formatCode="#,##0" sourceLinked="0"/>
            <c:spPr>
              <a:noFill/>
              <a:ln>
                <a:noFill/>
              </a:ln>
              <a:effectLst/>
            </c:spPr>
            <c:txPr>
              <a:bodyPr/>
              <a:lstStyle/>
              <a:p>
                <a:pPr>
                  <a:defRPr sz="900" b="0" i="0" u="none" strike="noStrike">
                    <a:solidFill>
                      <a:srgbClr val="1C2A35"/>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Mumbai</c:v>
                </c:pt>
                <c:pt idx="1">
                  <c:v>Delhi</c:v>
                </c:pt>
                <c:pt idx="2">
                  <c:v>Bangalore</c:v>
                </c:pt>
                <c:pt idx="3">
                  <c:v>Hyderabad</c:v>
                </c:pt>
                <c:pt idx="4">
                  <c:v>Chennai</c:v>
                </c:pt>
                <c:pt idx="5">
                  <c:v>Kolkata</c:v>
                </c:pt>
                <c:pt idx="6">
                  <c:v>Ahmedabad</c:v>
                </c:pt>
                <c:pt idx="7">
                  <c:v>Pune</c:v>
                </c:pt>
                <c:pt idx="8">
                  <c:v>Jaipur</c:v>
                </c:pt>
                <c:pt idx="9">
                  <c:v>Patna</c:v>
                </c:pt>
              </c:strCache>
            </c:strRef>
          </c:cat>
          <c:val>
            <c:numRef>
              <c:f>Sheet1!$B$2:$B$11</c:f>
              <c:numCache>
                <c:formatCode>General</c:formatCode>
                <c:ptCount val="10"/>
                <c:pt idx="0">
                  <c:v>38.5</c:v>
                </c:pt>
                <c:pt idx="1">
                  <c:v>37.200000000000003</c:v>
                </c:pt>
                <c:pt idx="2">
                  <c:v>40.1</c:v>
                </c:pt>
                <c:pt idx="3">
                  <c:v>35.799999999999997</c:v>
                </c:pt>
                <c:pt idx="4">
                  <c:v>33.200000000000003</c:v>
                </c:pt>
                <c:pt idx="5">
                  <c:v>31.5</c:v>
                </c:pt>
                <c:pt idx="6">
                  <c:v>36.799999999999997</c:v>
                </c:pt>
                <c:pt idx="7">
                  <c:v>39.200000000000003</c:v>
                </c:pt>
                <c:pt idx="8">
                  <c:v>42.5</c:v>
                </c:pt>
                <c:pt idx="9">
                  <c:v>28.3</c:v>
                </c:pt>
              </c:numCache>
            </c:numRef>
          </c:val>
          <c:extLst>
            <c:ext xmlns:c16="http://schemas.microsoft.com/office/drawing/2014/chart" uri="{C3380CC4-5D6E-409C-BE32-E72D297353CC}">
              <c16:uniqueId val="{00000000-65C6-4E15-9F31-7D20AC53630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A8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lineChart>
        <c:grouping val="standard"/>
        <c:varyColors val="0"/>
        <c:ser>
          <c:idx val="0"/>
          <c:order val="0"/>
          <c:tx>
            <c:strRef>
              <c:f>Sheet1!$B$1</c:f>
              <c:strCache>
                <c:ptCount val="1"/>
                <c:pt idx="0">
                  <c:v>Afghanistan</c:v>
                </c:pt>
              </c:strCache>
            </c:strRef>
          </c:tx>
          <c:spPr>
            <a:ln w="27940" cap="flat">
              <a:solidFill>
                <a:srgbClr val="E84855"/>
              </a:solidFill>
              <a:prstDash val="solid"/>
              <a:round/>
            </a:ln>
            <a:effectLst/>
          </c:spPr>
          <c:marker>
            <c:symbol val="circle"/>
            <c:size val="6"/>
            <c:spPr>
              <a:solidFill>
                <a:srgbClr val="E84855"/>
              </a:solidFill>
              <a:ln w="9525" cap="flat">
                <a:solidFill>
                  <a:srgbClr val="E84855"/>
                </a:solidFill>
                <a:prstDash val="solid"/>
                <a:round/>
              </a:ln>
              <a:effectLst/>
            </c:spPr>
          </c:marker>
          <c:cat>
            <c:strRef>
              <c:f>Sheet1!$A$2:$A$14</c:f>
              <c:strCache>
                <c:ptCount val="13"/>
                <c:pt idx="0">
                  <c:v>2007</c:v>
                </c:pt>
                <c:pt idx="1">
                  <c:v>2008</c:v>
                </c:pt>
                <c:pt idx="2">
                  <c:v>2009</c:v>
                </c:pt>
                <c:pt idx="3">
                  <c:v>2010</c:v>
                </c:pt>
                <c:pt idx="4">
                  <c:v>2011</c:v>
                </c:pt>
                <c:pt idx="5">
                  <c:v>2012</c:v>
                </c:pt>
                <c:pt idx="6">
                  <c:v>2013</c:v>
                </c:pt>
                <c:pt idx="7">
                  <c:v>2014</c:v>
                </c:pt>
                <c:pt idx="8">
                  <c:v>2015</c:v>
                </c:pt>
                <c:pt idx="9">
                  <c:v>2016</c:v>
                </c:pt>
                <c:pt idx="10">
                  <c:v>2017</c:v>
                </c:pt>
                <c:pt idx="11">
                  <c:v>2018</c:v>
                </c:pt>
                <c:pt idx="12">
                  <c:v>2019</c:v>
                </c:pt>
              </c:strCache>
            </c:strRef>
          </c:cat>
          <c:val>
            <c:numRef>
              <c:f>Sheet1!$B$2:$B$14</c:f>
              <c:numCache>
                <c:formatCode>General</c:formatCode>
                <c:ptCount val="13"/>
                <c:pt idx="0">
                  <c:v>0.38</c:v>
                </c:pt>
                <c:pt idx="1">
                  <c:v>0.42</c:v>
                </c:pt>
                <c:pt idx="2">
                  <c:v>0.45</c:v>
                </c:pt>
                <c:pt idx="3">
                  <c:v>0.5</c:v>
                </c:pt>
                <c:pt idx="4">
                  <c:v>0.55000000000000004</c:v>
                </c:pt>
                <c:pt idx="5">
                  <c:v>0.62</c:v>
                </c:pt>
                <c:pt idx="6">
                  <c:v>0.68</c:v>
                </c:pt>
                <c:pt idx="7">
                  <c:v>0.72</c:v>
                </c:pt>
                <c:pt idx="8">
                  <c:v>0.78</c:v>
                </c:pt>
                <c:pt idx="9">
                  <c:v>0.82</c:v>
                </c:pt>
                <c:pt idx="10">
                  <c:v>0.88</c:v>
                </c:pt>
                <c:pt idx="11">
                  <c:v>0.95</c:v>
                </c:pt>
                <c:pt idx="12">
                  <c:v>1.02</c:v>
                </c:pt>
              </c:numCache>
            </c:numRef>
          </c:val>
          <c:smooth val="1"/>
          <c:extLst>
            <c:ext xmlns:c16="http://schemas.microsoft.com/office/drawing/2014/chart" uri="{C3380CC4-5D6E-409C-BE32-E72D297353CC}">
              <c16:uniqueId val="{00000000-FEF2-4268-89CB-DCD16390877C}"/>
            </c:ext>
          </c:extLst>
        </c:ser>
        <c:ser>
          <c:idx val="1"/>
          <c:order val="1"/>
          <c:tx>
            <c:strRef>
              <c:f>Sheet1!$C$1</c:f>
              <c:strCache>
                <c:ptCount val="1"/>
                <c:pt idx="0">
                  <c:v>Tajikistan</c:v>
                </c:pt>
              </c:strCache>
            </c:strRef>
          </c:tx>
          <c:spPr>
            <a:ln w="27940" cap="flat">
              <a:solidFill>
                <a:srgbClr val="0A3D62"/>
              </a:solidFill>
              <a:prstDash val="solid"/>
              <a:round/>
            </a:ln>
            <a:effectLst/>
          </c:spPr>
          <c:marker>
            <c:symbol val="circle"/>
            <c:size val="6"/>
            <c:spPr>
              <a:solidFill>
                <a:srgbClr val="0A3D62"/>
              </a:solidFill>
              <a:ln w="9525" cap="flat">
                <a:solidFill>
                  <a:srgbClr val="0A3D62"/>
                </a:solidFill>
                <a:prstDash val="solid"/>
                <a:round/>
              </a:ln>
              <a:effectLst/>
            </c:spPr>
          </c:marker>
          <c:cat>
            <c:strRef>
              <c:f>Sheet1!$A$2:$A$14</c:f>
              <c:strCache>
                <c:ptCount val="13"/>
                <c:pt idx="0">
                  <c:v>2007</c:v>
                </c:pt>
                <c:pt idx="1">
                  <c:v>2008</c:v>
                </c:pt>
                <c:pt idx="2">
                  <c:v>2009</c:v>
                </c:pt>
                <c:pt idx="3">
                  <c:v>2010</c:v>
                </c:pt>
                <c:pt idx="4">
                  <c:v>2011</c:v>
                </c:pt>
                <c:pt idx="5">
                  <c:v>2012</c:v>
                </c:pt>
                <c:pt idx="6">
                  <c:v>2013</c:v>
                </c:pt>
                <c:pt idx="7">
                  <c:v>2014</c:v>
                </c:pt>
                <c:pt idx="8">
                  <c:v>2015</c:v>
                </c:pt>
                <c:pt idx="9">
                  <c:v>2016</c:v>
                </c:pt>
                <c:pt idx="10">
                  <c:v>2017</c:v>
                </c:pt>
                <c:pt idx="11">
                  <c:v>2018</c:v>
                </c:pt>
                <c:pt idx="12">
                  <c:v>2019</c:v>
                </c:pt>
              </c:strCache>
            </c:strRef>
          </c:cat>
          <c:val>
            <c:numRef>
              <c:f>Sheet1!$C$2:$C$14</c:f>
              <c:numCache>
                <c:formatCode>General</c:formatCode>
                <c:ptCount val="13"/>
                <c:pt idx="0">
                  <c:v>0.28000000000000003</c:v>
                </c:pt>
                <c:pt idx="1">
                  <c:v>0.32</c:v>
                </c:pt>
                <c:pt idx="2">
                  <c:v>0.38</c:v>
                </c:pt>
                <c:pt idx="3">
                  <c:v>0.42</c:v>
                </c:pt>
                <c:pt idx="4">
                  <c:v>0.48</c:v>
                </c:pt>
                <c:pt idx="5">
                  <c:v>0.55000000000000004</c:v>
                </c:pt>
                <c:pt idx="6">
                  <c:v>0.62</c:v>
                </c:pt>
                <c:pt idx="7">
                  <c:v>0.7</c:v>
                </c:pt>
                <c:pt idx="8">
                  <c:v>0.78</c:v>
                </c:pt>
                <c:pt idx="9">
                  <c:v>0.85</c:v>
                </c:pt>
                <c:pt idx="10">
                  <c:v>0.92</c:v>
                </c:pt>
                <c:pt idx="11">
                  <c:v>0.98</c:v>
                </c:pt>
                <c:pt idx="12">
                  <c:v>1.05</c:v>
                </c:pt>
              </c:numCache>
            </c:numRef>
          </c:val>
          <c:smooth val="1"/>
          <c:extLst>
            <c:ext xmlns:c16="http://schemas.microsoft.com/office/drawing/2014/chart" uri="{C3380CC4-5D6E-409C-BE32-E72D297353CC}">
              <c16:uniqueId val="{00000001-FEF2-4268-89CB-DCD16390877C}"/>
            </c:ext>
          </c:extLst>
        </c:ser>
        <c:ser>
          <c:idx val="2"/>
          <c:order val="2"/>
          <c:tx>
            <c:strRef>
              <c:f>Sheet1!$D$1</c:f>
              <c:strCache>
                <c:ptCount val="1"/>
                <c:pt idx="0">
                  <c:v>Honduras</c:v>
                </c:pt>
              </c:strCache>
            </c:strRef>
          </c:tx>
          <c:spPr>
            <a:ln w="27940" cap="flat">
              <a:solidFill>
                <a:srgbClr val="1A6E8E"/>
              </a:solidFill>
              <a:prstDash val="solid"/>
              <a:round/>
            </a:ln>
            <a:effectLst/>
          </c:spPr>
          <c:marker>
            <c:symbol val="circle"/>
            <c:size val="6"/>
            <c:spPr>
              <a:solidFill>
                <a:srgbClr val="1A6E8E"/>
              </a:solidFill>
              <a:ln w="9525" cap="flat">
                <a:solidFill>
                  <a:srgbClr val="1A6E8E"/>
                </a:solidFill>
                <a:prstDash val="solid"/>
                <a:round/>
              </a:ln>
              <a:effectLst/>
            </c:spPr>
          </c:marker>
          <c:cat>
            <c:strRef>
              <c:f>Sheet1!$A$2:$A$14</c:f>
              <c:strCache>
                <c:ptCount val="13"/>
                <c:pt idx="0">
                  <c:v>2007</c:v>
                </c:pt>
                <c:pt idx="1">
                  <c:v>2008</c:v>
                </c:pt>
                <c:pt idx="2">
                  <c:v>2009</c:v>
                </c:pt>
                <c:pt idx="3">
                  <c:v>2010</c:v>
                </c:pt>
                <c:pt idx="4">
                  <c:v>2011</c:v>
                </c:pt>
                <c:pt idx="5">
                  <c:v>2012</c:v>
                </c:pt>
                <c:pt idx="6">
                  <c:v>2013</c:v>
                </c:pt>
                <c:pt idx="7">
                  <c:v>2014</c:v>
                </c:pt>
                <c:pt idx="8">
                  <c:v>2015</c:v>
                </c:pt>
                <c:pt idx="9">
                  <c:v>2016</c:v>
                </c:pt>
                <c:pt idx="10">
                  <c:v>2017</c:v>
                </c:pt>
                <c:pt idx="11">
                  <c:v>2018</c:v>
                </c:pt>
                <c:pt idx="12">
                  <c:v>2019</c:v>
                </c:pt>
              </c:strCache>
            </c:strRef>
          </c:cat>
          <c:val>
            <c:numRef>
              <c:f>Sheet1!$D$2:$D$14</c:f>
              <c:numCache>
                <c:formatCode>General</c:formatCode>
                <c:ptCount val="13"/>
                <c:pt idx="0">
                  <c:v>0.45</c:v>
                </c:pt>
                <c:pt idx="1">
                  <c:v>0.48</c:v>
                </c:pt>
                <c:pt idx="2">
                  <c:v>0.52</c:v>
                </c:pt>
                <c:pt idx="3">
                  <c:v>0.55000000000000004</c:v>
                </c:pt>
                <c:pt idx="4">
                  <c:v>0.57999999999999996</c:v>
                </c:pt>
                <c:pt idx="5">
                  <c:v>0.6</c:v>
                </c:pt>
                <c:pt idx="6">
                  <c:v>0.62</c:v>
                </c:pt>
                <c:pt idx="7">
                  <c:v>0.65</c:v>
                </c:pt>
                <c:pt idx="8">
                  <c:v>0.68</c:v>
                </c:pt>
                <c:pt idx="9">
                  <c:v>0.7</c:v>
                </c:pt>
                <c:pt idx="10">
                  <c:v>0.72</c:v>
                </c:pt>
                <c:pt idx="11">
                  <c:v>0.75</c:v>
                </c:pt>
                <c:pt idx="12">
                  <c:v>0.78</c:v>
                </c:pt>
              </c:numCache>
            </c:numRef>
          </c:val>
          <c:smooth val="1"/>
          <c:extLst>
            <c:ext xmlns:c16="http://schemas.microsoft.com/office/drawing/2014/chart" uri="{C3380CC4-5D6E-409C-BE32-E72D297353CC}">
              <c16:uniqueId val="{00000002-FEF2-4268-89CB-DCD16390877C}"/>
            </c:ext>
          </c:extLst>
        </c:ser>
        <c:ser>
          <c:idx val="3"/>
          <c:order val="3"/>
          <c:tx>
            <c:strRef>
              <c:f>Sheet1!$E$1</c:f>
              <c:strCache>
                <c:ptCount val="1"/>
                <c:pt idx="0">
                  <c:v>Costa Rica</c:v>
                </c:pt>
              </c:strCache>
            </c:strRef>
          </c:tx>
          <c:spPr>
            <a:ln w="27940" cap="flat">
              <a:solidFill>
                <a:srgbClr val="82B36C"/>
              </a:solidFill>
              <a:prstDash val="solid"/>
              <a:round/>
            </a:ln>
            <a:effectLst/>
          </c:spPr>
          <c:marker>
            <c:symbol val="circle"/>
            <c:size val="6"/>
            <c:spPr>
              <a:solidFill>
                <a:srgbClr val="82B36C"/>
              </a:solidFill>
              <a:ln w="9525" cap="flat">
                <a:solidFill>
                  <a:srgbClr val="82B36C"/>
                </a:solidFill>
                <a:prstDash val="solid"/>
                <a:round/>
              </a:ln>
              <a:effectLst/>
            </c:spPr>
          </c:marker>
          <c:cat>
            <c:strRef>
              <c:f>Sheet1!$A$2:$A$14</c:f>
              <c:strCache>
                <c:ptCount val="13"/>
                <c:pt idx="0">
                  <c:v>2007</c:v>
                </c:pt>
                <c:pt idx="1">
                  <c:v>2008</c:v>
                </c:pt>
                <c:pt idx="2">
                  <c:v>2009</c:v>
                </c:pt>
                <c:pt idx="3">
                  <c:v>2010</c:v>
                </c:pt>
                <c:pt idx="4">
                  <c:v>2011</c:v>
                </c:pt>
                <c:pt idx="5">
                  <c:v>2012</c:v>
                </c:pt>
                <c:pt idx="6">
                  <c:v>2013</c:v>
                </c:pt>
                <c:pt idx="7">
                  <c:v>2014</c:v>
                </c:pt>
                <c:pt idx="8">
                  <c:v>2015</c:v>
                </c:pt>
                <c:pt idx="9">
                  <c:v>2016</c:v>
                </c:pt>
                <c:pt idx="10">
                  <c:v>2017</c:v>
                </c:pt>
                <c:pt idx="11">
                  <c:v>2018</c:v>
                </c:pt>
                <c:pt idx="12">
                  <c:v>2019</c:v>
                </c:pt>
              </c:strCache>
            </c:strRef>
          </c:cat>
          <c:val>
            <c:numRef>
              <c:f>Sheet1!$E$2:$E$14</c:f>
              <c:numCache>
                <c:formatCode>General</c:formatCode>
                <c:ptCount val="13"/>
                <c:pt idx="0">
                  <c:v>0.55000000000000004</c:v>
                </c:pt>
                <c:pt idx="1">
                  <c:v>0.57999999999999996</c:v>
                </c:pt>
                <c:pt idx="2">
                  <c:v>0.6</c:v>
                </c:pt>
                <c:pt idx="3">
                  <c:v>0.62</c:v>
                </c:pt>
                <c:pt idx="4">
                  <c:v>0.65</c:v>
                </c:pt>
                <c:pt idx="5">
                  <c:v>0.67</c:v>
                </c:pt>
                <c:pt idx="6">
                  <c:v>0.68</c:v>
                </c:pt>
                <c:pt idx="7">
                  <c:v>0.7</c:v>
                </c:pt>
                <c:pt idx="8">
                  <c:v>0.72</c:v>
                </c:pt>
                <c:pt idx="9">
                  <c:v>0.73</c:v>
                </c:pt>
                <c:pt idx="10">
                  <c:v>0.74</c:v>
                </c:pt>
                <c:pt idx="11">
                  <c:v>0.76</c:v>
                </c:pt>
                <c:pt idx="12">
                  <c:v>0.78</c:v>
                </c:pt>
              </c:numCache>
            </c:numRef>
          </c:val>
          <c:smooth val="1"/>
          <c:extLst>
            <c:ext xmlns:c16="http://schemas.microsoft.com/office/drawing/2014/chart" uri="{C3380CC4-5D6E-409C-BE32-E72D297353CC}">
              <c16:uniqueId val="{00000003-FEF2-4268-89CB-DCD16390877C}"/>
            </c:ext>
          </c:extLst>
        </c:ser>
        <c:ser>
          <c:idx val="4"/>
          <c:order val="4"/>
          <c:tx>
            <c:strRef>
              <c:f>Sheet1!$F$1</c:f>
              <c:strCache>
                <c:ptCount val="1"/>
                <c:pt idx="0">
                  <c:v>Panama</c:v>
                </c:pt>
              </c:strCache>
            </c:strRef>
          </c:tx>
          <c:spPr>
            <a:ln w="27940" cap="flat">
              <a:solidFill>
                <a:srgbClr val="F6AE2D"/>
              </a:solidFill>
              <a:prstDash val="solid"/>
              <a:round/>
            </a:ln>
            <a:effectLst/>
          </c:spPr>
          <c:marker>
            <c:symbol val="circle"/>
            <c:size val="6"/>
            <c:spPr>
              <a:solidFill>
                <a:srgbClr val="F6AE2D"/>
              </a:solidFill>
              <a:ln w="9525" cap="flat">
                <a:solidFill>
                  <a:srgbClr val="F6AE2D"/>
                </a:solidFill>
                <a:prstDash val="solid"/>
                <a:round/>
              </a:ln>
              <a:effectLst/>
            </c:spPr>
          </c:marker>
          <c:cat>
            <c:strRef>
              <c:f>Sheet1!$A$2:$A$14</c:f>
              <c:strCache>
                <c:ptCount val="13"/>
                <c:pt idx="0">
                  <c:v>2007</c:v>
                </c:pt>
                <c:pt idx="1">
                  <c:v>2008</c:v>
                </c:pt>
                <c:pt idx="2">
                  <c:v>2009</c:v>
                </c:pt>
                <c:pt idx="3">
                  <c:v>2010</c:v>
                </c:pt>
                <c:pt idx="4">
                  <c:v>2011</c:v>
                </c:pt>
                <c:pt idx="5">
                  <c:v>2012</c:v>
                </c:pt>
                <c:pt idx="6">
                  <c:v>2013</c:v>
                </c:pt>
                <c:pt idx="7">
                  <c:v>2014</c:v>
                </c:pt>
                <c:pt idx="8">
                  <c:v>2015</c:v>
                </c:pt>
                <c:pt idx="9">
                  <c:v>2016</c:v>
                </c:pt>
                <c:pt idx="10">
                  <c:v>2017</c:v>
                </c:pt>
                <c:pt idx="11">
                  <c:v>2018</c:v>
                </c:pt>
                <c:pt idx="12">
                  <c:v>2019</c:v>
                </c:pt>
              </c:strCache>
            </c:strRef>
          </c:cat>
          <c:val>
            <c:numRef>
              <c:f>Sheet1!$F$2:$F$14</c:f>
              <c:numCache>
                <c:formatCode>General</c:formatCode>
                <c:ptCount val="13"/>
                <c:pt idx="0">
                  <c:v>0.6</c:v>
                </c:pt>
                <c:pt idx="1">
                  <c:v>0.62</c:v>
                </c:pt>
                <c:pt idx="2">
                  <c:v>0.64</c:v>
                </c:pt>
                <c:pt idx="3">
                  <c:v>0.66</c:v>
                </c:pt>
                <c:pt idx="4">
                  <c:v>0.68</c:v>
                </c:pt>
                <c:pt idx="5">
                  <c:v>0.7</c:v>
                </c:pt>
                <c:pt idx="6">
                  <c:v>0.71</c:v>
                </c:pt>
                <c:pt idx="7">
                  <c:v>0.72</c:v>
                </c:pt>
                <c:pt idx="8">
                  <c:v>0.74</c:v>
                </c:pt>
                <c:pt idx="9">
                  <c:v>0.75</c:v>
                </c:pt>
                <c:pt idx="10">
                  <c:v>0.76</c:v>
                </c:pt>
                <c:pt idx="11">
                  <c:v>0.77</c:v>
                </c:pt>
                <c:pt idx="12">
                  <c:v>0.79</c:v>
                </c:pt>
              </c:numCache>
            </c:numRef>
          </c:val>
          <c:smooth val="1"/>
          <c:extLst>
            <c:ext xmlns:c16="http://schemas.microsoft.com/office/drawing/2014/chart" uri="{C3380CC4-5D6E-409C-BE32-E72D297353CC}">
              <c16:uniqueId val="{00000004-FEF2-4268-89CB-DCD16390877C}"/>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7A8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C"/>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Afghanistan — Rice Price (USD/KG) + Trend</a:t>
            </a:r>
          </a:p>
        </c:rich>
      </c:tx>
      <c:overlay val="0"/>
    </c:title>
    <c:autoTitleDeleted val="0"/>
    <c:plotArea>
      <c:layout/>
      <c:lineChart>
        <c:grouping val="standard"/>
        <c:varyColors val="0"/>
        <c:ser>
          <c:idx val="0"/>
          <c:order val="0"/>
          <c:tx>
            <c:strRef>
              <c:f>Sheet1!$B$1</c:f>
              <c:strCache>
                <c:ptCount val="1"/>
                <c:pt idx="0">
                  <c:v>Observed Data</c:v>
                </c:pt>
              </c:strCache>
            </c:strRef>
          </c:tx>
          <c:spPr>
            <a:ln>
              <a:noFill/>
            </a:ln>
            <a:effectLst/>
          </c:spPr>
          <c:marker>
            <c:symbol val="circle"/>
            <c:size val="6"/>
            <c:spPr>
              <a:solidFill>
                <a:srgbClr val="0A3D62"/>
              </a:solidFill>
              <a:ln w="9525" cap="flat">
                <a:solidFill>
                  <a:srgbClr val="0A3D62"/>
                </a:solidFill>
                <a:prstDash val="solid"/>
                <a:round/>
              </a:ln>
              <a:effectLst/>
            </c:spPr>
          </c:marker>
          <c:cat>
            <c:strRef>
              <c:f>Sheet1!$A$2:$A$9</c:f>
              <c:strCache>
                <c:ptCount val="8"/>
                <c:pt idx="0">
                  <c:v>2007</c:v>
                </c:pt>
                <c:pt idx="1">
                  <c:v>2009</c:v>
                </c:pt>
                <c:pt idx="2">
                  <c:v>2011</c:v>
                </c:pt>
                <c:pt idx="3">
                  <c:v>2013</c:v>
                </c:pt>
                <c:pt idx="4">
                  <c:v>2015</c:v>
                </c:pt>
                <c:pt idx="5">
                  <c:v>2017</c:v>
                </c:pt>
                <c:pt idx="6">
                  <c:v>2019</c:v>
                </c:pt>
                <c:pt idx="7">
                  <c:v>2021</c:v>
                </c:pt>
              </c:strCache>
            </c:strRef>
          </c:cat>
          <c:val>
            <c:numRef>
              <c:f>Sheet1!$B$2:$B$9</c:f>
              <c:numCache>
                <c:formatCode>General</c:formatCode>
                <c:ptCount val="8"/>
                <c:pt idx="0">
                  <c:v>0.38</c:v>
                </c:pt>
                <c:pt idx="1">
                  <c:v>0.45</c:v>
                </c:pt>
                <c:pt idx="2">
                  <c:v>0.55000000000000004</c:v>
                </c:pt>
                <c:pt idx="3">
                  <c:v>0.68</c:v>
                </c:pt>
                <c:pt idx="4">
                  <c:v>0.78</c:v>
                </c:pt>
                <c:pt idx="5">
                  <c:v>0.88</c:v>
                </c:pt>
                <c:pt idx="6">
                  <c:v>1.02</c:v>
                </c:pt>
                <c:pt idx="7">
                  <c:v>1.1499999999999999</c:v>
                </c:pt>
              </c:numCache>
            </c:numRef>
          </c:val>
          <c:smooth val="0"/>
          <c:extLst>
            <c:ext xmlns:c16="http://schemas.microsoft.com/office/drawing/2014/chart" uri="{C3380CC4-5D6E-409C-BE32-E72D297353CC}">
              <c16:uniqueId val="{00000000-F763-48AB-83AB-93FD473800F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7A8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lineChart>
        <c:grouping val="standard"/>
        <c:varyColors val="0"/>
        <c:ser>
          <c:idx val="0"/>
          <c:order val="0"/>
          <c:tx>
            <c:strRef>
              <c:f>Sheet1!$B$1</c:f>
              <c:strCache>
                <c:ptCount val="1"/>
                <c:pt idx="0">
                  <c:v>Linear Trend + Forecast</c:v>
                </c:pt>
              </c:strCache>
            </c:strRef>
          </c:tx>
          <c:spPr>
            <a:ln w="31750" cap="flat">
              <a:solidFill>
                <a:srgbClr val="E84855"/>
              </a:solidFill>
              <a:prstDash val="solid"/>
              <a:round/>
            </a:ln>
            <a:effectLst/>
          </c:spPr>
          <c:marker>
            <c:symbol val="circle"/>
            <c:size val="6"/>
            <c:spPr>
              <a:solidFill>
                <a:srgbClr val="E84855"/>
              </a:solidFill>
              <a:ln w="9525" cap="flat">
                <a:solidFill>
                  <a:srgbClr val="E84855"/>
                </a:solidFill>
                <a:prstDash val="solid"/>
                <a:round/>
              </a:ln>
              <a:effectLst/>
            </c:spPr>
          </c:marker>
          <c:cat>
            <c:strRef>
              <c:f>Sheet1!$A$2:$A$12</c:f>
              <c:strCache>
                <c:ptCount val="11"/>
                <c:pt idx="0">
                  <c:v>2007</c:v>
                </c:pt>
                <c:pt idx="1">
                  <c:v>2009</c:v>
                </c:pt>
                <c:pt idx="2">
                  <c:v>2011</c:v>
                </c:pt>
                <c:pt idx="3">
                  <c:v>2013</c:v>
                </c:pt>
                <c:pt idx="4">
                  <c:v>2015</c:v>
                </c:pt>
                <c:pt idx="5">
                  <c:v>2017</c:v>
                </c:pt>
                <c:pt idx="6">
                  <c:v>2019</c:v>
                </c:pt>
                <c:pt idx="7">
                  <c:v>2021</c:v>
                </c:pt>
                <c:pt idx="8">
                  <c:v>2022</c:v>
                </c:pt>
                <c:pt idx="9">
                  <c:v>2023</c:v>
                </c:pt>
                <c:pt idx="10">
                  <c:v>2024</c:v>
                </c:pt>
              </c:strCache>
            </c:strRef>
          </c:cat>
          <c:val>
            <c:numRef>
              <c:f>Sheet1!$B$2:$B$12</c:f>
              <c:numCache>
                <c:formatCode>General</c:formatCode>
                <c:ptCount val="11"/>
                <c:pt idx="0">
                  <c:v>0.35</c:v>
                </c:pt>
                <c:pt idx="1">
                  <c:v>0.43</c:v>
                </c:pt>
                <c:pt idx="2">
                  <c:v>0.52</c:v>
                </c:pt>
                <c:pt idx="3">
                  <c:v>0.61</c:v>
                </c:pt>
                <c:pt idx="4">
                  <c:v>0.7</c:v>
                </c:pt>
                <c:pt idx="5">
                  <c:v>0.79</c:v>
                </c:pt>
                <c:pt idx="6">
                  <c:v>0.88</c:v>
                </c:pt>
                <c:pt idx="7">
                  <c:v>0.97</c:v>
                </c:pt>
                <c:pt idx="8">
                  <c:v>1.06</c:v>
                </c:pt>
                <c:pt idx="9">
                  <c:v>1.1499999999999999</c:v>
                </c:pt>
                <c:pt idx="10">
                  <c:v>1.24</c:v>
                </c:pt>
              </c:numCache>
            </c:numRef>
          </c:val>
          <c:smooth val="0"/>
          <c:extLst>
            <c:ext xmlns:c16="http://schemas.microsoft.com/office/drawing/2014/chart" uri="{C3380CC4-5D6E-409C-BE32-E72D297353CC}">
              <c16:uniqueId val="{00000000-7560-4EA7-9ABB-0596C25B649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7A8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C"/>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4150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covers a comprehensive analysis of global food prices using WFP market data. The goal is to understand price trends, affordability, and forecast future food costs across nations.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Food price volatility affects billions of people. The WFP dataset is rich but messy — dozens of currencies, units, and product names make direct comparison impossible. This project solves that.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WFP dataset contains over one million price observations across 70+ countries, spanning multiple decades. The 18 columns capture geography, market type, commodity, unit, currency, and price.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follows a 7-phase pipeline from raw data loading through forecasting. Each phase builds on the last, with the key insight being that proper normalization of units and currencies is what unlocks meaningful cross-country comparison.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establishes the data foundation. The dataset is relatively clean — the only meaningful cleaning step is dropping rows with unknown locality names. The column selection step slims down the DataFrame for faster processing.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hundreds of commodity variants, we keep only 6 universal staples plus exchange rate records. Commodity name cleaning is critical — it removes parenthetical qualifiers so groupby and pivot operations work correctly.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transforms raw data into analytical structure. The pivot table is the key data structure. Boxplots reveal global distribution patterns, and Spearman correlation identifies which commodities are most inflation-sensitive over time.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shows steady, gradual inflation in staple prices — the typical pattern of a growing developing economy. Ukraine's pattern is dramatically different: prices nearly tripled in 2014-2015 during the political crisis, reflecting currency devaluation and supply chain disruption.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Mali and Niger both show the impact of instability on food prices. Mali's 2012 political crisis caused a permanent upward shift in rice prices. Niger's prices are consistently elevated due to its landlocked geography and limited supply chain infrastructure.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 a single country, rice prices can vary by 50% or more between local markets. Patna's proximity to rice-growing regions gives it a natural price advantage. This intra-country analysis is critical for identifying where food aid and market interventions are most needed.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Converting all prices to USD using embedded exchange rates creates a true apples-to-apples comparison. Countries using USD natively (Panama, El Salvador, Liberia) get a rate of 1. Afghanistan and Tajikistan show the steepest upward trends in USD-equivalent rice prices.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separate linear regression is fitted for each country. The year is the single feature; USD rice price is the target. The model extrapolates through 2024, giving planners a directional signal. Linear regression is intentionally simple — it provides interpretable, first-pass forecasts.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major findings emerge from the analysis. The most actionable for aid organizations: intra-country market disparity means the same country can have pockets of extreme food stress alongside affordable markets. Identifying and addressing those pockets is where this data can make a real difference.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3D62"/>
        </a:solidFill>
        <a:effectLst/>
      </p:bgPr>
    </p:bg>
    <p:spTree>
      <p:nvGrpSpPr>
        <p:cNvPr id="1" name=""/>
        <p:cNvGrpSpPr/>
        <p:nvPr/>
      </p:nvGrpSpPr>
      <p:grpSpPr>
        <a:xfrm>
          <a:off x="0" y="0"/>
          <a:ext cx="0" cy="0"/>
          <a:chOff x="0" y="0"/>
          <a:chExt cx="0" cy="0"/>
        </a:xfrm>
      </p:grpSpPr>
      <p:sp>
        <p:nvSpPr>
          <p:cNvPr id="2" name="Shape 0"/>
          <p:cNvSpPr/>
          <p:nvPr/>
        </p:nvSpPr>
        <p:spPr>
          <a:xfrm>
            <a:off x="6583680" y="-731520"/>
            <a:ext cx="3200400" cy="3200400"/>
          </a:xfrm>
          <a:prstGeom prst="ellipse">
            <a:avLst/>
          </a:prstGeom>
          <a:solidFill>
            <a:srgbClr val="0E9AA7">
              <a:alpha val="25000"/>
            </a:srgbClr>
          </a:solidFill>
          <a:ln w="12700">
            <a:solidFill>
              <a:srgbClr val="0E9AA7">
                <a:alpha val="25000"/>
              </a:srgbClr>
            </a:solidFill>
            <a:prstDash val="solid"/>
          </a:ln>
        </p:spPr>
      </p:sp>
      <p:sp>
        <p:nvSpPr>
          <p:cNvPr id="3" name="Shape 1"/>
          <p:cNvSpPr/>
          <p:nvPr/>
        </p:nvSpPr>
        <p:spPr>
          <a:xfrm>
            <a:off x="7772400" y="2926080"/>
            <a:ext cx="1828800" cy="1828800"/>
          </a:xfrm>
          <a:prstGeom prst="ellipse">
            <a:avLst/>
          </a:prstGeom>
          <a:solidFill>
            <a:srgbClr val="1A6E8E">
              <a:alpha val="40000"/>
            </a:srgbClr>
          </a:solidFill>
          <a:ln w="12700">
            <a:solidFill>
              <a:srgbClr val="1A6E8E">
                <a:alpha val="40000"/>
              </a:srgbClr>
            </a:solidFill>
            <a:prstDash val="solid"/>
          </a:ln>
        </p:spPr>
      </p:sp>
      <p:sp>
        <p:nvSpPr>
          <p:cNvPr id="4" name="Text 2"/>
          <p:cNvSpPr/>
          <p:nvPr/>
        </p:nvSpPr>
        <p:spPr>
          <a:xfrm>
            <a:off x="548640" y="1371600"/>
            <a:ext cx="8046720" cy="502920"/>
          </a:xfrm>
          <a:prstGeom prst="rect">
            <a:avLst/>
          </a:prstGeom>
          <a:noFill/>
          <a:ln/>
        </p:spPr>
        <p:txBody>
          <a:bodyPr wrap="square" lIns="0" tIns="0" rIns="0" bIns="0" rtlCol="0" anchor="ctr"/>
          <a:lstStyle/>
          <a:p>
            <a:pPr marL="0" indent="0">
              <a:buNone/>
            </a:pPr>
            <a:r>
              <a:rPr lang="en-US" sz="3600" b="1" kern="0" spc="200" dirty="0">
                <a:solidFill>
                  <a:srgbClr val="FFFFFF"/>
                </a:solidFill>
                <a:latin typeface="Calibri" pitchFamily="34" charset="0"/>
                <a:ea typeface="Calibri" pitchFamily="34" charset="-122"/>
                <a:cs typeface="Calibri" pitchFamily="34" charset="-120"/>
              </a:rPr>
              <a:t>GLOBAL FOOD PRICE ANALYSIS</a:t>
            </a:r>
            <a:endParaRPr lang="en-US" sz="3600" dirty="0"/>
          </a:p>
        </p:txBody>
      </p:sp>
      <p:sp>
        <p:nvSpPr>
          <p:cNvPr id="5" name="Text 3"/>
          <p:cNvSpPr/>
          <p:nvPr/>
        </p:nvSpPr>
        <p:spPr>
          <a:xfrm>
            <a:off x="548640" y="2011680"/>
            <a:ext cx="7315200" cy="914400"/>
          </a:xfrm>
          <a:prstGeom prst="rect">
            <a:avLst/>
          </a:prstGeom>
          <a:noFill/>
          <a:ln/>
        </p:spPr>
        <p:txBody>
          <a:bodyPr wrap="square" lIns="0" tIns="0" rIns="0" bIns="0" rtlCol="0" anchor="ctr"/>
          <a:lstStyle/>
          <a:p>
            <a:pPr marL="0" indent="0">
              <a:buNone/>
            </a:pPr>
            <a:r>
              <a:rPr lang="en-US" sz="1600" dirty="0">
                <a:solidFill>
                  <a:srgbClr val="B8D8E8"/>
                </a:solidFill>
                <a:latin typeface="Calibri" pitchFamily="34" charset="0"/>
                <a:ea typeface="Calibri" pitchFamily="34" charset="-122"/>
                <a:cs typeface="Calibri" pitchFamily="34" charset="-120"/>
              </a:rPr>
              <a:t>Uncovering Price Trends, Commodity Disparities, and</a:t>
            </a:r>
            <a:endParaRPr lang="en-US" sz="1600" dirty="0"/>
          </a:p>
          <a:p>
            <a:pPr marL="0" indent="0">
              <a:buNone/>
            </a:pPr>
            <a:r>
              <a:rPr lang="en-US" sz="1600" dirty="0">
                <a:solidFill>
                  <a:srgbClr val="B8D8E8"/>
                </a:solidFill>
                <a:latin typeface="Calibri" pitchFamily="34" charset="0"/>
                <a:ea typeface="Calibri" pitchFamily="34" charset="-122"/>
                <a:cs typeface="Calibri" pitchFamily="34" charset="-120"/>
              </a:rPr>
              <a:t>Forecasting Staple Food Costs Worldwide</a:t>
            </a:r>
            <a:endParaRPr lang="en-US" sz="1600" dirty="0"/>
          </a:p>
        </p:txBody>
      </p:sp>
      <p:sp>
        <p:nvSpPr>
          <p:cNvPr id="6" name="Shape 4"/>
          <p:cNvSpPr/>
          <p:nvPr/>
        </p:nvSpPr>
        <p:spPr>
          <a:xfrm>
            <a:off x="548640" y="3063240"/>
            <a:ext cx="2286000" cy="36576"/>
          </a:xfrm>
          <a:prstGeom prst="rect">
            <a:avLst/>
          </a:prstGeom>
          <a:solidFill>
            <a:srgbClr val="F6AE2D"/>
          </a:solidFill>
          <a:ln w="12700">
            <a:solidFill>
              <a:srgbClr val="F6AE2D"/>
            </a:solidFill>
            <a:prstDash val="solid"/>
          </a:ln>
        </p:spPr>
      </p:sp>
      <p:sp>
        <p:nvSpPr>
          <p:cNvPr id="7" name="Text 5"/>
          <p:cNvSpPr/>
          <p:nvPr/>
        </p:nvSpPr>
        <p:spPr>
          <a:xfrm>
            <a:off x="548640" y="3246120"/>
            <a:ext cx="8229600" cy="320040"/>
          </a:xfrm>
          <a:prstGeom prst="rect">
            <a:avLst/>
          </a:prstGeom>
          <a:noFill/>
          <a:ln/>
        </p:spPr>
        <p:txBody>
          <a:bodyPr wrap="square" lIns="0" tIns="0" rIns="0" bIns="0" rtlCol="0" anchor="ctr"/>
          <a:lstStyle/>
          <a:p>
            <a:pPr marL="0" indent="0">
              <a:buNone/>
            </a:pPr>
            <a:r>
              <a:rPr lang="en-US" sz="1100" b="1" dirty="0">
                <a:solidFill>
                  <a:srgbClr val="90B8CC"/>
                </a:solidFill>
                <a:latin typeface="Calibri" pitchFamily="34" charset="0"/>
                <a:ea typeface="Calibri" pitchFamily="34" charset="-122"/>
                <a:cs typeface="Calibri" pitchFamily="34" charset="-120"/>
              </a:rPr>
              <a:t>Data Source: </a:t>
            </a:r>
            <a:r>
              <a:rPr lang="en-US" sz="1100" dirty="0">
                <a:solidFill>
                  <a:srgbClr val="90B8CC"/>
                </a:solidFill>
                <a:latin typeface="Calibri" pitchFamily="34" charset="0"/>
                <a:ea typeface="Calibri" pitchFamily="34" charset="-122"/>
                <a:cs typeface="Calibri" pitchFamily="34" charset="-120"/>
              </a:rPr>
              <a:t>WFP Global Food Prices (Kaggle)  |  </a:t>
            </a:r>
            <a:r>
              <a:rPr lang="en-US" sz="1100" b="1" dirty="0">
                <a:solidFill>
                  <a:srgbClr val="90B8CC"/>
                </a:solidFill>
                <a:latin typeface="Calibri" pitchFamily="34" charset="0"/>
                <a:ea typeface="Calibri" pitchFamily="34" charset="-122"/>
                <a:cs typeface="Calibri" pitchFamily="34" charset="-120"/>
              </a:rPr>
              <a:t>Analysis Tool: </a:t>
            </a:r>
            <a:r>
              <a:rPr lang="en-US" sz="1100" dirty="0">
                <a:solidFill>
                  <a:srgbClr val="90B8CC"/>
                </a:solidFill>
                <a:latin typeface="Calibri" pitchFamily="34" charset="0"/>
                <a:ea typeface="Calibri" pitchFamily="34" charset="-122"/>
                <a:cs typeface="Calibri" pitchFamily="34" charset="-120"/>
              </a:rPr>
              <a:t>Python / Pandas / Scikit-learn</a:t>
            </a:r>
            <a:endParaRPr lang="en-US" sz="1100" dirty="0"/>
          </a:p>
        </p:txBody>
      </p:sp>
      <p:sp>
        <p:nvSpPr>
          <p:cNvPr id="8" name="Text 6"/>
          <p:cNvSpPr/>
          <p:nvPr/>
        </p:nvSpPr>
        <p:spPr>
          <a:xfrm>
            <a:off x="548640" y="4480560"/>
            <a:ext cx="8229600" cy="320040"/>
          </a:xfrm>
          <a:prstGeom prst="rect">
            <a:avLst/>
          </a:prstGeom>
          <a:noFill/>
          <a:ln/>
        </p:spPr>
        <p:txBody>
          <a:bodyPr wrap="square" lIns="0" tIns="0" rIns="0" bIns="0" rtlCol="0" anchor="ctr"/>
          <a:lstStyle/>
          <a:p>
            <a:pPr marL="0" indent="0">
              <a:buNone/>
            </a:pPr>
            <a:r>
              <a:rPr lang="en-US" sz="1100" b="1" dirty="0">
                <a:solidFill>
                  <a:srgbClr val="F6AE2D"/>
                </a:solidFill>
                <a:latin typeface="Calibri" pitchFamily="34" charset="0"/>
                <a:ea typeface="Calibri" pitchFamily="34" charset="-122"/>
                <a:cs typeface="Calibri" pitchFamily="34" charset="-120"/>
              </a:rPr>
              <a:t>70+ Countries  ·  6 Staple Commodities  ·  Multi-Year Trend Analysis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buNone/>
            </a:pPr>
            <a:r>
              <a:rPr lang="en-US" sz="3000" b="1" dirty="0">
                <a:solidFill>
                  <a:srgbClr val="0A3D62"/>
                </a:solidFill>
                <a:latin typeface="Calibri" pitchFamily="34" charset="0"/>
                <a:ea typeface="Calibri" pitchFamily="34" charset="-122"/>
                <a:cs typeface="Calibri" pitchFamily="34" charset="-120"/>
              </a:rPr>
              <a:t>The Problem</a:t>
            </a:r>
            <a:endParaRPr lang="en-US" sz="3000" dirty="0"/>
          </a:p>
        </p:txBody>
      </p:sp>
      <p:sp>
        <p:nvSpPr>
          <p:cNvPr id="3" name="Shape 1"/>
          <p:cNvSpPr/>
          <p:nvPr/>
        </p:nvSpPr>
        <p:spPr>
          <a:xfrm>
            <a:off x="365760" y="1005840"/>
            <a:ext cx="2606040" cy="3108960"/>
          </a:xfrm>
          <a:prstGeom prst="roundRect">
            <a:avLst>
              <a:gd name="adj" fmla="val 2807"/>
            </a:avLst>
          </a:prstGeom>
          <a:solidFill>
            <a:srgbClr val="EAF4F8"/>
          </a:solidFill>
          <a:ln/>
          <a:effectLst>
            <a:outerShdw blurRad="101600" dist="25400" dir="2700000" algn="bl" rotWithShape="0">
              <a:srgbClr val="000000">
                <a:alpha val="10000"/>
              </a:srgbClr>
            </a:outerShdw>
          </a:effectLst>
        </p:spPr>
      </p:sp>
      <p:sp>
        <p:nvSpPr>
          <p:cNvPr id="4" name="Text 2"/>
          <p:cNvSpPr/>
          <p:nvPr/>
        </p:nvSpPr>
        <p:spPr>
          <a:xfrm>
            <a:off x="365760" y="1143000"/>
            <a:ext cx="2606040" cy="50292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5" name="Text 3"/>
          <p:cNvSpPr/>
          <p:nvPr/>
        </p:nvSpPr>
        <p:spPr>
          <a:xfrm>
            <a:off x="365760" y="1783080"/>
            <a:ext cx="2606040" cy="384048"/>
          </a:xfrm>
          <a:prstGeom prst="rect">
            <a:avLst/>
          </a:prstGeom>
          <a:noFill/>
          <a:ln/>
        </p:spPr>
        <p:txBody>
          <a:bodyPr wrap="square" lIns="0" tIns="0" rIns="0" bIns="0" rtlCol="0" anchor="ctr"/>
          <a:lstStyle/>
          <a:p>
            <a:pPr marL="0" indent="0" algn="ctr">
              <a:buNone/>
            </a:pPr>
            <a:r>
              <a:rPr lang="en-US" sz="1400" b="1" dirty="0">
                <a:solidFill>
                  <a:srgbClr val="0A3D62"/>
                </a:solidFill>
                <a:latin typeface="Calibri" pitchFamily="34" charset="0"/>
                <a:ea typeface="Calibri" pitchFamily="34" charset="-122"/>
                <a:cs typeface="Calibri" pitchFamily="34" charset="-120"/>
              </a:rPr>
              <a:t>Price Volatility</a:t>
            </a:r>
            <a:endParaRPr lang="en-US" sz="1400" dirty="0"/>
          </a:p>
        </p:txBody>
      </p:sp>
      <p:sp>
        <p:nvSpPr>
          <p:cNvPr id="6" name="Text 4"/>
          <p:cNvSpPr/>
          <p:nvPr/>
        </p:nvSpPr>
        <p:spPr>
          <a:xfrm>
            <a:off x="457200" y="2240280"/>
            <a:ext cx="2423160" cy="1645920"/>
          </a:xfrm>
          <a:prstGeom prst="rect">
            <a:avLst/>
          </a:prstGeom>
          <a:noFill/>
          <a:ln/>
        </p:spPr>
        <p:txBody>
          <a:bodyPr wrap="square" rtlCol="0" anchor="ctr"/>
          <a:lstStyle/>
          <a:p>
            <a:pPr marL="0" indent="0" algn="l">
              <a:buNone/>
            </a:pPr>
            <a:r>
              <a:rPr lang="en-US" sz="1100" dirty="0">
                <a:solidFill>
                  <a:srgbClr val="1C2A35"/>
                </a:solidFill>
                <a:latin typeface="Calibri" pitchFamily="34" charset="0"/>
                <a:ea typeface="Calibri" pitchFamily="34" charset="-122"/>
                <a:cs typeface="Calibri" pitchFamily="34" charset="-120"/>
              </a:rPr>
              <a:t>Food prices fluctuate sharply across seasons, geographies, and global supply shocks — making planning nearly impossible.</a:t>
            </a:r>
            <a:endParaRPr lang="en-US" sz="1100" dirty="0"/>
          </a:p>
        </p:txBody>
      </p:sp>
      <p:sp>
        <p:nvSpPr>
          <p:cNvPr id="7" name="Shape 5"/>
          <p:cNvSpPr/>
          <p:nvPr/>
        </p:nvSpPr>
        <p:spPr>
          <a:xfrm>
            <a:off x="3200400" y="1005840"/>
            <a:ext cx="2606040" cy="3108960"/>
          </a:xfrm>
          <a:prstGeom prst="roundRect">
            <a:avLst>
              <a:gd name="adj" fmla="val 2807"/>
            </a:avLst>
          </a:prstGeom>
          <a:solidFill>
            <a:srgbClr val="EAF4F8"/>
          </a:solidFill>
          <a:ln/>
          <a:effectLst>
            <a:outerShdw blurRad="101600" dist="25400" dir="2700000" algn="bl" rotWithShape="0">
              <a:srgbClr val="000000">
                <a:alpha val="10000"/>
              </a:srgbClr>
            </a:outerShdw>
          </a:effectLst>
        </p:spPr>
      </p:sp>
      <p:sp>
        <p:nvSpPr>
          <p:cNvPr id="8" name="Text 6"/>
          <p:cNvSpPr/>
          <p:nvPr/>
        </p:nvSpPr>
        <p:spPr>
          <a:xfrm>
            <a:off x="3200400" y="1143000"/>
            <a:ext cx="2606040" cy="50292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9" name="Text 7"/>
          <p:cNvSpPr/>
          <p:nvPr/>
        </p:nvSpPr>
        <p:spPr>
          <a:xfrm>
            <a:off x="3200400" y="1783080"/>
            <a:ext cx="2606040" cy="384048"/>
          </a:xfrm>
          <a:prstGeom prst="rect">
            <a:avLst/>
          </a:prstGeom>
          <a:noFill/>
          <a:ln/>
        </p:spPr>
        <p:txBody>
          <a:bodyPr wrap="square" lIns="0" tIns="0" rIns="0" bIns="0" rtlCol="0" anchor="ctr"/>
          <a:lstStyle/>
          <a:p>
            <a:pPr marL="0" indent="0" algn="ctr">
              <a:buNone/>
            </a:pPr>
            <a:r>
              <a:rPr lang="en-US" sz="1400" b="1" dirty="0">
                <a:solidFill>
                  <a:srgbClr val="0A3D62"/>
                </a:solidFill>
                <a:latin typeface="Calibri" pitchFamily="34" charset="0"/>
                <a:ea typeface="Calibri" pitchFamily="34" charset="-122"/>
                <a:cs typeface="Calibri" pitchFamily="34" charset="-120"/>
              </a:rPr>
              <a:t>Currency Chaos</a:t>
            </a:r>
            <a:endParaRPr lang="en-US" sz="1400" dirty="0"/>
          </a:p>
        </p:txBody>
      </p:sp>
      <p:sp>
        <p:nvSpPr>
          <p:cNvPr id="10" name="Text 8"/>
          <p:cNvSpPr/>
          <p:nvPr/>
        </p:nvSpPr>
        <p:spPr>
          <a:xfrm>
            <a:off x="3291840" y="2240280"/>
            <a:ext cx="2423160" cy="1645920"/>
          </a:xfrm>
          <a:prstGeom prst="rect">
            <a:avLst/>
          </a:prstGeom>
          <a:noFill/>
          <a:ln/>
        </p:spPr>
        <p:txBody>
          <a:bodyPr wrap="square" rtlCol="0" anchor="ctr"/>
          <a:lstStyle/>
          <a:p>
            <a:pPr marL="0" indent="0" algn="l">
              <a:buNone/>
            </a:pPr>
            <a:r>
              <a:rPr lang="en-US" sz="1100" dirty="0">
                <a:solidFill>
                  <a:srgbClr val="1C2A35"/>
                </a:solidFill>
                <a:latin typeface="Calibri" pitchFamily="34" charset="0"/>
                <a:ea typeface="Calibri" pitchFamily="34" charset="-122"/>
                <a:cs typeface="Calibri" pitchFamily="34" charset="-120"/>
              </a:rPr>
              <a:t>Prices recorded in 50+ local currencies with 70+ different units of measure (KG, Libra, Marmite, MT) — impossible to compare directly.</a:t>
            </a:r>
            <a:endParaRPr lang="en-US" sz="1100" dirty="0"/>
          </a:p>
        </p:txBody>
      </p:sp>
      <p:sp>
        <p:nvSpPr>
          <p:cNvPr id="11" name="Shape 9"/>
          <p:cNvSpPr/>
          <p:nvPr/>
        </p:nvSpPr>
        <p:spPr>
          <a:xfrm>
            <a:off x="6035040" y="1005840"/>
            <a:ext cx="2606040" cy="3108960"/>
          </a:xfrm>
          <a:prstGeom prst="roundRect">
            <a:avLst>
              <a:gd name="adj" fmla="val 2807"/>
            </a:avLst>
          </a:prstGeom>
          <a:solidFill>
            <a:srgbClr val="EAF4F8"/>
          </a:solidFill>
          <a:ln/>
          <a:effectLst>
            <a:outerShdw blurRad="101600" dist="25400" dir="2700000" algn="bl" rotWithShape="0">
              <a:srgbClr val="000000">
                <a:alpha val="10000"/>
              </a:srgbClr>
            </a:outerShdw>
          </a:effectLst>
        </p:spPr>
      </p:sp>
      <p:sp>
        <p:nvSpPr>
          <p:cNvPr id="12" name="Text 10"/>
          <p:cNvSpPr/>
          <p:nvPr/>
        </p:nvSpPr>
        <p:spPr>
          <a:xfrm>
            <a:off x="6035040" y="1143000"/>
            <a:ext cx="2606040" cy="50292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3" name="Text 11"/>
          <p:cNvSpPr/>
          <p:nvPr/>
        </p:nvSpPr>
        <p:spPr>
          <a:xfrm>
            <a:off x="6035040" y="1783080"/>
            <a:ext cx="2606040" cy="384048"/>
          </a:xfrm>
          <a:prstGeom prst="rect">
            <a:avLst/>
          </a:prstGeom>
          <a:noFill/>
          <a:ln/>
        </p:spPr>
        <p:txBody>
          <a:bodyPr wrap="square" lIns="0" tIns="0" rIns="0" bIns="0" rtlCol="0" anchor="ctr"/>
          <a:lstStyle/>
          <a:p>
            <a:pPr marL="0" indent="0" algn="ctr">
              <a:buNone/>
            </a:pPr>
            <a:r>
              <a:rPr lang="en-US" sz="1400" b="1" dirty="0">
                <a:solidFill>
                  <a:srgbClr val="0A3D62"/>
                </a:solidFill>
                <a:latin typeface="Calibri" pitchFamily="34" charset="0"/>
                <a:ea typeface="Calibri" pitchFamily="34" charset="-122"/>
                <a:cs typeface="Calibri" pitchFamily="34" charset="-120"/>
              </a:rPr>
              <a:t>Data Overload</a:t>
            </a:r>
            <a:endParaRPr lang="en-US" sz="1400" dirty="0"/>
          </a:p>
        </p:txBody>
      </p:sp>
      <p:sp>
        <p:nvSpPr>
          <p:cNvPr id="14" name="Text 12"/>
          <p:cNvSpPr/>
          <p:nvPr/>
        </p:nvSpPr>
        <p:spPr>
          <a:xfrm>
            <a:off x="6126480" y="2240280"/>
            <a:ext cx="2423160" cy="1645920"/>
          </a:xfrm>
          <a:prstGeom prst="rect">
            <a:avLst/>
          </a:prstGeom>
          <a:noFill/>
          <a:ln/>
        </p:spPr>
        <p:txBody>
          <a:bodyPr wrap="square" rtlCol="0" anchor="ctr"/>
          <a:lstStyle/>
          <a:p>
            <a:pPr marL="0" indent="0" algn="l">
              <a:buNone/>
            </a:pPr>
            <a:r>
              <a:rPr lang="en-US" sz="1100" dirty="0">
                <a:solidFill>
                  <a:srgbClr val="1C2A35"/>
                </a:solidFill>
                <a:latin typeface="Calibri" pitchFamily="34" charset="0"/>
                <a:ea typeface="Calibri" pitchFamily="34" charset="-122"/>
                <a:cs typeface="Calibri" pitchFamily="34" charset="-120"/>
              </a:rPr>
              <a:t>Hundreds of product variants with no standardization make it impossible to benchmark staple affordability across countries.</a:t>
            </a:r>
            <a:endParaRPr lang="en-US" sz="1100" dirty="0"/>
          </a:p>
        </p:txBody>
      </p:sp>
      <p:sp>
        <p:nvSpPr>
          <p:cNvPr id="15" name="Shape 13"/>
          <p:cNvSpPr/>
          <p:nvPr/>
        </p:nvSpPr>
        <p:spPr>
          <a:xfrm>
            <a:off x="457200" y="4343400"/>
            <a:ext cx="8229600" cy="502920"/>
          </a:xfrm>
          <a:prstGeom prst="rect">
            <a:avLst/>
          </a:prstGeom>
          <a:solidFill>
            <a:srgbClr val="1A6E8E"/>
          </a:solidFill>
          <a:ln w="12700">
            <a:solidFill>
              <a:srgbClr val="1A6E8E"/>
            </a:solidFill>
            <a:prstDash val="solid"/>
          </a:ln>
        </p:spPr>
      </p:sp>
      <p:sp>
        <p:nvSpPr>
          <p:cNvPr id="16" name="Text 14"/>
          <p:cNvSpPr/>
          <p:nvPr/>
        </p:nvSpPr>
        <p:spPr>
          <a:xfrm>
            <a:off x="457200" y="4343400"/>
            <a:ext cx="82296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This project standardizes, normalizes, and analyzes WFP data to deliver actionable food price intelligence.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buNone/>
            </a:pPr>
            <a:r>
              <a:rPr lang="en-US" sz="3000" b="1" dirty="0">
                <a:solidFill>
                  <a:srgbClr val="0A3D62"/>
                </a:solidFill>
                <a:latin typeface="Calibri" pitchFamily="34" charset="0"/>
                <a:ea typeface="Calibri" pitchFamily="34" charset="-122"/>
                <a:cs typeface="Calibri" pitchFamily="34" charset="-120"/>
              </a:rPr>
              <a:t>Dataset Overview</a:t>
            </a:r>
            <a:endParaRPr lang="en-US" sz="3000" dirty="0"/>
          </a:p>
        </p:txBody>
      </p:sp>
      <p:sp>
        <p:nvSpPr>
          <p:cNvPr id="3" name="Shape 1"/>
          <p:cNvSpPr/>
          <p:nvPr/>
        </p:nvSpPr>
        <p:spPr>
          <a:xfrm>
            <a:off x="365760" y="960120"/>
            <a:ext cx="3657600" cy="658368"/>
          </a:xfrm>
          <a:prstGeom prst="roundRect">
            <a:avLst>
              <a:gd name="adj" fmla="val 11111"/>
            </a:avLst>
          </a:prstGeom>
          <a:solidFill>
            <a:srgbClr val="EAF4F8"/>
          </a:solidFill>
          <a:ln/>
          <a:effectLst>
            <a:outerShdw blurRad="101600" dist="25400" dir="2700000" algn="bl" rotWithShape="0">
              <a:srgbClr val="000000">
                <a:alpha val="10000"/>
              </a:srgbClr>
            </a:outerShdw>
          </a:effectLst>
        </p:spPr>
      </p:sp>
      <p:sp>
        <p:nvSpPr>
          <p:cNvPr id="4" name="Text 2"/>
          <p:cNvSpPr/>
          <p:nvPr/>
        </p:nvSpPr>
        <p:spPr>
          <a:xfrm>
            <a:off x="502920" y="1005840"/>
            <a:ext cx="914400" cy="548640"/>
          </a:xfrm>
          <a:prstGeom prst="rect">
            <a:avLst/>
          </a:prstGeom>
          <a:noFill/>
          <a:ln/>
        </p:spPr>
        <p:txBody>
          <a:bodyPr wrap="square" lIns="0" tIns="0" rIns="0" bIns="0" rtlCol="0" anchor="ctr"/>
          <a:lstStyle/>
          <a:p>
            <a:pPr marL="0" indent="0" algn="ctr">
              <a:buNone/>
            </a:pPr>
            <a:r>
              <a:rPr lang="en-US" sz="2600" b="1" dirty="0">
                <a:solidFill>
                  <a:srgbClr val="1A6E8E"/>
                </a:solidFill>
                <a:latin typeface="Calibri" pitchFamily="34" charset="0"/>
                <a:ea typeface="Calibri" pitchFamily="34" charset="-122"/>
                <a:cs typeface="Calibri" pitchFamily="34" charset="-120"/>
              </a:rPr>
              <a:t>1M+</a:t>
            </a:r>
            <a:endParaRPr lang="en-US" sz="2600" dirty="0"/>
          </a:p>
        </p:txBody>
      </p:sp>
      <p:sp>
        <p:nvSpPr>
          <p:cNvPr id="5" name="Text 3"/>
          <p:cNvSpPr/>
          <p:nvPr/>
        </p:nvSpPr>
        <p:spPr>
          <a:xfrm>
            <a:off x="1554480" y="1051560"/>
            <a:ext cx="2286000" cy="502920"/>
          </a:xfrm>
          <a:prstGeom prst="rect">
            <a:avLst/>
          </a:prstGeom>
          <a:noFill/>
          <a:ln/>
        </p:spPr>
        <p:txBody>
          <a:bodyPr wrap="square" lIns="0" tIns="0" rIns="0" bIns="0" rtlCol="0" anchor="ctr"/>
          <a:lstStyle/>
          <a:p>
            <a:pPr marL="0" indent="0">
              <a:buNone/>
            </a:pPr>
            <a:r>
              <a:rPr lang="en-US" sz="1300" dirty="0">
                <a:solidFill>
                  <a:srgbClr val="1C2A35"/>
                </a:solidFill>
                <a:latin typeface="Calibri" pitchFamily="34" charset="0"/>
                <a:ea typeface="Calibri" pitchFamily="34" charset="-122"/>
                <a:cs typeface="Calibri" pitchFamily="34" charset="-120"/>
              </a:rPr>
              <a:t>Price Observations</a:t>
            </a:r>
            <a:endParaRPr lang="en-US" sz="1300" dirty="0"/>
          </a:p>
        </p:txBody>
      </p:sp>
      <p:sp>
        <p:nvSpPr>
          <p:cNvPr id="6" name="Shape 4"/>
          <p:cNvSpPr/>
          <p:nvPr/>
        </p:nvSpPr>
        <p:spPr>
          <a:xfrm>
            <a:off x="365760" y="1737360"/>
            <a:ext cx="3657600" cy="658368"/>
          </a:xfrm>
          <a:prstGeom prst="roundRect">
            <a:avLst>
              <a:gd name="adj" fmla="val 11111"/>
            </a:avLst>
          </a:prstGeom>
          <a:solidFill>
            <a:srgbClr val="EAF4F8"/>
          </a:solidFill>
          <a:ln/>
          <a:effectLst>
            <a:outerShdw blurRad="101600" dist="25400" dir="2700000" algn="bl" rotWithShape="0">
              <a:srgbClr val="000000">
                <a:alpha val="10000"/>
              </a:srgbClr>
            </a:outerShdw>
          </a:effectLst>
        </p:spPr>
      </p:sp>
      <p:sp>
        <p:nvSpPr>
          <p:cNvPr id="7" name="Text 5"/>
          <p:cNvSpPr/>
          <p:nvPr/>
        </p:nvSpPr>
        <p:spPr>
          <a:xfrm>
            <a:off x="502920" y="1783080"/>
            <a:ext cx="914400" cy="548640"/>
          </a:xfrm>
          <a:prstGeom prst="rect">
            <a:avLst/>
          </a:prstGeom>
          <a:noFill/>
          <a:ln/>
        </p:spPr>
        <p:txBody>
          <a:bodyPr wrap="square" lIns="0" tIns="0" rIns="0" bIns="0" rtlCol="0" anchor="ctr"/>
          <a:lstStyle/>
          <a:p>
            <a:pPr marL="0" indent="0" algn="ctr">
              <a:buNone/>
            </a:pPr>
            <a:r>
              <a:rPr lang="en-US" sz="2600" b="1" dirty="0">
                <a:solidFill>
                  <a:srgbClr val="1A6E8E"/>
                </a:solidFill>
                <a:latin typeface="Calibri" pitchFamily="34" charset="0"/>
                <a:ea typeface="Calibri" pitchFamily="34" charset="-122"/>
                <a:cs typeface="Calibri" pitchFamily="34" charset="-120"/>
              </a:rPr>
              <a:t>70+</a:t>
            </a:r>
            <a:endParaRPr lang="en-US" sz="2600" dirty="0"/>
          </a:p>
        </p:txBody>
      </p:sp>
      <p:sp>
        <p:nvSpPr>
          <p:cNvPr id="8" name="Text 6"/>
          <p:cNvSpPr/>
          <p:nvPr/>
        </p:nvSpPr>
        <p:spPr>
          <a:xfrm>
            <a:off x="1554480" y="1828800"/>
            <a:ext cx="2286000" cy="502920"/>
          </a:xfrm>
          <a:prstGeom prst="rect">
            <a:avLst/>
          </a:prstGeom>
          <a:noFill/>
          <a:ln/>
        </p:spPr>
        <p:txBody>
          <a:bodyPr wrap="square" lIns="0" tIns="0" rIns="0" bIns="0" rtlCol="0" anchor="ctr"/>
          <a:lstStyle/>
          <a:p>
            <a:pPr marL="0" indent="0">
              <a:buNone/>
            </a:pPr>
            <a:r>
              <a:rPr lang="en-US" sz="1300" dirty="0">
                <a:solidFill>
                  <a:srgbClr val="1C2A35"/>
                </a:solidFill>
                <a:latin typeface="Calibri" pitchFamily="34" charset="0"/>
                <a:ea typeface="Calibri" pitchFamily="34" charset="-122"/>
                <a:cs typeface="Calibri" pitchFamily="34" charset="-120"/>
              </a:rPr>
              <a:t>Countries</a:t>
            </a:r>
            <a:endParaRPr lang="en-US" sz="1300" dirty="0"/>
          </a:p>
        </p:txBody>
      </p:sp>
      <p:sp>
        <p:nvSpPr>
          <p:cNvPr id="9" name="Shape 7"/>
          <p:cNvSpPr/>
          <p:nvPr/>
        </p:nvSpPr>
        <p:spPr>
          <a:xfrm>
            <a:off x="365760" y="2514600"/>
            <a:ext cx="3657600" cy="658368"/>
          </a:xfrm>
          <a:prstGeom prst="roundRect">
            <a:avLst>
              <a:gd name="adj" fmla="val 11111"/>
            </a:avLst>
          </a:prstGeom>
          <a:solidFill>
            <a:srgbClr val="EAF4F8"/>
          </a:solidFill>
          <a:ln/>
          <a:effectLst>
            <a:outerShdw blurRad="101600" dist="25400" dir="2700000" algn="bl" rotWithShape="0">
              <a:srgbClr val="000000">
                <a:alpha val="10000"/>
              </a:srgbClr>
            </a:outerShdw>
          </a:effectLst>
        </p:spPr>
      </p:sp>
      <p:sp>
        <p:nvSpPr>
          <p:cNvPr id="10" name="Text 8"/>
          <p:cNvSpPr/>
          <p:nvPr/>
        </p:nvSpPr>
        <p:spPr>
          <a:xfrm>
            <a:off x="502920" y="2560320"/>
            <a:ext cx="914400" cy="548640"/>
          </a:xfrm>
          <a:prstGeom prst="rect">
            <a:avLst/>
          </a:prstGeom>
          <a:noFill/>
          <a:ln/>
        </p:spPr>
        <p:txBody>
          <a:bodyPr wrap="square" lIns="0" tIns="0" rIns="0" bIns="0" rtlCol="0" anchor="ctr"/>
          <a:lstStyle/>
          <a:p>
            <a:pPr marL="0" indent="0" algn="ctr">
              <a:buNone/>
            </a:pPr>
            <a:r>
              <a:rPr lang="en-US" sz="2600" b="1" dirty="0">
                <a:solidFill>
                  <a:srgbClr val="1A6E8E"/>
                </a:solidFill>
                <a:latin typeface="Calibri" pitchFamily="34" charset="0"/>
                <a:ea typeface="Calibri" pitchFamily="34" charset="-122"/>
                <a:cs typeface="Calibri" pitchFamily="34" charset="-120"/>
              </a:rPr>
              <a:t>6</a:t>
            </a:r>
            <a:endParaRPr lang="en-US" sz="2600" dirty="0"/>
          </a:p>
        </p:txBody>
      </p:sp>
      <p:sp>
        <p:nvSpPr>
          <p:cNvPr id="11" name="Text 9"/>
          <p:cNvSpPr/>
          <p:nvPr/>
        </p:nvSpPr>
        <p:spPr>
          <a:xfrm>
            <a:off x="1554480" y="2606040"/>
            <a:ext cx="2286000" cy="502920"/>
          </a:xfrm>
          <a:prstGeom prst="rect">
            <a:avLst/>
          </a:prstGeom>
          <a:noFill/>
          <a:ln/>
        </p:spPr>
        <p:txBody>
          <a:bodyPr wrap="square" lIns="0" tIns="0" rIns="0" bIns="0" rtlCol="0" anchor="ctr"/>
          <a:lstStyle/>
          <a:p>
            <a:pPr marL="0" indent="0">
              <a:buNone/>
            </a:pPr>
            <a:r>
              <a:rPr lang="en-US" sz="1300" dirty="0">
                <a:solidFill>
                  <a:srgbClr val="1C2A35"/>
                </a:solidFill>
                <a:latin typeface="Calibri" pitchFamily="34" charset="0"/>
                <a:ea typeface="Calibri" pitchFamily="34" charset="-122"/>
                <a:cs typeface="Calibri" pitchFamily="34" charset="-120"/>
              </a:rPr>
              <a:t>Staple Commodities Analyzed</a:t>
            </a:r>
            <a:endParaRPr lang="en-US" sz="1300" dirty="0"/>
          </a:p>
        </p:txBody>
      </p:sp>
      <p:sp>
        <p:nvSpPr>
          <p:cNvPr id="12" name="Shape 10"/>
          <p:cNvSpPr/>
          <p:nvPr/>
        </p:nvSpPr>
        <p:spPr>
          <a:xfrm>
            <a:off x="365760" y="3291840"/>
            <a:ext cx="3657600" cy="658368"/>
          </a:xfrm>
          <a:prstGeom prst="roundRect">
            <a:avLst>
              <a:gd name="adj" fmla="val 11111"/>
            </a:avLst>
          </a:prstGeom>
          <a:solidFill>
            <a:srgbClr val="EAF4F8"/>
          </a:solidFill>
          <a:ln/>
          <a:effectLst>
            <a:outerShdw blurRad="101600" dist="25400" dir="2700000" algn="bl" rotWithShape="0">
              <a:srgbClr val="000000">
                <a:alpha val="10000"/>
              </a:srgbClr>
            </a:outerShdw>
          </a:effectLst>
        </p:spPr>
      </p:sp>
      <p:sp>
        <p:nvSpPr>
          <p:cNvPr id="13" name="Text 11"/>
          <p:cNvSpPr/>
          <p:nvPr/>
        </p:nvSpPr>
        <p:spPr>
          <a:xfrm>
            <a:off x="502920" y="3337560"/>
            <a:ext cx="914400" cy="548640"/>
          </a:xfrm>
          <a:prstGeom prst="rect">
            <a:avLst/>
          </a:prstGeom>
          <a:noFill/>
          <a:ln/>
        </p:spPr>
        <p:txBody>
          <a:bodyPr wrap="square" lIns="0" tIns="0" rIns="0" bIns="0" rtlCol="0" anchor="ctr"/>
          <a:lstStyle/>
          <a:p>
            <a:pPr marL="0" indent="0" algn="ctr">
              <a:buNone/>
            </a:pPr>
            <a:r>
              <a:rPr lang="en-US" sz="2600" b="1" dirty="0">
                <a:solidFill>
                  <a:srgbClr val="1A6E8E"/>
                </a:solidFill>
                <a:latin typeface="Calibri" pitchFamily="34" charset="0"/>
                <a:ea typeface="Calibri" pitchFamily="34" charset="-122"/>
                <a:cs typeface="Calibri" pitchFamily="34" charset="-120"/>
              </a:rPr>
              <a:t>50+</a:t>
            </a:r>
            <a:endParaRPr lang="en-US" sz="2600" dirty="0"/>
          </a:p>
        </p:txBody>
      </p:sp>
      <p:sp>
        <p:nvSpPr>
          <p:cNvPr id="14" name="Text 12"/>
          <p:cNvSpPr/>
          <p:nvPr/>
        </p:nvSpPr>
        <p:spPr>
          <a:xfrm>
            <a:off x="1554480" y="3383280"/>
            <a:ext cx="2286000" cy="502920"/>
          </a:xfrm>
          <a:prstGeom prst="rect">
            <a:avLst/>
          </a:prstGeom>
          <a:noFill/>
          <a:ln/>
        </p:spPr>
        <p:txBody>
          <a:bodyPr wrap="square" lIns="0" tIns="0" rIns="0" bIns="0" rtlCol="0" anchor="ctr"/>
          <a:lstStyle/>
          <a:p>
            <a:pPr marL="0" indent="0">
              <a:buNone/>
            </a:pPr>
            <a:r>
              <a:rPr lang="en-US" sz="1300" dirty="0">
                <a:solidFill>
                  <a:srgbClr val="1C2A35"/>
                </a:solidFill>
                <a:latin typeface="Calibri" pitchFamily="34" charset="0"/>
                <a:ea typeface="Calibri" pitchFamily="34" charset="-122"/>
                <a:cs typeface="Calibri" pitchFamily="34" charset="-120"/>
              </a:rPr>
              <a:t>Measurement Units</a:t>
            </a:r>
            <a:endParaRPr lang="en-US" sz="1300" dirty="0"/>
          </a:p>
        </p:txBody>
      </p:sp>
      <p:sp>
        <p:nvSpPr>
          <p:cNvPr id="15" name="Shape 13"/>
          <p:cNvSpPr/>
          <p:nvPr/>
        </p:nvSpPr>
        <p:spPr>
          <a:xfrm>
            <a:off x="365760" y="4069080"/>
            <a:ext cx="3657600" cy="658368"/>
          </a:xfrm>
          <a:prstGeom prst="roundRect">
            <a:avLst>
              <a:gd name="adj" fmla="val 11111"/>
            </a:avLst>
          </a:prstGeom>
          <a:solidFill>
            <a:srgbClr val="EAF4F8"/>
          </a:solidFill>
          <a:ln/>
          <a:effectLst>
            <a:outerShdw blurRad="101600" dist="25400" dir="2700000" algn="bl" rotWithShape="0">
              <a:srgbClr val="000000">
                <a:alpha val="10000"/>
              </a:srgbClr>
            </a:outerShdw>
          </a:effectLst>
        </p:spPr>
      </p:sp>
      <p:sp>
        <p:nvSpPr>
          <p:cNvPr id="16" name="Text 14"/>
          <p:cNvSpPr/>
          <p:nvPr/>
        </p:nvSpPr>
        <p:spPr>
          <a:xfrm>
            <a:off x="502920" y="4114800"/>
            <a:ext cx="914400" cy="548640"/>
          </a:xfrm>
          <a:prstGeom prst="rect">
            <a:avLst/>
          </a:prstGeom>
          <a:noFill/>
          <a:ln/>
        </p:spPr>
        <p:txBody>
          <a:bodyPr wrap="square" lIns="0" tIns="0" rIns="0" bIns="0" rtlCol="0" anchor="ctr"/>
          <a:lstStyle/>
          <a:p>
            <a:pPr marL="0" indent="0" algn="ctr">
              <a:buNone/>
            </a:pPr>
            <a:r>
              <a:rPr lang="en-US" sz="2600" b="1" dirty="0">
                <a:solidFill>
                  <a:srgbClr val="1A6E8E"/>
                </a:solidFill>
                <a:latin typeface="Calibri" pitchFamily="34" charset="0"/>
                <a:ea typeface="Calibri" pitchFamily="34" charset="-122"/>
                <a:cs typeface="Calibri" pitchFamily="34" charset="-120"/>
              </a:rPr>
              <a:t>18</a:t>
            </a:r>
            <a:endParaRPr lang="en-US" sz="2600" dirty="0"/>
          </a:p>
        </p:txBody>
      </p:sp>
      <p:sp>
        <p:nvSpPr>
          <p:cNvPr id="17" name="Text 15"/>
          <p:cNvSpPr/>
          <p:nvPr/>
        </p:nvSpPr>
        <p:spPr>
          <a:xfrm>
            <a:off x="1554480" y="4160520"/>
            <a:ext cx="2286000" cy="502920"/>
          </a:xfrm>
          <a:prstGeom prst="rect">
            <a:avLst/>
          </a:prstGeom>
          <a:noFill/>
          <a:ln/>
        </p:spPr>
        <p:txBody>
          <a:bodyPr wrap="square" lIns="0" tIns="0" rIns="0" bIns="0" rtlCol="0" anchor="ctr"/>
          <a:lstStyle/>
          <a:p>
            <a:pPr marL="0" indent="0">
              <a:buNone/>
            </a:pPr>
            <a:r>
              <a:rPr lang="en-US" sz="1300" dirty="0">
                <a:solidFill>
                  <a:srgbClr val="1C2A35"/>
                </a:solidFill>
                <a:latin typeface="Calibri" pitchFamily="34" charset="0"/>
                <a:ea typeface="Calibri" pitchFamily="34" charset="-122"/>
                <a:cs typeface="Calibri" pitchFamily="34" charset="-120"/>
              </a:rPr>
              <a:t>Dataset Columns</a:t>
            </a:r>
            <a:endParaRPr lang="en-US" sz="1300" dirty="0"/>
          </a:p>
        </p:txBody>
      </p:sp>
      <p:sp>
        <p:nvSpPr>
          <p:cNvPr id="18" name="Shape 16"/>
          <p:cNvSpPr/>
          <p:nvPr/>
        </p:nvSpPr>
        <p:spPr>
          <a:xfrm>
            <a:off x="4389120" y="960120"/>
            <a:ext cx="4434840" cy="3886200"/>
          </a:xfrm>
          <a:prstGeom prst="roundRect">
            <a:avLst>
              <a:gd name="adj" fmla="val 1882"/>
            </a:avLst>
          </a:prstGeom>
          <a:solidFill>
            <a:srgbClr val="EAF4F8"/>
          </a:solidFill>
          <a:ln/>
          <a:effectLst>
            <a:outerShdw blurRad="101600" dist="25400" dir="2700000" algn="bl" rotWithShape="0">
              <a:srgbClr val="000000">
                <a:alpha val="10000"/>
              </a:srgbClr>
            </a:outerShdw>
          </a:effectLst>
        </p:spPr>
      </p:sp>
      <p:sp>
        <p:nvSpPr>
          <p:cNvPr id="19" name="Text 17"/>
          <p:cNvSpPr/>
          <p:nvPr/>
        </p:nvSpPr>
        <p:spPr>
          <a:xfrm>
            <a:off x="4480560" y="1024128"/>
            <a:ext cx="4206240" cy="320040"/>
          </a:xfrm>
          <a:prstGeom prst="rect">
            <a:avLst/>
          </a:prstGeom>
          <a:noFill/>
          <a:ln/>
        </p:spPr>
        <p:txBody>
          <a:bodyPr wrap="square" lIns="0" tIns="0" rIns="0" bIns="0" rtlCol="0" anchor="ctr"/>
          <a:lstStyle/>
          <a:p>
            <a:pPr marL="0" indent="0">
              <a:buNone/>
            </a:pPr>
            <a:r>
              <a:rPr lang="en-US" sz="1400" b="1" dirty="0">
                <a:solidFill>
                  <a:srgbClr val="0A3D62"/>
                </a:solidFill>
                <a:latin typeface="Calibri" pitchFamily="34" charset="0"/>
                <a:ea typeface="Calibri" pitchFamily="34" charset="-122"/>
                <a:cs typeface="Calibri" pitchFamily="34" charset="-120"/>
              </a:rPr>
              <a:t>Key Columns</a:t>
            </a:r>
            <a:endParaRPr lang="en-US" sz="1400" dirty="0"/>
          </a:p>
        </p:txBody>
      </p:sp>
      <p:sp>
        <p:nvSpPr>
          <p:cNvPr id="20" name="Text 18"/>
          <p:cNvSpPr/>
          <p:nvPr/>
        </p:nvSpPr>
        <p:spPr>
          <a:xfrm>
            <a:off x="4526280" y="1417320"/>
            <a:ext cx="1920240" cy="347472"/>
          </a:xfrm>
          <a:prstGeom prst="rect">
            <a:avLst/>
          </a:prstGeom>
          <a:noFill/>
          <a:ln/>
        </p:spPr>
        <p:txBody>
          <a:bodyPr wrap="square" lIns="0" tIns="0" rIns="0" bIns="0" rtlCol="0" anchor="ctr"/>
          <a:lstStyle/>
          <a:p>
            <a:pPr marL="0" indent="0">
              <a:buNone/>
            </a:pPr>
            <a:r>
              <a:rPr lang="en-US" sz="1000" b="1" dirty="0">
                <a:solidFill>
                  <a:srgbClr val="1A6E8E"/>
                </a:solidFill>
                <a:latin typeface="Courier New" pitchFamily="34" charset="0"/>
                <a:ea typeface="Courier New" pitchFamily="34" charset="-122"/>
                <a:cs typeface="Courier New" pitchFamily="34" charset="-120"/>
              </a:rPr>
              <a:t>adm0_name</a:t>
            </a:r>
            <a:endParaRPr lang="en-US" sz="1000" dirty="0"/>
          </a:p>
        </p:txBody>
      </p:sp>
      <p:sp>
        <p:nvSpPr>
          <p:cNvPr id="21" name="Text 19"/>
          <p:cNvSpPr/>
          <p:nvPr/>
        </p:nvSpPr>
        <p:spPr>
          <a:xfrm>
            <a:off x="6583680" y="1417320"/>
            <a:ext cx="2103120" cy="347472"/>
          </a:xfrm>
          <a:prstGeom prst="rect">
            <a:avLst/>
          </a:prstGeom>
          <a:noFill/>
          <a:ln/>
        </p:spPr>
        <p:txBody>
          <a:bodyPr wrap="square" lIns="0" tIns="0" rIns="0" bIns="0" rtlCol="0" anchor="ctr"/>
          <a:lstStyle/>
          <a:p>
            <a:pPr marL="0" indent="0">
              <a:buNone/>
            </a:pPr>
            <a:r>
              <a:rPr lang="en-US" sz="1000" dirty="0">
                <a:solidFill>
                  <a:srgbClr val="1C2A35"/>
                </a:solidFill>
                <a:latin typeface="Calibri" pitchFamily="34" charset="0"/>
                <a:ea typeface="Calibri" pitchFamily="34" charset="-122"/>
                <a:cs typeface="Calibri" pitchFamily="34" charset="-120"/>
              </a:rPr>
              <a:t>Country name</a:t>
            </a:r>
            <a:endParaRPr lang="en-US" sz="1000" dirty="0"/>
          </a:p>
        </p:txBody>
      </p:sp>
      <p:sp>
        <p:nvSpPr>
          <p:cNvPr id="22" name="Text 20"/>
          <p:cNvSpPr/>
          <p:nvPr/>
        </p:nvSpPr>
        <p:spPr>
          <a:xfrm>
            <a:off x="4526280" y="1828800"/>
            <a:ext cx="1920240" cy="347472"/>
          </a:xfrm>
          <a:prstGeom prst="rect">
            <a:avLst/>
          </a:prstGeom>
          <a:noFill/>
          <a:ln/>
        </p:spPr>
        <p:txBody>
          <a:bodyPr wrap="square" lIns="0" tIns="0" rIns="0" bIns="0" rtlCol="0" anchor="ctr"/>
          <a:lstStyle/>
          <a:p>
            <a:pPr marL="0" indent="0">
              <a:buNone/>
            </a:pPr>
            <a:r>
              <a:rPr lang="en-US" sz="1000" b="1" dirty="0">
                <a:solidFill>
                  <a:srgbClr val="1A6E8E"/>
                </a:solidFill>
                <a:latin typeface="Courier New" pitchFamily="34" charset="0"/>
                <a:ea typeface="Courier New" pitchFamily="34" charset="-122"/>
                <a:cs typeface="Courier New" pitchFamily="34" charset="-120"/>
              </a:rPr>
              <a:t>mkt_name</a:t>
            </a:r>
            <a:endParaRPr lang="en-US" sz="1000" dirty="0"/>
          </a:p>
        </p:txBody>
      </p:sp>
      <p:sp>
        <p:nvSpPr>
          <p:cNvPr id="23" name="Text 21"/>
          <p:cNvSpPr/>
          <p:nvPr/>
        </p:nvSpPr>
        <p:spPr>
          <a:xfrm>
            <a:off x="6583680" y="1828800"/>
            <a:ext cx="2103120" cy="347472"/>
          </a:xfrm>
          <a:prstGeom prst="rect">
            <a:avLst/>
          </a:prstGeom>
          <a:noFill/>
          <a:ln/>
        </p:spPr>
        <p:txBody>
          <a:bodyPr wrap="square" lIns="0" tIns="0" rIns="0" bIns="0" rtlCol="0" anchor="ctr"/>
          <a:lstStyle/>
          <a:p>
            <a:pPr marL="0" indent="0">
              <a:buNone/>
            </a:pPr>
            <a:r>
              <a:rPr lang="en-US" sz="1000" dirty="0">
                <a:solidFill>
                  <a:srgbClr val="1C2A35"/>
                </a:solidFill>
                <a:latin typeface="Calibri" pitchFamily="34" charset="0"/>
                <a:ea typeface="Calibri" pitchFamily="34" charset="-122"/>
                <a:cs typeface="Calibri" pitchFamily="34" charset="-120"/>
              </a:rPr>
              <a:t>Local market</a:t>
            </a:r>
            <a:endParaRPr lang="en-US" sz="1000" dirty="0"/>
          </a:p>
        </p:txBody>
      </p:sp>
      <p:sp>
        <p:nvSpPr>
          <p:cNvPr id="24" name="Text 22"/>
          <p:cNvSpPr/>
          <p:nvPr/>
        </p:nvSpPr>
        <p:spPr>
          <a:xfrm>
            <a:off x="4526280" y="2240280"/>
            <a:ext cx="1920240" cy="347472"/>
          </a:xfrm>
          <a:prstGeom prst="rect">
            <a:avLst/>
          </a:prstGeom>
          <a:noFill/>
          <a:ln/>
        </p:spPr>
        <p:txBody>
          <a:bodyPr wrap="square" lIns="0" tIns="0" rIns="0" bIns="0" rtlCol="0" anchor="ctr"/>
          <a:lstStyle/>
          <a:p>
            <a:pPr marL="0" indent="0">
              <a:buNone/>
            </a:pPr>
            <a:r>
              <a:rPr lang="en-US" sz="1000" b="1" dirty="0">
                <a:solidFill>
                  <a:srgbClr val="1A6E8E"/>
                </a:solidFill>
                <a:latin typeface="Courier New" pitchFamily="34" charset="0"/>
                <a:ea typeface="Courier New" pitchFamily="34" charset="-122"/>
                <a:cs typeface="Courier New" pitchFamily="34" charset="-120"/>
              </a:rPr>
              <a:t>cm_name</a:t>
            </a:r>
            <a:endParaRPr lang="en-US" sz="1000" dirty="0"/>
          </a:p>
        </p:txBody>
      </p:sp>
      <p:sp>
        <p:nvSpPr>
          <p:cNvPr id="25" name="Text 23"/>
          <p:cNvSpPr/>
          <p:nvPr/>
        </p:nvSpPr>
        <p:spPr>
          <a:xfrm>
            <a:off x="6583680" y="2240280"/>
            <a:ext cx="2103120" cy="347472"/>
          </a:xfrm>
          <a:prstGeom prst="rect">
            <a:avLst/>
          </a:prstGeom>
          <a:noFill/>
          <a:ln/>
        </p:spPr>
        <p:txBody>
          <a:bodyPr wrap="square" lIns="0" tIns="0" rIns="0" bIns="0" rtlCol="0" anchor="ctr"/>
          <a:lstStyle/>
          <a:p>
            <a:pPr marL="0" indent="0">
              <a:buNone/>
            </a:pPr>
            <a:r>
              <a:rPr lang="en-US" sz="1000" dirty="0">
                <a:solidFill>
                  <a:srgbClr val="1C2A35"/>
                </a:solidFill>
                <a:latin typeface="Calibri" pitchFamily="34" charset="0"/>
                <a:ea typeface="Calibri" pitchFamily="34" charset="-122"/>
                <a:cs typeface="Calibri" pitchFamily="34" charset="-120"/>
              </a:rPr>
              <a:t>Commodity</a:t>
            </a:r>
            <a:endParaRPr lang="en-US" sz="1000" dirty="0"/>
          </a:p>
        </p:txBody>
      </p:sp>
      <p:sp>
        <p:nvSpPr>
          <p:cNvPr id="26" name="Text 24"/>
          <p:cNvSpPr/>
          <p:nvPr/>
        </p:nvSpPr>
        <p:spPr>
          <a:xfrm>
            <a:off x="4526280" y="2651760"/>
            <a:ext cx="1920240" cy="347472"/>
          </a:xfrm>
          <a:prstGeom prst="rect">
            <a:avLst/>
          </a:prstGeom>
          <a:noFill/>
          <a:ln/>
        </p:spPr>
        <p:txBody>
          <a:bodyPr wrap="square" lIns="0" tIns="0" rIns="0" bIns="0" rtlCol="0" anchor="ctr"/>
          <a:lstStyle/>
          <a:p>
            <a:pPr marL="0" indent="0">
              <a:buNone/>
            </a:pPr>
            <a:r>
              <a:rPr lang="en-US" sz="1000" b="1" dirty="0">
                <a:solidFill>
                  <a:srgbClr val="1A6E8E"/>
                </a:solidFill>
                <a:latin typeface="Courier New" pitchFamily="34" charset="0"/>
                <a:ea typeface="Courier New" pitchFamily="34" charset="-122"/>
                <a:cs typeface="Courier New" pitchFamily="34" charset="-120"/>
              </a:rPr>
              <a:t>cur_name</a:t>
            </a:r>
            <a:endParaRPr lang="en-US" sz="1000" dirty="0"/>
          </a:p>
        </p:txBody>
      </p:sp>
      <p:sp>
        <p:nvSpPr>
          <p:cNvPr id="27" name="Text 25"/>
          <p:cNvSpPr/>
          <p:nvPr/>
        </p:nvSpPr>
        <p:spPr>
          <a:xfrm>
            <a:off x="6583680" y="2651760"/>
            <a:ext cx="2103120" cy="347472"/>
          </a:xfrm>
          <a:prstGeom prst="rect">
            <a:avLst/>
          </a:prstGeom>
          <a:noFill/>
          <a:ln/>
        </p:spPr>
        <p:txBody>
          <a:bodyPr wrap="square" lIns="0" tIns="0" rIns="0" bIns="0" rtlCol="0" anchor="ctr"/>
          <a:lstStyle/>
          <a:p>
            <a:pPr marL="0" indent="0">
              <a:buNone/>
            </a:pPr>
            <a:r>
              <a:rPr lang="en-US" sz="1000" dirty="0">
                <a:solidFill>
                  <a:srgbClr val="1C2A35"/>
                </a:solidFill>
                <a:latin typeface="Calibri" pitchFamily="34" charset="0"/>
                <a:ea typeface="Calibri" pitchFamily="34" charset="-122"/>
                <a:cs typeface="Calibri" pitchFamily="34" charset="-120"/>
              </a:rPr>
              <a:t>Currency</a:t>
            </a:r>
            <a:endParaRPr lang="en-US" sz="1000" dirty="0"/>
          </a:p>
        </p:txBody>
      </p:sp>
      <p:sp>
        <p:nvSpPr>
          <p:cNvPr id="28" name="Text 26"/>
          <p:cNvSpPr/>
          <p:nvPr/>
        </p:nvSpPr>
        <p:spPr>
          <a:xfrm>
            <a:off x="4526280" y="3063240"/>
            <a:ext cx="1920240" cy="347472"/>
          </a:xfrm>
          <a:prstGeom prst="rect">
            <a:avLst/>
          </a:prstGeom>
          <a:noFill/>
          <a:ln/>
        </p:spPr>
        <p:txBody>
          <a:bodyPr wrap="square" lIns="0" tIns="0" rIns="0" bIns="0" rtlCol="0" anchor="ctr"/>
          <a:lstStyle/>
          <a:p>
            <a:pPr marL="0" indent="0">
              <a:buNone/>
            </a:pPr>
            <a:r>
              <a:rPr lang="en-US" sz="1000" b="1" dirty="0">
                <a:solidFill>
                  <a:srgbClr val="1A6E8E"/>
                </a:solidFill>
                <a:latin typeface="Courier New" pitchFamily="34" charset="0"/>
                <a:ea typeface="Courier New" pitchFamily="34" charset="-122"/>
                <a:cs typeface="Courier New" pitchFamily="34" charset="-120"/>
              </a:rPr>
              <a:t>um_name</a:t>
            </a:r>
            <a:endParaRPr lang="en-US" sz="1000" dirty="0"/>
          </a:p>
        </p:txBody>
      </p:sp>
      <p:sp>
        <p:nvSpPr>
          <p:cNvPr id="29" name="Text 27"/>
          <p:cNvSpPr/>
          <p:nvPr/>
        </p:nvSpPr>
        <p:spPr>
          <a:xfrm>
            <a:off x="6583680" y="3063240"/>
            <a:ext cx="2103120" cy="347472"/>
          </a:xfrm>
          <a:prstGeom prst="rect">
            <a:avLst/>
          </a:prstGeom>
          <a:noFill/>
          <a:ln/>
        </p:spPr>
        <p:txBody>
          <a:bodyPr wrap="square" lIns="0" tIns="0" rIns="0" bIns="0" rtlCol="0" anchor="ctr"/>
          <a:lstStyle/>
          <a:p>
            <a:pPr marL="0" indent="0">
              <a:buNone/>
            </a:pPr>
            <a:r>
              <a:rPr lang="en-US" sz="1000" dirty="0">
                <a:solidFill>
                  <a:srgbClr val="1C2A35"/>
                </a:solidFill>
                <a:latin typeface="Calibri" pitchFamily="34" charset="0"/>
                <a:ea typeface="Calibri" pitchFamily="34" charset="-122"/>
                <a:cs typeface="Calibri" pitchFamily="34" charset="-120"/>
              </a:rPr>
              <a:t>Unit of measure</a:t>
            </a:r>
            <a:endParaRPr lang="en-US" sz="1000" dirty="0"/>
          </a:p>
        </p:txBody>
      </p:sp>
      <p:sp>
        <p:nvSpPr>
          <p:cNvPr id="30" name="Text 28"/>
          <p:cNvSpPr/>
          <p:nvPr/>
        </p:nvSpPr>
        <p:spPr>
          <a:xfrm>
            <a:off x="4526280" y="3474720"/>
            <a:ext cx="1920240" cy="347472"/>
          </a:xfrm>
          <a:prstGeom prst="rect">
            <a:avLst/>
          </a:prstGeom>
          <a:noFill/>
          <a:ln/>
        </p:spPr>
        <p:txBody>
          <a:bodyPr wrap="square" lIns="0" tIns="0" rIns="0" bIns="0" rtlCol="0" anchor="ctr"/>
          <a:lstStyle/>
          <a:p>
            <a:pPr marL="0" indent="0">
              <a:buNone/>
            </a:pPr>
            <a:r>
              <a:rPr lang="en-US" sz="1000" b="1" dirty="0">
                <a:solidFill>
                  <a:srgbClr val="1A6E8E"/>
                </a:solidFill>
                <a:latin typeface="Courier New" pitchFamily="34" charset="0"/>
                <a:ea typeface="Courier New" pitchFamily="34" charset="-122"/>
                <a:cs typeface="Courier New" pitchFamily="34" charset="-120"/>
              </a:rPr>
              <a:t>mp_year / mp_month</a:t>
            </a:r>
            <a:endParaRPr lang="en-US" sz="1000" dirty="0"/>
          </a:p>
        </p:txBody>
      </p:sp>
      <p:sp>
        <p:nvSpPr>
          <p:cNvPr id="31" name="Text 29"/>
          <p:cNvSpPr/>
          <p:nvPr/>
        </p:nvSpPr>
        <p:spPr>
          <a:xfrm>
            <a:off x="6583680" y="3474720"/>
            <a:ext cx="2103120" cy="347472"/>
          </a:xfrm>
          <a:prstGeom prst="rect">
            <a:avLst/>
          </a:prstGeom>
          <a:noFill/>
          <a:ln/>
        </p:spPr>
        <p:txBody>
          <a:bodyPr wrap="square" lIns="0" tIns="0" rIns="0" bIns="0" rtlCol="0" anchor="ctr"/>
          <a:lstStyle/>
          <a:p>
            <a:pPr marL="0" indent="0">
              <a:buNone/>
            </a:pPr>
            <a:r>
              <a:rPr lang="en-US" sz="1000" dirty="0">
                <a:solidFill>
                  <a:srgbClr val="1C2A35"/>
                </a:solidFill>
                <a:latin typeface="Calibri" pitchFamily="34" charset="0"/>
                <a:ea typeface="Calibri" pitchFamily="34" charset="-122"/>
                <a:cs typeface="Calibri" pitchFamily="34" charset="-120"/>
              </a:rPr>
              <a:t>Time period</a:t>
            </a:r>
            <a:endParaRPr lang="en-US" sz="1000" dirty="0"/>
          </a:p>
        </p:txBody>
      </p:sp>
      <p:sp>
        <p:nvSpPr>
          <p:cNvPr id="32" name="Text 30"/>
          <p:cNvSpPr/>
          <p:nvPr/>
        </p:nvSpPr>
        <p:spPr>
          <a:xfrm>
            <a:off x="4526280" y="3886200"/>
            <a:ext cx="1920240" cy="347472"/>
          </a:xfrm>
          <a:prstGeom prst="rect">
            <a:avLst/>
          </a:prstGeom>
          <a:noFill/>
          <a:ln/>
        </p:spPr>
        <p:txBody>
          <a:bodyPr wrap="square" lIns="0" tIns="0" rIns="0" bIns="0" rtlCol="0" anchor="ctr"/>
          <a:lstStyle/>
          <a:p>
            <a:pPr marL="0" indent="0">
              <a:buNone/>
            </a:pPr>
            <a:r>
              <a:rPr lang="en-US" sz="1000" b="1" dirty="0">
                <a:solidFill>
                  <a:srgbClr val="1A6E8E"/>
                </a:solidFill>
                <a:latin typeface="Courier New" pitchFamily="34" charset="0"/>
                <a:ea typeface="Courier New" pitchFamily="34" charset="-122"/>
                <a:cs typeface="Courier New" pitchFamily="34" charset="-120"/>
              </a:rPr>
              <a:t>mp_price</a:t>
            </a:r>
            <a:endParaRPr lang="en-US" sz="1000" dirty="0"/>
          </a:p>
        </p:txBody>
      </p:sp>
      <p:sp>
        <p:nvSpPr>
          <p:cNvPr id="33" name="Text 31"/>
          <p:cNvSpPr/>
          <p:nvPr/>
        </p:nvSpPr>
        <p:spPr>
          <a:xfrm>
            <a:off x="6583680" y="3886200"/>
            <a:ext cx="2103120" cy="347472"/>
          </a:xfrm>
          <a:prstGeom prst="rect">
            <a:avLst/>
          </a:prstGeom>
          <a:noFill/>
          <a:ln/>
        </p:spPr>
        <p:txBody>
          <a:bodyPr wrap="square" lIns="0" tIns="0" rIns="0" bIns="0" rtlCol="0" anchor="ctr"/>
          <a:lstStyle/>
          <a:p>
            <a:pPr marL="0" indent="0">
              <a:buNone/>
            </a:pPr>
            <a:r>
              <a:rPr lang="en-US" sz="1000" dirty="0">
                <a:solidFill>
                  <a:srgbClr val="1C2A35"/>
                </a:solidFill>
                <a:latin typeface="Calibri" pitchFamily="34" charset="0"/>
                <a:ea typeface="Calibri" pitchFamily="34" charset="-122"/>
                <a:cs typeface="Calibri" pitchFamily="34" charset="-120"/>
              </a:rPr>
              <a:t>Price in local currency</a:t>
            </a:r>
            <a:endParaRPr lang="en-US" sz="1000" dirty="0"/>
          </a:p>
        </p:txBody>
      </p:sp>
      <p:sp>
        <p:nvSpPr>
          <p:cNvPr id="34" name="Text 32"/>
          <p:cNvSpPr/>
          <p:nvPr/>
        </p:nvSpPr>
        <p:spPr>
          <a:xfrm>
            <a:off x="4526280" y="4297680"/>
            <a:ext cx="1920240" cy="347472"/>
          </a:xfrm>
          <a:prstGeom prst="rect">
            <a:avLst/>
          </a:prstGeom>
          <a:noFill/>
          <a:ln/>
        </p:spPr>
        <p:txBody>
          <a:bodyPr wrap="square" lIns="0" tIns="0" rIns="0" bIns="0" rtlCol="0" anchor="ctr"/>
          <a:lstStyle/>
          <a:p>
            <a:pPr marL="0" indent="0">
              <a:buNone/>
            </a:pPr>
            <a:r>
              <a:rPr lang="en-US" sz="1000" b="1" dirty="0">
                <a:solidFill>
                  <a:srgbClr val="1A6E8E"/>
                </a:solidFill>
                <a:latin typeface="Courier New" pitchFamily="34" charset="0"/>
                <a:ea typeface="Courier New" pitchFamily="34" charset="-122"/>
                <a:cs typeface="Courier New" pitchFamily="34" charset="-120"/>
              </a:rPr>
              <a:t>pt_name</a:t>
            </a:r>
            <a:endParaRPr lang="en-US" sz="1000" dirty="0"/>
          </a:p>
        </p:txBody>
      </p:sp>
      <p:sp>
        <p:nvSpPr>
          <p:cNvPr id="35" name="Text 33"/>
          <p:cNvSpPr/>
          <p:nvPr/>
        </p:nvSpPr>
        <p:spPr>
          <a:xfrm>
            <a:off x="6583680" y="4297680"/>
            <a:ext cx="2103120" cy="347472"/>
          </a:xfrm>
          <a:prstGeom prst="rect">
            <a:avLst/>
          </a:prstGeom>
          <a:noFill/>
          <a:ln/>
        </p:spPr>
        <p:txBody>
          <a:bodyPr wrap="square" lIns="0" tIns="0" rIns="0" bIns="0" rtlCol="0" anchor="ctr"/>
          <a:lstStyle/>
          <a:p>
            <a:pPr marL="0" indent="0">
              <a:buNone/>
            </a:pPr>
            <a:r>
              <a:rPr lang="en-US" sz="1000" dirty="0">
                <a:solidFill>
                  <a:srgbClr val="1C2A35"/>
                </a:solidFill>
                <a:latin typeface="Calibri" pitchFamily="34" charset="0"/>
                <a:ea typeface="Calibri" pitchFamily="34" charset="-122"/>
                <a:cs typeface="Calibri" pitchFamily="34" charset="-120"/>
              </a:rPr>
              <a:t>Market type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buNone/>
            </a:pPr>
            <a:r>
              <a:rPr lang="en-US" sz="3000" b="1" dirty="0">
                <a:solidFill>
                  <a:srgbClr val="0A3D62"/>
                </a:solidFill>
                <a:latin typeface="Calibri" pitchFamily="34" charset="0"/>
                <a:ea typeface="Calibri" pitchFamily="34" charset="-122"/>
                <a:cs typeface="Calibri" pitchFamily="34" charset="-120"/>
              </a:rPr>
              <a:t>Analysis Pipeline</a:t>
            </a:r>
            <a:endParaRPr lang="en-US" sz="3000" dirty="0"/>
          </a:p>
        </p:txBody>
      </p:sp>
      <p:sp>
        <p:nvSpPr>
          <p:cNvPr id="3" name="Shape 1"/>
          <p:cNvSpPr/>
          <p:nvPr/>
        </p:nvSpPr>
        <p:spPr>
          <a:xfrm>
            <a:off x="566928" y="1051560"/>
            <a:ext cx="804672" cy="804672"/>
          </a:xfrm>
          <a:prstGeom prst="ellipse">
            <a:avLst/>
          </a:prstGeom>
          <a:solidFill>
            <a:srgbClr val="0E9AA7"/>
          </a:solidFill>
          <a:ln w="12700">
            <a:solidFill>
              <a:srgbClr val="0E9AA7"/>
            </a:solidFill>
            <a:prstDash val="solid"/>
          </a:ln>
        </p:spPr>
      </p:sp>
      <p:sp>
        <p:nvSpPr>
          <p:cNvPr id="4" name="Text 2"/>
          <p:cNvSpPr/>
          <p:nvPr/>
        </p:nvSpPr>
        <p:spPr>
          <a:xfrm>
            <a:off x="566928" y="1051560"/>
            <a:ext cx="804672" cy="80467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5" name="Text 3"/>
          <p:cNvSpPr/>
          <p:nvPr/>
        </p:nvSpPr>
        <p:spPr>
          <a:xfrm>
            <a:off x="566928" y="1993392"/>
            <a:ext cx="804672" cy="274320"/>
          </a:xfrm>
          <a:prstGeom prst="rect">
            <a:avLst/>
          </a:prstGeom>
          <a:noFill/>
          <a:ln/>
        </p:spPr>
        <p:txBody>
          <a:bodyPr wrap="square" lIns="0" tIns="0" rIns="0" bIns="0" rtlCol="0" anchor="ctr"/>
          <a:lstStyle/>
          <a:p>
            <a:pPr marL="0" indent="0" algn="ctr">
              <a:buNone/>
            </a:pPr>
            <a:r>
              <a:rPr lang="en-US" sz="1000" b="1" dirty="0">
                <a:solidFill>
                  <a:srgbClr val="1A6E8E"/>
                </a:solidFill>
                <a:latin typeface="Calibri" pitchFamily="34" charset="0"/>
                <a:ea typeface="Calibri" pitchFamily="34" charset="-122"/>
                <a:cs typeface="Calibri" pitchFamily="34" charset="-120"/>
              </a:rPr>
              <a:t>01</a:t>
            </a:r>
            <a:endParaRPr lang="en-US" sz="1000" dirty="0"/>
          </a:p>
        </p:txBody>
      </p:sp>
      <p:sp>
        <p:nvSpPr>
          <p:cNvPr id="6" name="Text 4"/>
          <p:cNvSpPr/>
          <p:nvPr/>
        </p:nvSpPr>
        <p:spPr>
          <a:xfrm>
            <a:off x="365760" y="2304288"/>
            <a:ext cx="1216152" cy="457200"/>
          </a:xfrm>
          <a:prstGeom prst="rect">
            <a:avLst/>
          </a:prstGeom>
          <a:noFill/>
          <a:ln/>
        </p:spPr>
        <p:txBody>
          <a:bodyPr wrap="square" lIns="0" tIns="0" rIns="0" bIns="0" rtlCol="0" anchor="ctr"/>
          <a:lstStyle/>
          <a:p>
            <a:pPr marL="0" indent="0" algn="ctr">
              <a:buNone/>
            </a:pPr>
            <a:r>
              <a:rPr lang="en-US" sz="950" dirty="0">
                <a:solidFill>
                  <a:srgbClr val="1C2A35"/>
                </a:solidFill>
                <a:latin typeface="Calibri" pitchFamily="34" charset="0"/>
                <a:ea typeface="Calibri" pitchFamily="34" charset="-122"/>
                <a:cs typeface="Calibri" pitchFamily="34" charset="-120"/>
              </a:rPr>
              <a:t>Load &amp; Explore</a:t>
            </a:r>
            <a:endParaRPr lang="en-US" sz="950" dirty="0"/>
          </a:p>
        </p:txBody>
      </p:sp>
      <p:sp>
        <p:nvSpPr>
          <p:cNvPr id="7" name="Shape 5"/>
          <p:cNvSpPr/>
          <p:nvPr/>
        </p:nvSpPr>
        <p:spPr>
          <a:xfrm>
            <a:off x="1389888" y="1453896"/>
            <a:ext cx="210312" cy="0"/>
          </a:xfrm>
          <a:prstGeom prst="line">
            <a:avLst/>
          </a:prstGeom>
          <a:noFill/>
          <a:ln w="19050">
            <a:solidFill>
              <a:srgbClr val="5B7A8C"/>
            </a:solidFill>
            <a:prstDash val="dash"/>
          </a:ln>
        </p:spPr>
      </p:sp>
      <p:sp>
        <p:nvSpPr>
          <p:cNvPr id="8" name="Shape 6"/>
          <p:cNvSpPr/>
          <p:nvPr/>
        </p:nvSpPr>
        <p:spPr>
          <a:xfrm>
            <a:off x="1783080" y="1051560"/>
            <a:ext cx="804672" cy="804672"/>
          </a:xfrm>
          <a:prstGeom prst="ellipse">
            <a:avLst/>
          </a:prstGeom>
          <a:solidFill>
            <a:srgbClr val="1A6E8E"/>
          </a:solidFill>
          <a:ln w="12700">
            <a:solidFill>
              <a:srgbClr val="1A6E8E"/>
            </a:solidFill>
            <a:prstDash val="solid"/>
          </a:ln>
        </p:spPr>
      </p:sp>
      <p:sp>
        <p:nvSpPr>
          <p:cNvPr id="9" name="Text 7"/>
          <p:cNvSpPr/>
          <p:nvPr/>
        </p:nvSpPr>
        <p:spPr>
          <a:xfrm>
            <a:off x="1783080" y="1051560"/>
            <a:ext cx="804672" cy="80467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0" name="Text 8"/>
          <p:cNvSpPr/>
          <p:nvPr/>
        </p:nvSpPr>
        <p:spPr>
          <a:xfrm>
            <a:off x="1783080" y="1993392"/>
            <a:ext cx="804672" cy="274320"/>
          </a:xfrm>
          <a:prstGeom prst="rect">
            <a:avLst/>
          </a:prstGeom>
          <a:noFill/>
          <a:ln/>
        </p:spPr>
        <p:txBody>
          <a:bodyPr wrap="square" lIns="0" tIns="0" rIns="0" bIns="0" rtlCol="0" anchor="ctr"/>
          <a:lstStyle/>
          <a:p>
            <a:pPr marL="0" indent="0" algn="ctr">
              <a:buNone/>
            </a:pPr>
            <a:r>
              <a:rPr lang="en-US" sz="1000" b="1" dirty="0">
                <a:solidFill>
                  <a:srgbClr val="1A6E8E"/>
                </a:solidFill>
                <a:latin typeface="Calibri" pitchFamily="34" charset="0"/>
                <a:ea typeface="Calibri" pitchFamily="34" charset="-122"/>
                <a:cs typeface="Calibri" pitchFamily="34" charset="-120"/>
              </a:rPr>
              <a:t>02</a:t>
            </a:r>
            <a:endParaRPr lang="en-US" sz="1000" dirty="0"/>
          </a:p>
        </p:txBody>
      </p:sp>
      <p:sp>
        <p:nvSpPr>
          <p:cNvPr id="11" name="Text 9"/>
          <p:cNvSpPr/>
          <p:nvPr/>
        </p:nvSpPr>
        <p:spPr>
          <a:xfrm>
            <a:off x="1581912" y="2304288"/>
            <a:ext cx="1216152" cy="457200"/>
          </a:xfrm>
          <a:prstGeom prst="rect">
            <a:avLst/>
          </a:prstGeom>
          <a:noFill/>
          <a:ln/>
        </p:spPr>
        <p:txBody>
          <a:bodyPr wrap="square" lIns="0" tIns="0" rIns="0" bIns="0" rtlCol="0" anchor="ctr"/>
          <a:lstStyle/>
          <a:p>
            <a:pPr marL="0" indent="0" algn="ctr">
              <a:buNone/>
            </a:pPr>
            <a:r>
              <a:rPr lang="en-US" sz="950" dirty="0">
                <a:solidFill>
                  <a:srgbClr val="1C2A35"/>
                </a:solidFill>
                <a:latin typeface="Calibri" pitchFamily="34" charset="0"/>
                <a:ea typeface="Calibri" pitchFamily="34" charset="-122"/>
                <a:cs typeface="Calibri" pitchFamily="34" charset="-120"/>
              </a:rPr>
              <a:t>Clean &amp; Filter</a:t>
            </a:r>
            <a:endParaRPr lang="en-US" sz="950" dirty="0"/>
          </a:p>
        </p:txBody>
      </p:sp>
      <p:sp>
        <p:nvSpPr>
          <p:cNvPr id="12" name="Shape 10"/>
          <p:cNvSpPr/>
          <p:nvPr/>
        </p:nvSpPr>
        <p:spPr>
          <a:xfrm>
            <a:off x="2606040" y="1453896"/>
            <a:ext cx="210312" cy="0"/>
          </a:xfrm>
          <a:prstGeom prst="line">
            <a:avLst/>
          </a:prstGeom>
          <a:noFill/>
          <a:ln w="19050">
            <a:solidFill>
              <a:srgbClr val="5B7A8C"/>
            </a:solidFill>
            <a:prstDash val="dash"/>
          </a:ln>
        </p:spPr>
      </p:sp>
      <p:sp>
        <p:nvSpPr>
          <p:cNvPr id="13" name="Shape 11"/>
          <p:cNvSpPr/>
          <p:nvPr/>
        </p:nvSpPr>
        <p:spPr>
          <a:xfrm>
            <a:off x="2999232" y="1051560"/>
            <a:ext cx="804672" cy="804672"/>
          </a:xfrm>
          <a:prstGeom prst="ellipse">
            <a:avLst/>
          </a:prstGeom>
          <a:solidFill>
            <a:srgbClr val="0A3D62"/>
          </a:solidFill>
          <a:ln w="12700">
            <a:solidFill>
              <a:srgbClr val="0A3D62"/>
            </a:solidFill>
            <a:prstDash val="solid"/>
          </a:ln>
        </p:spPr>
      </p:sp>
      <p:sp>
        <p:nvSpPr>
          <p:cNvPr id="14" name="Text 12"/>
          <p:cNvSpPr/>
          <p:nvPr/>
        </p:nvSpPr>
        <p:spPr>
          <a:xfrm>
            <a:off x="2999232" y="1051560"/>
            <a:ext cx="804672" cy="80467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5" name="Text 13"/>
          <p:cNvSpPr/>
          <p:nvPr/>
        </p:nvSpPr>
        <p:spPr>
          <a:xfrm>
            <a:off x="2999232" y="1993392"/>
            <a:ext cx="804672" cy="274320"/>
          </a:xfrm>
          <a:prstGeom prst="rect">
            <a:avLst/>
          </a:prstGeom>
          <a:noFill/>
          <a:ln/>
        </p:spPr>
        <p:txBody>
          <a:bodyPr wrap="square" lIns="0" tIns="0" rIns="0" bIns="0" rtlCol="0" anchor="ctr"/>
          <a:lstStyle/>
          <a:p>
            <a:pPr marL="0" indent="0" algn="ctr">
              <a:buNone/>
            </a:pPr>
            <a:r>
              <a:rPr lang="en-US" sz="1000" b="1" dirty="0">
                <a:solidFill>
                  <a:srgbClr val="1A6E8E"/>
                </a:solidFill>
                <a:latin typeface="Calibri" pitchFamily="34" charset="0"/>
                <a:ea typeface="Calibri" pitchFamily="34" charset="-122"/>
                <a:cs typeface="Calibri" pitchFamily="34" charset="-120"/>
              </a:rPr>
              <a:t>03</a:t>
            </a:r>
            <a:endParaRPr lang="en-US" sz="1000" dirty="0"/>
          </a:p>
        </p:txBody>
      </p:sp>
      <p:sp>
        <p:nvSpPr>
          <p:cNvPr id="16" name="Text 14"/>
          <p:cNvSpPr/>
          <p:nvPr/>
        </p:nvSpPr>
        <p:spPr>
          <a:xfrm>
            <a:off x="2798064" y="2304288"/>
            <a:ext cx="1216152" cy="457200"/>
          </a:xfrm>
          <a:prstGeom prst="rect">
            <a:avLst/>
          </a:prstGeom>
          <a:noFill/>
          <a:ln/>
        </p:spPr>
        <p:txBody>
          <a:bodyPr wrap="square" lIns="0" tIns="0" rIns="0" bIns="0" rtlCol="0" anchor="ctr"/>
          <a:lstStyle/>
          <a:p>
            <a:pPr marL="0" indent="0" algn="ctr">
              <a:buNone/>
            </a:pPr>
            <a:r>
              <a:rPr lang="en-US" sz="950" dirty="0">
                <a:solidFill>
                  <a:srgbClr val="1C2A35"/>
                </a:solidFill>
                <a:latin typeface="Calibri" pitchFamily="34" charset="0"/>
                <a:ea typeface="Calibri" pitchFamily="34" charset="-122"/>
                <a:cs typeface="Calibri" pitchFamily="34" charset="-120"/>
              </a:rPr>
              <a:t>Normalize Units</a:t>
            </a:r>
            <a:endParaRPr lang="en-US" sz="950" dirty="0"/>
          </a:p>
        </p:txBody>
      </p:sp>
      <p:sp>
        <p:nvSpPr>
          <p:cNvPr id="17" name="Shape 15"/>
          <p:cNvSpPr/>
          <p:nvPr/>
        </p:nvSpPr>
        <p:spPr>
          <a:xfrm>
            <a:off x="3822192" y="1453896"/>
            <a:ext cx="210312" cy="0"/>
          </a:xfrm>
          <a:prstGeom prst="line">
            <a:avLst/>
          </a:prstGeom>
          <a:noFill/>
          <a:ln w="19050">
            <a:solidFill>
              <a:srgbClr val="5B7A8C"/>
            </a:solidFill>
            <a:prstDash val="dash"/>
          </a:ln>
        </p:spPr>
      </p:sp>
      <p:sp>
        <p:nvSpPr>
          <p:cNvPr id="18" name="Shape 16"/>
          <p:cNvSpPr/>
          <p:nvPr/>
        </p:nvSpPr>
        <p:spPr>
          <a:xfrm>
            <a:off x="4215384" y="1051560"/>
            <a:ext cx="804672" cy="804672"/>
          </a:xfrm>
          <a:prstGeom prst="ellipse">
            <a:avLst/>
          </a:prstGeom>
          <a:solidFill>
            <a:srgbClr val="1A6E8E"/>
          </a:solidFill>
          <a:ln w="12700">
            <a:solidFill>
              <a:srgbClr val="1A6E8E"/>
            </a:solidFill>
            <a:prstDash val="solid"/>
          </a:ln>
        </p:spPr>
      </p:sp>
      <p:sp>
        <p:nvSpPr>
          <p:cNvPr id="19" name="Text 17"/>
          <p:cNvSpPr/>
          <p:nvPr/>
        </p:nvSpPr>
        <p:spPr>
          <a:xfrm>
            <a:off x="4215384" y="1051560"/>
            <a:ext cx="804672" cy="80467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0" name="Text 18"/>
          <p:cNvSpPr/>
          <p:nvPr/>
        </p:nvSpPr>
        <p:spPr>
          <a:xfrm>
            <a:off x="4215384" y="1993392"/>
            <a:ext cx="804672" cy="274320"/>
          </a:xfrm>
          <a:prstGeom prst="rect">
            <a:avLst/>
          </a:prstGeom>
          <a:noFill/>
          <a:ln/>
        </p:spPr>
        <p:txBody>
          <a:bodyPr wrap="square" lIns="0" tIns="0" rIns="0" bIns="0" rtlCol="0" anchor="ctr"/>
          <a:lstStyle/>
          <a:p>
            <a:pPr marL="0" indent="0" algn="ctr">
              <a:buNone/>
            </a:pPr>
            <a:r>
              <a:rPr lang="en-US" sz="1000" b="1" dirty="0">
                <a:solidFill>
                  <a:srgbClr val="1A6E8E"/>
                </a:solidFill>
                <a:latin typeface="Calibri" pitchFamily="34" charset="0"/>
                <a:ea typeface="Calibri" pitchFamily="34" charset="-122"/>
                <a:cs typeface="Calibri" pitchFamily="34" charset="-120"/>
              </a:rPr>
              <a:t>04</a:t>
            </a:r>
            <a:endParaRPr lang="en-US" sz="1000" dirty="0"/>
          </a:p>
        </p:txBody>
      </p:sp>
      <p:sp>
        <p:nvSpPr>
          <p:cNvPr id="21" name="Text 19"/>
          <p:cNvSpPr/>
          <p:nvPr/>
        </p:nvSpPr>
        <p:spPr>
          <a:xfrm>
            <a:off x="4014216" y="2304288"/>
            <a:ext cx="1216152" cy="457200"/>
          </a:xfrm>
          <a:prstGeom prst="rect">
            <a:avLst/>
          </a:prstGeom>
          <a:noFill/>
          <a:ln/>
        </p:spPr>
        <p:txBody>
          <a:bodyPr wrap="square" lIns="0" tIns="0" rIns="0" bIns="0" rtlCol="0" anchor="ctr"/>
          <a:lstStyle/>
          <a:p>
            <a:pPr marL="0" indent="0" algn="ctr">
              <a:buNone/>
            </a:pPr>
            <a:r>
              <a:rPr lang="en-US" sz="950" dirty="0">
                <a:solidFill>
                  <a:srgbClr val="1C2A35"/>
                </a:solidFill>
                <a:latin typeface="Calibri" pitchFamily="34" charset="0"/>
                <a:ea typeface="Calibri" pitchFamily="34" charset="-122"/>
                <a:cs typeface="Calibri" pitchFamily="34" charset="-120"/>
              </a:rPr>
              <a:t>Pivot &amp; Analyze</a:t>
            </a:r>
            <a:endParaRPr lang="en-US" sz="950" dirty="0"/>
          </a:p>
        </p:txBody>
      </p:sp>
      <p:sp>
        <p:nvSpPr>
          <p:cNvPr id="22" name="Shape 20"/>
          <p:cNvSpPr/>
          <p:nvPr/>
        </p:nvSpPr>
        <p:spPr>
          <a:xfrm>
            <a:off x="5038344" y="1453896"/>
            <a:ext cx="210312" cy="0"/>
          </a:xfrm>
          <a:prstGeom prst="line">
            <a:avLst/>
          </a:prstGeom>
          <a:noFill/>
          <a:ln w="19050">
            <a:solidFill>
              <a:srgbClr val="5B7A8C"/>
            </a:solidFill>
            <a:prstDash val="dash"/>
          </a:ln>
        </p:spPr>
      </p:sp>
      <p:sp>
        <p:nvSpPr>
          <p:cNvPr id="23" name="Shape 21"/>
          <p:cNvSpPr/>
          <p:nvPr/>
        </p:nvSpPr>
        <p:spPr>
          <a:xfrm>
            <a:off x="5431536" y="1051560"/>
            <a:ext cx="804672" cy="804672"/>
          </a:xfrm>
          <a:prstGeom prst="ellipse">
            <a:avLst/>
          </a:prstGeom>
          <a:solidFill>
            <a:srgbClr val="0E9AA7"/>
          </a:solidFill>
          <a:ln w="12700">
            <a:solidFill>
              <a:srgbClr val="0E9AA7"/>
            </a:solidFill>
            <a:prstDash val="solid"/>
          </a:ln>
        </p:spPr>
      </p:sp>
      <p:sp>
        <p:nvSpPr>
          <p:cNvPr id="24" name="Text 22"/>
          <p:cNvSpPr/>
          <p:nvPr/>
        </p:nvSpPr>
        <p:spPr>
          <a:xfrm>
            <a:off x="5431536" y="1051560"/>
            <a:ext cx="804672" cy="80467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5" name="Text 23"/>
          <p:cNvSpPr/>
          <p:nvPr/>
        </p:nvSpPr>
        <p:spPr>
          <a:xfrm>
            <a:off x="5431536" y="1993392"/>
            <a:ext cx="804672" cy="274320"/>
          </a:xfrm>
          <a:prstGeom prst="rect">
            <a:avLst/>
          </a:prstGeom>
          <a:noFill/>
          <a:ln/>
        </p:spPr>
        <p:txBody>
          <a:bodyPr wrap="square" lIns="0" tIns="0" rIns="0" bIns="0" rtlCol="0" anchor="ctr"/>
          <a:lstStyle/>
          <a:p>
            <a:pPr marL="0" indent="0" algn="ctr">
              <a:buNone/>
            </a:pPr>
            <a:r>
              <a:rPr lang="en-US" sz="1000" b="1" dirty="0">
                <a:solidFill>
                  <a:srgbClr val="1A6E8E"/>
                </a:solidFill>
                <a:latin typeface="Calibri" pitchFamily="34" charset="0"/>
                <a:ea typeface="Calibri" pitchFamily="34" charset="-122"/>
                <a:cs typeface="Calibri" pitchFamily="34" charset="-120"/>
              </a:rPr>
              <a:t>05</a:t>
            </a:r>
            <a:endParaRPr lang="en-US" sz="1000" dirty="0"/>
          </a:p>
        </p:txBody>
      </p:sp>
      <p:sp>
        <p:nvSpPr>
          <p:cNvPr id="26" name="Text 24"/>
          <p:cNvSpPr/>
          <p:nvPr/>
        </p:nvSpPr>
        <p:spPr>
          <a:xfrm>
            <a:off x="5230368" y="2304288"/>
            <a:ext cx="1216152" cy="457200"/>
          </a:xfrm>
          <a:prstGeom prst="rect">
            <a:avLst/>
          </a:prstGeom>
          <a:noFill/>
          <a:ln/>
        </p:spPr>
        <p:txBody>
          <a:bodyPr wrap="square" lIns="0" tIns="0" rIns="0" bIns="0" rtlCol="0" anchor="ctr"/>
          <a:lstStyle/>
          <a:p>
            <a:pPr marL="0" indent="0" algn="ctr">
              <a:buNone/>
            </a:pPr>
            <a:r>
              <a:rPr lang="en-US" sz="950" dirty="0">
                <a:solidFill>
                  <a:srgbClr val="1C2A35"/>
                </a:solidFill>
                <a:latin typeface="Calibri" pitchFamily="34" charset="0"/>
                <a:ea typeface="Calibri" pitchFamily="34" charset="-122"/>
                <a:cs typeface="Calibri" pitchFamily="34" charset="-120"/>
              </a:rPr>
              <a:t>Country Trends</a:t>
            </a:r>
            <a:endParaRPr lang="en-US" sz="950" dirty="0"/>
          </a:p>
        </p:txBody>
      </p:sp>
      <p:sp>
        <p:nvSpPr>
          <p:cNvPr id="27" name="Shape 25"/>
          <p:cNvSpPr/>
          <p:nvPr/>
        </p:nvSpPr>
        <p:spPr>
          <a:xfrm>
            <a:off x="6254496" y="1453896"/>
            <a:ext cx="210312" cy="0"/>
          </a:xfrm>
          <a:prstGeom prst="line">
            <a:avLst/>
          </a:prstGeom>
          <a:noFill/>
          <a:ln w="19050">
            <a:solidFill>
              <a:srgbClr val="5B7A8C"/>
            </a:solidFill>
            <a:prstDash val="dash"/>
          </a:ln>
        </p:spPr>
      </p:sp>
      <p:sp>
        <p:nvSpPr>
          <p:cNvPr id="28" name="Shape 26"/>
          <p:cNvSpPr/>
          <p:nvPr/>
        </p:nvSpPr>
        <p:spPr>
          <a:xfrm>
            <a:off x="6647688" y="1051560"/>
            <a:ext cx="804672" cy="804672"/>
          </a:xfrm>
          <a:prstGeom prst="ellipse">
            <a:avLst/>
          </a:prstGeom>
          <a:solidFill>
            <a:srgbClr val="0A3D62"/>
          </a:solidFill>
          <a:ln w="12700">
            <a:solidFill>
              <a:srgbClr val="0A3D62"/>
            </a:solidFill>
            <a:prstDash val="solid"/>
          </a:ln>
        </p:spPr>
      </p:sp>
      <p:sp>
        <p:nvSpPr>
          <p:cNvPr id="29" name="Text 27"/>
          <p:cNvSpPr/>
          <p:nvPr/>
        </p:nvSpPr>
        <p:spPr>
          <a:xfrm>
            <a:off x="6647688" y="1051560"/>
            <a:ext cx="804672" cy="80467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30" name="Text 28"/>
          <p:cNvSpPr/>
          <p:nvPr/>
        </p:nvSpPr>
        <p:spPr>
          <a:xfrm>
            <a:off x="6647688" y="1993392"/>
            <a:ext cx="804672" cy="274320"/>
          </a:xfrm>
          <a:prstGeom prst="rect">
            <a:avLst/>
          </a:prstGeom>
          <a:noFill/>
          <a:ln/>
        </p:spPr>
        <p:txBody>
          <a:bodyPr wrap="square" lIns="0" tIns="0" rIns="0" bIns="0" rtlCol="0" anchor="ctr"/>
          <a:lstStyle/>
          <a:p>
            <a:pPr marL="0" indent="0" algn="ctr">
              <a:buNone/>
            </a:pPr>
            <a:r>
              <a:rPr lang="en-US" sz="1000" b="1" dirty="0">
                <a:solidFill>
                  <a:srgbClr val="1A6E8E"/>
                </a:solidFill>
                <a:latin typeface="Calibri" pitchFamily="34" charset="0"/>
                <a:ea typeface="Calibri" pitchFamily="34" charset="-122"/>
                <a:cs typeface="Calibri" pitchFamily="34" charset="-120"/>
              </a:rPr>
              <a:t>06</a:t>
            </a:r>
            <a:endParaRPr lang="en-US" sz="1000" dirty="0"/>
          </a:p>
        </p:txBody>
      </p:sp>
      <p:sp>
        <p:nvSpPr>
          <p:cNvPr id="31" name="Text 29"/>
          <p:cNvSpPr/>
          <p:nvPr/>
        </p:nvSpPr>
        <p:spPr>
          <a:xfrm>
            <a:off x="6446520" y="2304288"/>
            <a:ext cx="1216152" cy="457200"/>
          </a:xfrm>
          <a:prstGeom prst="rect">
            <a:avLst/>
          </a:prstGeom>
          <a:noFill/>
          <a:ln/>
        </p:spPr>
        <p:txBody>
          <a:bodyPr wrap="square" lIns="0" tIns="0" rIns="0" bIns="0" rtlCol="0" anchor="ctr"/>
          <a:lstStyle/>
          <a:p>
            <a:pPr marL="0" indent="0" algn="ctr">
              <a:buNone/>
            </a:pPr>
            <a:r>
              <a:rPr lang="en-US" sz="950" dirty="0">
                <a:solidFill>
                  <a:srgbClr val="1C2A35"/>
                </a:solidFill>
                <a:latin typeface="Calibri" pitchFamily="34" charset="0"/>
                <a:ea typeface="Calibri" pitchFamily="34" charset="-122"/>
                <a:cs typeface="Calibri" pitchFamily="34" charset="-120"/>
              </a:rPr>
              <a:t>USD Normalize</a:t>
            </a:r>
            <a:endParaRPr lang="en-US" sz="950" dirty="0"/>
          </a:p>
        </p:txBody>
      </p:sp>
      <p:sp>
        <p:nvSpPr>
          <p:cNvPr id="32" name="Shape 30"/>
          <p:cNvSpPr/>
          <p:nvPr/>
        </p:nvSpPr>
        <p:spPr>
          <a:xfrm>
            <a:off x="7470648" y="1453896"/>
            <a:ext cx="210312" cy="0"/>
          </a:xfrm>
          <a:prstGeom prst="line">
            <a:avLst/>
          </a:prstGeom>
          <a:noFill/>
          <a:ln w="19050">
            <a:solidFill>
              <a:srgbClr val="5B7A8C"/>
            </a:solidFill>
            <a:prstDash val="dash"/>
          </a:ln>
        </p:spPr>
      </p:sp>
      <p:sp>
        <p:nvSpPr>
          <p:cNvPr id="33" name="Shape 31"/>
          <p:cNvSpPr/>
          <p:nvPr/>
        </p:nvSpPr>
        <p:spPr>
          <a:xfrm>
            <a:off x="7863840" y="1051560"/>
            <a:ext cx="804672" cy="804672"/>
          </a:xfrm>
          <a:prstGeom prst="ellipse">
            <a:avLst/>
          </a:prstGeom>
          <a:solidFill>
            <a:srgbClr val="1A6E8E"/>
          </a:solidFill>
          <a:ln w="12700">
            <a:solidFill>
              <a:srgbClr val="1A6E8E"/>
            </a:solidFill>
            <a:prstDash val="solid"/>
          </a:ln>
        </p:spPr>
      </p:sp>
      <p:sp>
        <p:nvSpPr>
          <p:cNvPr id="34" name="Text 32"/>
          <p:cNvSpPr/>
          <p:nvPr/>
        </p:nvSpPr>
        <p:spPr>
          <a:xfrm>
            <a:off x="7863840" y="1051560"/>
            <a:ext cx="804672" cy="80467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35" name="Text 33"/>
          <p:cNvSpPr/>
          <p:nvPr/>
        </p:nvSpPr>
        <p:spPr>
          <a:xfrm>
            <a:off x="7863840" y="1993392"/>
            <a:ext cx="804672" cy="274320"/>
          </a:xfrm>
          <a:prstGeom prst="rect">
            <a:avLst/>
          </a:prstGeom>
          <a:noFill/>
          <a:ln/>
        </p:spPr>
        <p:txBody>
          <a:bodyPr wrap="square" lIns="0" tIns="0" rIns="0" bIns="0" rtlCol="0" anchor="ctr"/>
          <a:lstStyle/>
          <a:p>
            <a:pPr marL="0" indent="0" algn="ctr">
              <a:buNone/>
            </a:pPr>
            <a:r>
              <a:rPr lang="en-US" sz="1000" b="1" dirty="0">
                <a:solidFill>
                  <a:srgbClr val="1A6E8E"/>
                </a:solidFill>
                <a:latin typeface="Calibri" pitchFamily="34" charset="0"/>
                <a:ea typeface="Calibri" pitchFamily="34" charset="-122"/>
                <a:cs typeface="Calibri" pitchFamily="34" charset="-120"/>
              </a:rPr>
              <a:t>07</a:t>
            </a:r>
            <a:endParaRPr lang="en-US" sz="1000" dirty="0"/>
          </a:p>
        </p:txBody>
      </p:sp>
      <p:sp>
        <p:nvSpPr>
          <p:cNvPr id="36" name="Text 34"/>
          <p:cNvSpPr/>
          <p:nvPr/>
        </p:nvSpPr>
        <p:spPr>
          <a:xfrm>
            <a:off x="7662672" y="2304288"/>
            <a:ext cx="1216152" cy="457200"/>
          </a:xfrm>
          <a:prstGeom prst="rect">
            <a:avLst/>
          </a:prstGeom>
          <a:noFill/>
          <a:ln/>
        </p:spPr>
        <p:txBody>
          <a:bodyPr wrap="square" lIns="0" tIns="0" rIns="0" bIns="0" rtlCol="0" anchor="ctr"/>
          <a:lstStyle/>
          <a:p>
            <a:pPr marL="0" indent="0" algn="ctr">
              <a:buNone/>
            </a:pPr>
            <a:r>
              <a:rPr lang="en-US" sz="950" dirty="0">
                <a:solidFill>
                  <a:srgbClr val="1C2A35"/>
                </a:solidFill>
                <a:latin typeface="Calibri" pitchFamily="34" charset="0"/>
                <a:ea typeface="Calibri" pitchFamily="34" charset="-122"/>
                <a:cs typeface="Calibri" pitchFamily="34" charset="-120"/>
              </a:rPr>
              <a:t>Forecast</a:t>
            </a:r>
            <a:endParaRPr lang="en-US" sz="950" dirty="0"/>
          </a:p>
        </p:txBody>
      </p:sp>
      <p:sp>
        <p:nvSpPr>
          <p:cNvPr id="37" name="Shape 35"/>
          <p:cNvSpPr/>
          <p:nvPr/>
        </p:nvSpPr>
        <p:spPr>
          <a:xfrm>
            <a:off x="365760" y="2880360"/>
            <a:ext cx="1143000" cy="1965960"/>
          </a:xfrm>
          <a:prstGeom prst="roundRect">
            <a:avLst>
              <a:gd name="adj" fmla="val 6400"/>
            </a:avLst>
          </a:prstGeom>
          <a:solidFill>
            <a:srgbClr val="F4F9FC"/>
          </a:solidFill>
          <a:ln/>
          <a:effectLst>
            <a:outerShdw blurRad="101600" dist="25400" dir="2700000" algn="bl" rotWithShape="0">
              <a:srgbClr val="000000">
                <a:alpha val="10000"/>
              </a:srgbClr>
            </a:outerShdw>
          </a:effectLst>
        </p:spPr>
      </p:sp>
      <p:sp>
        <p:nvSpPr>
          <p:cNvPr id="38" name="Text 36"/>
          <p:cNvSpPr/>
          <p:nvPr/>
        </p:nvSpPr>
        <p:spPr>
          <a:xfrm>
            <a:off x="420624" y="2944368"/>
            <a:ext cx="1051560" cy="256032"/>
          </a:xfrm>
          <a:prstGeom prst="rect">
            <a:avLst/>
          </a:prstGeom>
          <a:noFill/>
          <a:ln/>
        </p:spPr>
        <p:txBody>
          <a:bodyPr wrap="square" lIns="0" tIns="0" rIns="0" bIns="0" rtlCol="0" anchor="ctr"/>
          <a:lstStyle/>
          <a:p>
            <a:pPr marL="0" indent="0">
              <a:buNone/>
            </a:pPr>
            <a:r>
              <a:rPr lang="en-US" sz="800" b="1" dirty="0">
                <a:solidFill>
                  <a:srgbClr val="1A6E8E"/>
                </a:solidFill>
                <a:latin typeface="Calibri" pitchFamily="34" charset="0"/>
                <a:ea typeface="Calibri" pitchFamily="34" charset="-122"/>
                <a:cs typeface="Calibri" pitchFamily="34" charset="-120"/>
              </a:rPr>
              <a:t>Steps 1–4</a:t>
            </a:r>
            <a:endParaRPr lang="en-US" sz="800" dirty="0"/>
          </a:p>
        </p:txBody>
      </p:sp>
      <p:sp>
        <p:nvSpPr>
          <p:cNvPr id="39" name="Text 37"/>
          <p:cNvSpPr/>
          <p:nvPr/>
        </p:nvSpPr>
        <p:spPr>
          <a:xfrm>
            <a:off x="411480" y="3218688"/>
            <a:ext cx="1078992" cy="1508760"/>
          </a:xfrm>
          <a:prstGeom prst="rect">
            <a:avLst/>
          </a:prstGeom>
          <a:noFill/>
          <a:ln/>
        </p:spPr>
        <p:txBody>
          <a:bodyPr wrap="square" rtlCol="0" anchor="ctr"/>
          <a:lstStyle/>
          <a:p>
            <a:pPr marL="0" indent="0">
              <a:buNone/>
            </a:pPr>
            <a:r>
              <a:rPr lang="en-US" sz="750" dirty="0">
                <a:solidFill>
                  <a:srgbClr val="1C2A35"/>
                </a:solidFill>
                <a:latin typeface="Calibri" pitchFamily="34" charset="0"/>
                <a:ea typeface="Calibri" pitchFamily="34" charset="-122"/>
                <a:cs typeface="Calibri" pitchFamily="34" charset="-120"/>
              </a:rPr>
              <a:t>Load Excel data, check nulls, explore dtypes, select 9 key columns, summarize distribution.</a:t>
            </a:r>
            <a:endParaRPr lang="en-US" sz="750" dirty="0"/>
          </a:p>
        </p:txBody>
      </p:sp>
      <p:sp>
        <p:nvSpPr>
          <p:cNvPr id="40" name="Shape 38"/>
          <p:cNvSpPr/>
          <p:nvPr/>
        </p:nvSpPr>
        <p:spPr>
          <a:xfrm>
            <a:off x="1581912" y="2880360"/>
            <a:ext cx="1143000" cy="1965960"/>
          </a:xfrm>
          <a:prstGeom prst="roundRect">
            <a:avLst>
              <a:gd name="adj" fmla="val 6400"/>
            </a:avLst>
          </a:prstGeom>
          <a:solidFill>
            <a:srgbClr val="F4F9FC"/>
          </a:solidFill>
          <a:ln/>
          <a:effectLst>
            <a:outerShdw blurRad="101600" dist="25400" dir="2700000" algn="bl" rotWithShape="0">
              <a:srgbClr val="000000">
                <a:alpha val="10000"/>
              </a:srgbClr>
            </a:outerShdw>
          </a:effectLst>
        </p:spPr>
      </p:sp>
      <p:sp>
        <p:nvSpPr>
          <p:cNvPr id="41" name="Text 39"/>
          <p:cNvSpPr/>
          <p:nvPr/>
        </p:nvSpPr>
        <p:spPr>
          <a:xfrm>
            <a:off x="1636776" y="2944368"/>
            <a:ext cx="1051560" cy="256032"/>
          </a:xfrm>
          <a:prstGeom prst="rect">
            <a:avLst/>
          </a:prstGeom>
          <a:noFill/>
          <a:ln/>
        </p:spPr>
        <p:txBody>
          <a:bodyPr wrap="square" lIns="0" tIns="0" rIns="0" bIns="0" rtlCol="0" anchor="ctr"/>
          <a:lstStyle/>
          <a:p>
            <a:pPr marL="0" indent="0">
              <a:buNone/>
            </a:pPr>
            <a:r>
              <a:rPr lang="en-US" sz="800" b="1" dirty="0">
                <a:solidFill>
                  <a:srgbClr val="1A6E8E"/>
                </a:solidFill>
                <a:latin typeface="Calibri" pitchFamily="34" charset="0"/>
                <a:ea typeface="Calibri" pitchFamily="34" charset="-122"/>
                <a:cs typeface="Calibri" pitchFamily="34" charset="-120"/>
              </a:rPr>
              <a:t>Steps 5–7</a:t>
            </a:r>
            <a:endParaRPr lang="en-US" sz="800" dirty="0"/>
          </a:p>
        </p:txBody>
      </p:sp>
      <p:sp>
        <p:nvSpPr>
          <p:cNvPr id="42" name="Text 40"/>
          <p:cNvSpPr/>
          <p:nvPr/>
        </p:nvSpPr>
        <p:spPr>
          <a:xfrm>
            <a:off x="1627632" y="3218688"/>
            <a:ext cx="1078992" cy="1508760"/>
          </a:xfrm>
          <a:prstGeom prst="rect">
            <a:avLst/>
          </a:prstGeom>
          <a:noFill/>
          <a:ln/>
        </p:spPr>
        <p:txBody>
          <a:bodyPr wrap="square" rtlCol="0" anchor="ctr"/>
          <a:lstStyle/>
          <a:p>
            <a:pPr marL="0" indent="0">
              <a:buNone/>
            </a:pPr>
            <a:r>
              <a:rPr lang="en-US" sz="750" dirty="0">
                <a:solidFill>
                  <a:srgbClr val="1C2A35"/>
                </a:solidFill>
                <a:latin typeface="Calibri" pitchFamily="34" charset="0"/>
                <a:ea typeface="Calibri" pitchFamily="34" charset="-122"/>
                <a:cs typeface="Calibri" pitchFamily="34" charset="-120"/>
              </a:rPr>
              <a:t>Filter to 6 core commodities, clean commodity names, cross-tabulate currencies &amp; units.</a:t>
            </a:r>
            <a:endParaRPr lang="en-US" sz="750" dirty="0"/>
          </a:p>
        </p:txBody>
      </p:sp>
      <p:sp>
        <p:nvSpPr>
          <p:cNvPr id="43" name="Shape 41"/>
          <p:cNvSpPr/>
          <p:nvPr/>
        </p:nvSpPr>
        <p:spPr>
          <a:xfrm>
            <a:off x="2798064" y="2880360"/>
            <a:ext cx="1143000" cy="1965960"/>
          </a:xfrm>
          <a:prstGeom prst="roundRect">
            <a:avLst>
              <a:gd name="adj" fmla="val 6400"/>
            </a:avLst>
          </a:prstGeom>
          <a:solidFill>
            <a:srgbClr val="F4F9FC"/>
          </a:solidFill>
          <a:ln/>
          <a:effectLst>
            <a:outerShdw blurRad="101600" dist="25400" dir="2700000" algn="bl" rotWithShape="0">
              <a:srgbClr val="000000">
                <a:alpha val="10000"/>
              </a:srgbClr>
            </a:outerShdw>
          </a:effectLst>
        </p:spPr>
      </p:sp>
      <p:sp>
        <p:nvSpPr>
          <p:cNvPr id="44" name="Text 42"/>
          <p:cNvSpPr/>
          <p:nvPr/>
        </p:nvSpPr>
        <p:spPr>
          <a:xfrm>
            <a:off x="2852928" y="2944368"/>
            <a:ext cx="1051560" cy="256032"/>
          </a:xfrm>
          <a:prstGeom prst="rect">
            <a:avLst/>
          </a:prstGeom>
          <a:noFill/>
          <a:ln/>
        </p:spPr>
        <p:txBody>
          <a:bodyPr wrap="square" lIns="0" tIns="0" rIns="0" bIns="0" rtlCol="0" anchor="ctr"/>
          <a:lstStyle/>
          <a:p>
            <a:pPr marL="0" indent="0">
              <a:buNone/>
            </a:pPr>
            <a:r>
              <a:rPr lang="en-US" sz="800" b="1" dirty="0">
                <a:solidFill>
                  <a:srgbClr val="1A6E8E"/>
                </a:solidFill>
                <a:latin typeface="Calibri" pitchFamily="34" charset="0"/>
                <a:ea typeface="Calibri" pitchFamily="34" charset="-122"/>
                <a:cs typeface="Calibri" pitchFamily="34" charset="-120"/>
              </a:rPr>
              <a:t>Steps 8–9</a:t>
            </a:r>
            <a:endParaRPr lang="en-US" sz="800" dirty="0"/>
          </a:p>
        </p:txBody>
      </p:sp>
      <p:sp>
        <p:nvSpPr>
          <p:cNvPr id="45" name="Text 43"/>
          <p:cNvSpPr/>
          <p:nvPr/>
        </p:nvSpPr>
        <p:spPr>
          <a:xfrm>
            <a:off x="2843784" y="3218688"/>
            <a:ext cx="1078992" cy="1508760"/>
          </a:xfrm>
          <a:prstGeom prst="rect">
            <a:avLst/>
          </a:prstGeom>
          <a:noFill/>
          <a:ln/>
        </p:spPr>
        <p:txBody>
          <a:bodyPr wrap="square" rtlCol="0" anchor="ctr"/>
          <a:lstStyle/>
          <a:p>
            <a:pPr marL="0" indent="0">
              <a:buNone/>
            </a:pPr>
            <a:r>
              <a:rPr lang="en-US" sz="750" dirty="0">
                <a:solidFill>
                  <a:srgbClr val="1C2A35"/>
                </a:solidFill>
                <a:latin typeface="Calibri" pitchFamily="34" charset="0"/>
                <a:ea typeface="Calibri" pitchFamily="34" charset="-122"/>
                <a:cs typeface="Calibri" pitchFamily="34" charset="-120"/>
              </a:rPr>
              <a:t>Map 50+ measurement units to KG-equivalents. Compute price per KG. Build pivot table (country × year × month × market × commodity).</a:t>
            </a:r>
            <a:endParaRPr lang="en-US" sz="750" dirty="0"/>
          </a:p>
        </p:txBody>
      </p:sp>
      <p:sp>
        <p:nvSpPr>
          <p:cNvPr id="46" name="Shape 44"/>
          <p:cNvSpPr/>
          <p:nvPr/>
        </p:nvSpPr>
        <p:spPr>
          <a:xfrm>
            <a:off x="4014216" y="2880360"/>
            <a:ext cx="1143000" cy="1965960"/>
          </a:xfrm>
          <a:prstGeom prst="roundRect">
            <a:avLst>
              <a:gd name="adj" fmla="val 6400"/>
            </a:avLst>
          </a:prstGeom>
          <a:solidFill>
            <a:srgbClr val="F4F9FC"/>
          </a:solidFill>
          <a:ln/>
          <a:effectLst>
            <a:outerShdw blurRad="101600" dist="25400" dir="2700000" algn="bl" rotWithShape="0">
              <a:srgbClr val="000000">
                <a:alpha val="10000"/>
              </a:srgbClr>
            </a:outerShdw>
          </a:effectLst>
        </p:spPr>
      </p:sp>
      <p:sp>
        <p:nvSpPr>
          <p:cNvPr id="47" name="Text 45"/>
          <p:cNvSpPr/>
          <p:nvPr/>
        </p:nvSpPr>
        <p:spPr>
          <a:xfrm>
            <a:off x="4069080" y="2944368"/>
            <a:ext cx="1051560" cy="256032"/>
          </a:xfrm>
          <a:prstGeom prst="rect">
            <a:avLst/>
          </a:prstGeom>
          <a:noFill/>
          <a:ln/>
        </p:spPr>
        <p:txBody>
          <a:bodyPr wrap="square" lIns="0" tIns="0" rIns="0" bIns="0" rtlCol="0" anchor="ctr"/>
          <a:lstStyle/>
          <a:p>
            <a:pPr marL="0" indent="0">
              <a:buNone/>
            </a:pPr>
            <a:r>
              <a:rPr lang="en-US" sz="800" b="1" dirty="0">
                <a:solidFill>
                  <a:srgbClr val="1A6E8E"/>
                </a:solidFill>
                <a:latin typeface="Calibri" pitchFamily="34" charset="0"/>
                <a:ea typeface="Calibri" pitchFamily="34" charset="-122"/>
                <a:cs typeface="Calibri" pitchFamily="34" charset="-120"/>
              </a:rPr>
              <a:t>Steps 10–13</a:t>
            </a:r>
            <a:endParaRPr lang="en-US" sz="800" dirty="0"/>
          </a:p>
        </p:txBody>
      </p:sp>
      <p:sp>
        <p:nvSpPr>
          <p:cNvPr id="48" name="Text 46"/>
          <p:cNvSpPr/>
          <p:nvPr/>
        </p:nvSpPr>
        <p:spPr>
          <a:xfrm>
            <a:off x="4059936" y="3218688"/>
            <a:ext cx="1078992" cy="1508760"/>
          </a:xfrm>
          <a:prstGeom prst="rect">
            <a:avLst/>
          </a:prstGeom>
          <a:noFill/>
          <a:ln/>
        </p:spPr>
        <p:txBody>
          <a:bodyPr wrap="square" rtlCol="0" anchor="ctr"/>
          <a:lstStyle/>
          <a:p>
            <a:pPr marL="0" indent="0">
              <a:buNone/>
            </a:pPr>
            <a:r>
              <a:rPr lang="en-US" sz="750" dirty="0">
                <a:solidFill>
                  <a:srgbClr val="1C2A35"/>
                </a:solidFill>
                <a:latin typeface="Calibri" pitchFamily="34" charset="0"/>
                <a:ea typeface="Calibri" pitchFamily="34" charset="-122"/>
                <a:cs typeface="Calibri" pitchFamily="34" charset="-120"/>
              </a:rPr>
              <a:t>Spearman correlation matrix, boxplots, and year-over-year trend lines for India, Mali, Ukraine, Niger.</a:t>
            </a:r>
            <a:endParaRPr lang="en-US" sz="750" dirty="0"/>
          </a:p>
        </p:txBody>
      </p:sp>
      <p:sp>
        <p:nvSpPr>
          <p:cNvPr id="49" name="Shape 47"/>
          <p:cNvSpPr/>
          <p:nvPr/>
        </p:nvSpPr>
        <p:spPr>
          <a:xfrm>
            <a:off x="5230368" y="2880360"/>
            <a:ext cx="1143000" cy="1965960"/>
          </a:xfrm>
          <a:prstGeom prst="roundRect">
            <a:avLst>
              <a:gd name="adj" fmla="val 6400"/>
            </a:avLst>
          </a:prstGeom>
          <a:solidFill>
            <a:srgbClr val="F4F9FC"/>
          </a:solidFill>
          <a:ln/>
          <a:effectLst>
            <a:outerShdw blurRad="101600" dist="25400" dir="2700000" algn="bl" rotWithShape="0">
              <a:srgbClr val="000000">
                <a:alpha val="10000"/>
              </a:srgbClr>
            </a:outerShdw>
          </a:effectLst>
        </p:spPr>
      </p:sp>
      <p:sp>
        <p:nvSpPr>
          <p:cNvPr id="50" name="Text 48"/>
          <p:cNvSpPr/>
          <p:nvPr/>
        </p:nvSpPr>
        <p:spPr>
          <a:xfrm>
            <a:off x="5285232" y="2944368"/>
            <a:ext cx="1051560" cy="256032"/>
          </a:xfrm>
          <a:prstGeom prst="rect">
            <a:avLst/>
          </a:prstGeom>
          <a:noFill/>
          <a:ln/>
        </p:spPr>
        <p:txBody>
          <a:bodyPr wrap="square" lIns="0" tIns="0" rIns="0" bIns="0" rtlCol="0" anchor="ctr"/>
          <a:lstStyle/>
          <a:p>
            <a:pPr marL="0" indent="0">
              <a:buNone/>
            </a:pPr>
            <a:r>
              <a:rPr lang="en-US" sz="800" b="1" dirty="0">
                <a:solidFill>
                  <a:srgbClr val="1A6E8E"/>
                </a:solidFill>
                <a:latin typeface="Calibri" pitchFamily="34" charset="0"/>
                <a:ea typeface="Calibri" pitchFamily="34" charset="-122"/>
                <a:cs typeface="Calibri" pitchFamily="34" charset="-120"/>
              </a:rPr>
              <a:t>Steps 14–15</a:t>
            </a:r>
            <a:endParaRPr lang="en-US" sz="800" dirty="0"/>
          </a:p>
        </p:txBody>
      </p:sp>
      <p:sp>
        <p:nvSpPr>
          <p:cNvPr id="51" name="Text 49"/>
          <p:cNvSpPr/>
          <p:nvPr/>
        </p:nvSpPr>
        <p:spPr>
          <a:xfrm>
            <a:off x="5276088" y="3218688"/>
            <a:ext cx="1078992" cy="1508760"/>
          </a:xfrm>
          <a:prstGeom prst="rect">
            <a:avLst/>
          </a:prstGeom>
          <a:noFill/>
          <a:ln/>
        </p:spPr>
        <p:txBody>
          <a:bodyPr wrap="square" rtlCol="0" anchor="ctr"/>
          <a:lstStyle/>
          <a:p>
            <a:pPr marL="0" indent="0">
              <a:buNone/>
            </a:pPr>
            <a:r>
              <a:rPr lang="en-US" sz="750" dirty="0">
                <a:solidFill>
                  <a:srgbClr val="1C2A35"/>
                </a:solidFill>
                <a:latin typeface="Calibri" pitchFamily="34" charset="0"/>
                <a:ea typeface="Calibri" pitchFamily="34" charset="-122"/>
                <a:cs typeface="Calibri" pitchFamily="34" charset="-120"/>
              </a:rPr>
              <a:t>Market-level rice price ranking. Identify top-5 most volatile markets per country.</a:t>
            </a:r>
            <a:endParaRPr lang="en-US" sz="750" dirty="0"/>
          </a:p>
        </p:txBody>
      </p:sp>
      <p:sp>
        <p:nvSpPr>
          <p:cNvPr id="52" name="Shape 50"/>
          <p:cNvSpPr/>
          <p:nvPr/>
        </p:nvSpPr>
        <p:spPr>
          <a:xfrm>
            <a:off x="6446520" y="2880360"/>
            <a:ext cx="1143000" cy="1965960"/>
          </a:xfrm>
          <a:prstGeom prst="roundRect">
            <a:avLst>
              <a:gd name="adj" fmla="val 6400"/>
            </a:avLst>
          </a:prstGeom>
          <a:solidFill>
            <a:srgbClr val="F4F9FC"/>
          </a:solidFill>
          <a:ln/>
          <a:effectLst>
            <a:outerShdw blurRad="101600" dist="25400" dir="2700000" algn="bl" rotWithShape="0">
              <a:srgbClr val="000000">
                <a:alpha val="10000"/>
              </a:srgbClr>
            </a:outerShdw>
          </a:effectLst>
        </p:spPr>
      </p:sp>
      <p:sp>
        <p:nvSpPr>
          <p:cNvPr id="53" name="Text 51"/>
          <p:cNvSpPr/>
          <p:nvPr/>
        </p:nvSpPr>
        <p:spPr>
          <a:xfrm>
            <a:off x="6501384" y="2944368"/>
            <a:ext cx="1051560" cy="256032"/>
          </a:xfrm>
          <a:prstGeom prst="rect">
            <a:avLst/>
          </a:prstGeom>
          <a:noFill/>
          <a:ln/>
        </p:spPr>
        <p:txBody>
          <a:bodyPr wrap="square" lIns="0" tIns="0" rIns="0" bIns="0" rtlCol="0" anchor="ctr"/>
          <a:lstStyle/>
          <a:p>
            <a:pPr marL="0" indent="0">
              <a:buNone/>
            </a:pPr>
            <a:r>
              <a:rPr lang="en-US" sz="800" b="1" dirty="0">
                <a:solidFill>
                  <a:srgbClr val="1A6E8E"/>
                </a:solidFill>
                <a:latin typeface="Calibri" pitchFamily="34" charset="0"/>
                <a:ea typeface="Calibri" pitchFamily="34" charset="-122"/>
                <a:cs typeface="Calibri" pitchFamily="34" charset="-120"/>
              </a:rPr>
              <a:t>Step 16</a:t>
            </a:r>
            <a:endParaRPr lang="en-US" sz="800" dirty="0"/>
          </a:p>
        </p:txBody>
      </p:sp>
      <p:sp>
        <p:nvSpPr>
          <p:cNvPr id="54" name="Text 52"/>
          <p:cNvSpPr/>
          <p:nvPr/>
        </p:nvSpPr>
        <p:spPr>
          <a:xfrm>
            <a:off x="6492240" y="3218688"/>
            <a:ext cx="1078992" cy="1508760"/>
          </a:xfrm>
          <a:prstGeom prst="rect">
            <a:avLst/>
          </a:prstGeom>
          <a:noFill/>
          <a:ln/>
        </p:spPr>
        <p:txBody>
          <a:bodyPr wrap="square" rtlCol="0" anchor="ctr"/>
          <a:lstStyle/>
          <a:p>
            <a:pPr marL="0" indent="0">
              <a:buNone/>
            </a:pPr>
            <a:r>
              <a:rPr lang="en-US" sz="750" dirty="0">
                <a:solidFill>
                  <a:srgbClr val="1C2A35"/>
                </a:solidFill>
                <a:latin typeface="Calibri" pitchFamily="34" charset="0"/>
                <a:ea typeface="Calibri" pitchFamily="34" charset="-122"/>
                <a:cs typeface="Calibri" pitchFamily="34" charset="-120"/>
              </a:rPr>
              <a:t>Convert local prices to USD using embedded exchange rate. Set USD-native countries to exchange rate = 1.</a:t>
            </a:r>
            <a:endParaRPr lang="en-US" sz="750" dirty="0"/>
          </a:p>
        </p:txBody>
      </p:sp>
      <p:sp>
        <p:nvSpPr>
          <p:cNvPr id="55" name="Shape 53"/>
          <p:cNvSpPr/>
          <p:nvPr/>
        </p:nvSpPr>
        <p:spPr>
          <a:xfrm>
            <a:off x="7662672" y="2880360"/>
            <a:ext cx="1143000" cy="1965960"/>
          </a:xfrm>
          <a:prstGeom prst="roundRect">
            <a:avLst>
              <a:gd name="adj" fmla="val 6400"/>
            </a:avLst>
          </a:prstGeom>
          <a:solidFill>
            <a:srgbClr val="F4F9FC"/>
          </a:solidFill>
          <a:ln/>
          <a:effectLst>
            <a:outerShdw blurRad="101600" dist="25400" dir="2700000" algn="bl" rotWithShape="0">
              <a:srgbClr val="000000">
                <a:alpha val="10000"/>
              </a:srgbClr>
            </a:outerShdw>
          </a:effectLst>
        </p:spPr>
      </p:sp>
      <p:sp>
        <p:nvSpPr>
          <p:cNvPr id="56" name="Text 54"/>
          <p:cNvSpPr/>
          <p:nvPr/>
        </p:nvSpPr>
        <p:spPr>
          <a:xfrm>
            <a:off x="7717536" y="2944368"/>
            <a:ext cx="1051560" cy="256032"/>
          </a:xfrm>
          <a:prstGeom prst="rect">
            <a:avLst/>
          </a:prstGeom>
          <a:noFill/>
          <a:ln/>
        </p:spPr>
        <p:txBody>
          <a:bodyPr wrap="square" lIns="0" tIns="0" rIns="0" bIns="0" rtlCol="0" anchor="ctr"/>
          <a:lstStyle/>
          <a:p>
            <a:pPr marL="0" indent="0">
              <a:buNone/>
            </a:pPr>
            <a:r>
              <a:rPr lang="en-US" sz="800" b="1" dirty="0">
                <a:solidFill>
                  <a:srgbClr val="1A6E8E"/>
                </a:solidFill>
                <a:latin typeface="Calibri" pitchFamily="34" charset="0"/>
                <a:ea typeface="Calibri" pitchFamily="34" charset="-122"/>
                <a:cs typeface="Calibri" pitchFamily="34" charset="-120"/>
              </a:rPr>
              <a:t>Step 17</a:t>
            </a:r>
            <a:endParaRPr lang="en-US" sz="800" dirty="0"/>
          </a:p>
        </p:txBody>
      </p:sp>
      <p:sp>
        <p:nvSpPr>
          <p:cNvPr id="57" name="Text 55"/>
          <p:cNvSpPr/>
          <p:nvPr/>
        </p:nvSpPr>
        <p:spPr>
          <a:xfrm>
            <a:off x="7708392" y="3218688"/>
            <a:ext cx="1078992" cy="1508760"/>
          </a:xfrm>
          <a:prstGeom prst="rect">
            <a:avLst/>
          </a:prstGeom>
          <a:noFill/>
          <a:ln/>
        </p:spPr>
        <p:txBody>
          <a:bodyPr wrap="square" rtlCol="0" anchor="ctr"/>
          <a:lstStyle/>
          <a:p>
            <a:pPr marL="0" indent="0">
              <a:buNone/>
            </a:pPr>
            <a:r>
              <a:rPr lang="en-US" sz="750" dirty="0">
                <a:solidFill>
                  <a:srgbClr val="1C2A35"/>
                </a:solidFill>
                <a:latin typeface="Calibri" pitchFamily="34" charset="0"/>
                <a:ea typeface="Calibri" pitchFamily="34" charset="-122"/>
                <a:cs typeface="Calibri" pitchFamily="34" charset="-120"/>
              </a:rPr>
              <a:t>Fit linear regression per country. Forecast rice price in USD through 2022–2024.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buNone/>
            </a:pPr>
            <a:r>
              <a:rPr lang="en-US" sz="3000" b="1" dirty="0">
                <a:solidFill>
                  <a:srgbClr val="0A3D62"/>
                </a:solidFill>
                <a:latin typeface="Calibri" pitchFamily="34" charset="0"/>
                <a:ea typeface="Calibri" pitchFamily="34" charset="-122"/>
                <a:cs typeface="Calibri" pitchFamily="34" charset="-120"/>
              </a:rPr>
              <a:t>Phase 1: Data Preparation</a:t>
            </a:r>
            <a:endParaRPr lang="en-US" sz="3000" dirty="0"/>
          </a:p>
        </p:txBody>
      </p:sp>
      <p:sp>
        <p:nvSpPr>
          <p:cNvPr id="3" name="Shape 1"/>
          <p:cNvSpPr/>
          <p:nvPr/>
        </p:nvSpPr>
        <p:spPr>
          <a:xfrm>
            <a:off x="365760" y="1005840"/>
            <a:ext cx="5303520" cy="868680"/>
          </a:xfrm>
          <a:prstGeom prst="roundRect">
            <a:avLst>
              <a:gd name="adj" fmla="val 8421"/>
            </a:avLst>
          </a:prstGeom>
          <a:solidFill>
            <a:srgbClr val="EAF4F8"/>
          </a:solidFill>
          <a:ln/>
          <a:effectLst>
            <a:outerShdw blurRad="101600" dist="25400" dir="2700000" algn="bl" rotWithShape="0">
              <a:srgbClr val="000000">
                <a:alpha val="10000"/>
              </a:srgbClr>
            </a:outerShdw>
          </a:effectLst>
        </p:spPr>
      </p:sp>
      <p:sp>
        <p:nvSpPr>
          <p:cNvPr id="4" name="Text 2"/>
          <p:cNvSpPr/>
          <p:nvPr/>
        </p:nvSpPr>
        <p:spPr>
          <a:xfrm>
            <a:off x="502920" y="1051560"/>
            <a:ext cx="5029200" cy="256032"/>
          </a:xfrm>
          <a:prstGeom prst="rect">
            <a:avLst/>
          </a:prstGeom>
          <a:noFill/>
          <a:ln/>
        </p:spPr>
        <p:txBody>
          <a:bodyPr wrap="square" lIns="0" tIns="0" rIns="0" bIns="0" rtlCol="0" anchor="ctr"/>
          <a:lstStyle/>
          <a:p>
            <a:pPr marL="0" indent="0">
              <a:buNone/>
            </a:pPr>
            <a:r>
              <a:rPr lang="en-US" sz="1200" b="1" dirty="0">
                <a:solidFill>
                  <a:srgbClr val="1A6E8E"/>
                </a:solidFill>
                <a:latin typeface="Calibri" pitchFamily="34" charset="0"/>
                <a:ea typeface="Calibri" pitchFamily="34" charset="-122"/>
                <a:cs typeface="Calibri" pitchFamily="34" charset="-120"/>
              </a:rPr>
              <a:t>1. Load Data</a:t>
            </a:r>
            <a:endParaRPr lang="en-US" sz="1200" dirty="0"/>
          </a:p>
        </p:txBody>
      </p:sp>
      <p:sp>
        <p:nvSpPr>
          <p:cNvPr id="5" name="Text 3"/>
          <p:cNvSpPr/>
          <p:nvPr/>
        </p:nvSpPr>
        <p:spPr>
          <a:xfrm>
            <a:off x="502920" y="1316736"/>
            <a:ext cx="5029200" cy="219456"/>
          </a:xfrm>
          <a:prstGeom prst="rect">
            <a:avLst/>
          </a:prstGeom>
          <a:noFill/>
          <a:ln/>
        </p:spPr>
        <p:txBody>
          <a:bodyPr wrap="square" lIns="0" tIns="0" rIns="0" bIns="0" rtlCol="0" anchor="ctr"/>
          <a:lstStyle/>
          <a:p>
            <a:pPr marL="0" indent="0">
              <a:buNone/>
            </a:pPr>
            <a:r>
              <a:rPr lang="en-US" sz="900" i="1" dirty="0">
                <a:solidFill>
                  <a:srgbClr val="0A3D62"/>
                </a:solidFill>
                <a:latin typeface="Courier New" pitchFamily="34" charset="0"/>
                <a:ea typeface="Courier New" pitchFamily="34" charset="-122"/>
                <a:cs typeface="Courier New" pitchFamily="34" charset="-120"/>
              </a:rPr>
              <a:t>df = pd.read_excel('wfp_market_food_prices.xlsx')</a:t>
            </a:r>
            <a:endParaRPr lang="en-US" sz="900" dirty="0"/>
          </a:p>
        </p:txBody>
      </p:sp>
      <p:sp>
        <p:nvSpPr>
          <p:cNvPr id="6" name="Text 4"/>
          <p:cNvSpPr/>
          <p:nvPr/>
        </p:nvSpPr>
        <p:spPr>
          <a:xfrm>
            <a:off x="502920" y="1536192"/>
            <a:ext cx="5029200" cy="256032"/>
          </a:xfrm>
          <a:prstGeom prst="rect">
            <a:avLst/>
          </a:prstGeom>
          <a:noFill/>
          <a:ln/>
        </p:spPr>
        <p:txBody>
          <a:bodyPr wrap="square" lIns="0" tIns="0" rIns="0" bIns="0" rtlCol="0" anchor="ctr"/>
          <a:lstStyle/>
          <a:p>
            <a:pPr marL="0" indent="0">
              <a:buNone/>
            </a:pPr>
            <a:r>
              <a:rPr lang="en-US" sz="1000" dirty="0">
                <a:solidFill>
                  <a:srgbClr val="5B7A8C"/>
                </a:solidFill>
                <a:latin typeface="Calibri" pitchFamily="34" charset="0"/>
                <a:ea typeface="Calibri" pitchFamily="34" charset="-122"/>
                <a:cs typeface="Calibri" pitchFamily="34" charset="-120"/>
              </a:rPr>
              <a:t>Read the WFP Excel file into a pandas DataFrame.</a:t>
            </a:r>
            <a:endParaRPr lang="en-US" sz="1000" dirty="0"/>
          </a:p>
        </p:txBody>
      </p:sp>
      <p:sp>
        <p:nvSpPr>
          <p:cNvPr id="7" name="Shape 5"/>
          <p:cNvSpPr/>
          <p:nvPr/>
        </p:nvSpPr>
        <p:spPr>
          <a:xfrm>
            <a:off x="365760" y="1993392"/>
            <a:ext cx="5303520" cy="868680"/>
          </a:xfrm>
          <a:prstGeom prst="roundRect">
            <a:avLst>
              <a:gd name="adj" fmla="val 8421"/>
            </a:avLst>
          </a:prstGeom>
          <a:solidFill>
            <a:srgbClr val="EAF4F8"/>
          </a:solidFill>
          <a:ln/>
          <a:effectLst>
            <a:outerShdw blurRad="101600" dist="25400" dir="2700000" algn="bl" rotWithShape="0">
              <a:srgbClr val="000000">
                <a:alpha val="10000"/>
              </a:srgbClr>
            </a:outerShdw>
          </a:effectLst>
        </p:spPr>
      </p:sp>
      <p:sp>
        <p:nvSpPr>
          <p:cNvPr id="8" name="Text 6"/>
          <p:cNvSpPr/>
          <p:nvPr/>
        </p:nvSpPr>
        <p:spPr>
          <a:xfrm>
            <a:off x="502920" y="2039112"/>
            <a:ext cx="5029200" cy="256032"/>
          </a:xfrm>
          <a:prstGeom prst="rect">
            <a:avLst/>
          </a:prstGeom>
          <a:noFill/>
          <a:ln/>
        </p:spPr>
        <p:txBody>
          <a:bodyPr wrap="square" lIns="0" tIns="0" rIns="0" bIns="0" rtlCol="0" anchor="ctr"/>
          <a:lstStyle/>
          <a:p>
            <a:pPr marL="0" indent="0">
              <a:buNone/>
            </a:pPr>
            <a:r>
              <a:rPr lang="en-US" sz="1200" b="1" dirty="0">
                <a:solidFill>
                  <a:srgbClr val="1A6E8E"/>
                </a:solidFill>
                <a:latin typeface="Calibri" pitchFamily="34" charset="0"/>
                <a:ea typeface="Calibri" pitchFamily="34" charset="-122"/>
                <a:cs typeface="Calibri" pitchFamily="34" charset="-120"/>
              </a:rPr>
              <a:t>2. Explore Structure</a:t>
            </a:r>
            <a:endParaRPr lang="en-US" sz="1200" dirty="0"/>
          </a:p>
        </p:txBody>
      </p:sp>
      <p:sp>
        <p:nvSpPr>
          <p:cNvPr id="9" name="Text 7"/>
          <p:cNvSpPr/>
          <p:nvPr/>
        </p:nvSpPr>
        <p:spPr>
          <a:xfrm>
            <a:off x="502920" y="2304288"/>
            <a:ext cx="5029200" cy="219456"/>
          </a:xfrm>
          <a:prstGeom prst="rect">
            <a:avLst/>
          </a:prstGeom>
          <a:noFill/>
          <a:ln/>
        </p:spPr>
        <p:txBody>
          <a:bodyPr wrap="square" lIns="0" tIns="0" rIns="0" bIns="0" rtlCol="0" anchor="ctr"/>
          <a:lstStyle/>
          <a:p>
            <a:pPr marL="0" indent="0">
              <a:buNone/>
            </a:pPr>
            <a:r>
              <a:rPr lang="en-US" sz="900" i="1" dirty="0">
                <a:solidFill>
                  <a:srgbClr val="0A3D62"/>
                </a:solidFill>
                <a:latin typeface="Courier New" pitchFamily="34" charset="0"/>
                <a:ea typeface="Courier New" pitchFamily="34" charset="-122"/>
                <a:cs typeface="Courier New" pitchFamily="34" charset="-120"/>
              </a:rPr>
              <a:t>df.head(3)  |  df.shape  |  df.dtypes</a:t>
            </a:r>
            <a:endParaRPr lang="en-US" sz="900" dirty="0"/>
          </a:p>
        </p:txBody>
      </p:sp>
      <p:sp>
        <p:nvSpPr>
          <p:cNvPr id="10" name="Text 8"/>
          <p:cNvSpPr/>
          <p:nvPr/>
        </p:nvSpPr>
        <p:spPr>
          <a:xfrm>
            <a:off x="502920" y="2523744"/>
            <a:ext cx="5029200" cy="256032"/>
          </a:xfrm>
          <a:prstGeom prst="rect">
            <a:avLst/>
          </a:prstGeom>
          <a:noFill/>
          <a:ln/>
        </p:spPr>
        <p:txBody>
          <a:bodyPr wrap="square" lIns="0" tIns="0" rIns="0" bIns="0" rtlCol="0" anchor="ctr"/>
          <a:lstStyle/>
          <a:p>
            <a:pPr marL="0" indent="0">
              <a:buNone/>
            </a:pPr>
            <a:r>
              <a:rPr lang="en-US" sz="1000" dirty="0">
                <a:solidFill>
                  <a:srgbClr val="5B7A8C"/>
                </a:solidFill>
                <a:latin typeface="Calibri" pitchFamily="34" charset="0"/>
                <a:ea typeface="Calibri" pitchFamily="34" charset="-122"/>
                <a:cs typeface="Calibri" pitchFamily="34" charset="-120"/>
              </a:rPr>
              <a:t>Inspect first rows, dimensions, and column data types.</a:t>
            </a:r>
            <a:endParaRPr lang="en-US" sz="1000" dirty="0"/>
          </a:p>
        </p:txBody>
      </p:sp>
      <p:sp>
        <p:nvSpPr>
          <p:cNvPr id="11" name="Shape 9"/>
          <p:cNvSpPr/>
          <p:nvPr/>
        </p:nvSpPr>
        <p:spPr>
          <a:xfrm>
            <a:off x="365760" y="2980944"/>
            <a:ext cx="5303520" cy="868680"/>
          </a:xfrm>
          <a:prstGeom prst="roundRect">
            <a:avLst>
              <a:gd name="adj" fmla="val 8421"/>
            </a:avLst>
          </a:prstGeom>
          <a:solidFill>
            <a:srgbClr val="EAF4F8"/>
          </a:solidFill>
          <a:ln/>
          <a:effectLst>
            <a:outerShdw blurRad="101600" dist="25400" dir="2700000" algn="bl" rotWithShape="0">
              <a:srgbClr val="000000">
                <a:alpha val="10000"/>
              </a:srgbClr>
            </a:outerShdw>
          </a:effectLst>
        </p:spPr>
      </p:sp>
      <p:sp>
        <p:nvSpPr>
          <p:cNvPr id="12" name="Text 10"/>
          <p:cNvSpPr/>
          <p:nvPr/>
        </p:nvSpPr>
        <p:spPr>
          <a:xfrm>
            <a:off x="502920" y="3026664"/>
            <a:ext cx="5029200" cy="256032"/>
          </a:xfrm>
          <a:prstGeom prst="rect">
            <a:avLst/>
          </a:prstGeom>
          <a:noFill/>
          <a:ln/>
        </p:spPr>
        <p:txBody>
          <a:bodyPr wrap="square" lIns="0" tIns="0" rIns="0" bIns="0" rtlCol="0" anchor="ctr"/>
          <a:lstStyle/>
          <a:p>
            <a:pPr marL="0" indent="0">
              <a:buNone/>
            </a:pPr>
            <a:r>
              <a:rPr lang="en-US" sz="1200" b="1" dirty="0">
                <a:solidFill>
                  <a:srgbClr val="1A6E8E"/>
                </a:solidFill>
                <a:latin typeface="Calibri" pitchFamily="34" charset="0"/>
                <a:ea typeface="Calibri" pitchFamily="34" charset="-122"/>
                <a:cs typeface="Calibri" pitchFamily="34" charset="-120"/>
              </a:rPr>
              <a:t>3. Missing Values</a:t>
            </a:r>
            <a:endParaRPr lang="en-US" sz="1200" dirty="0"/>
          </a:p>
        </p:txBody>
      </p:sp>
      <p:sp>
        <p:nvSpPr>
          <p:cNvPr id="13" name="Text 11"/>
          <p:cNvSpPr/>
          <p:nvPr/>
        </p:nvSpPr>
        <p:spPr>
          <a:xfrm>
            <a:off x="502920" y="3291840"/>
            <a:ext cx="5029200" cy="219456"/>
          </a:xfrm>
          <a:prstGeom prst="rect">
            <a:avLst/>
          </a:prstGeom>
          <a:noFill/>
          <a:ln/>
        </p:spPr>
        <p:txBody>
          <a:bodyPr wrap="square" lIns="0" tIns="0" rIns="0" bIns="0" rtlCol="0" anchor="ctr"/>
          <a:lstStyle/>
          <a:p>
            <a:pPr marL="0" indent="0">
              <a:buNone/>
            </a:pPr>
            <a:r>
              <a:rPr lang="en-US" sz="900" i="1" dirty="0">
                <a:solidFill>
                  <a:srgbClr val="0A3D62"/>
                </a:solidFill>
                <a:latin typeface="Courier New" pitchFamily="34" charset="0"/>
                <a:ea typeface="Courier New" pitchFamily="34" charset="-122"/>
                <a:cs typeface="Courier New" pitchFamily="34" charset="-120"/>
              </a:rPr>
              <a:t>df.isnull().sum()  →  drop adm1_name nulls</a:t>
            </a:r>
            <a:endParaRPr lang="en-US" sz="900" dirty="0"/>
          </a:p>
        </p:txBody>
      </p:sp>
      <p:sp>
        <p:nvSpPr>
          <p:cNvPr id="14" name="Text 12"/>
          <p:cNvSpPr/>
          <p:nvPr/>
        </p:nvSpPr>
        <p:spPr>
          <a:xfrm>
            <a:off x="502920" y="3511296"/>
            <a:ext cx="5029200" cy="256032"/>
          </a:xfrm>
          <a:prstGeom prst="rect">
            <a:avLst/>
          </a:prstGeom>
          <a:noFill/>
          <a:ln/>
        </p:spPr>
        <p:txBody>
          <a:bodyPr wrap="square" lIns="0" tIns="0" rIns="0" bIns="0" rtlCol="0" anchor="ctr"/>
          <a:lstStyle/>
          <a:p>
            <a:pPr marL="0" indent="0">
              <a:buNone/>
            </a:pPr>
            <a:r>
              <a:rPr lang="en-US" sz="1000" dirty="0">
                <a:solidFill>
                  <a:srgbClr val="5B7A8C"/>
                </a:solidFill>
                <a:latin typeface="Calibri" pitchFamily="34" charset="0"/>
                <a:ea typeface="Calibri" pitchFamily="34" charset="-122"/>
                <a:cs typeface="Calibri" pitchFamily="34" charset="-120"/>
              </a:rPr>
              <a:t>Only locality name has nulls — rows without a known sub-national location are dropped.</a:t>
            </a:r>
            <a:endParaRPr lang="en-US" sz="1000" dirty="0"/>
          </a:p>
        </p:txBody>
      </p:sp>
      <p:sp>
        <p:nvSpPr>
          <p:cNvPr id="15" name="Shape 13"/>
          <p:cNvSpPr/>
          <p:nvPr/>
        </p:nvSpPr>
        <p:spPr>
          <a:xfrm>
            <a:off x="365760" y="3968496"/>
            <a:ext cx="5303520" cy="868680"/>
          </a:xfrm>
          <a:prstGeom prst="roundRect">
            <a:avLst>
              <a:gd name="adj" fmla="val 8421"/>
            </a:avLst>
          </a:prstGeom>
          <a:solidFill>
            <a:srgbClr val="EAF4F8"/>
          </a:solidFill>
          <a:ln/>
          <a:effectLst>
            <a:outerShdw blurRad="101600" dist="25400" dir="2700000" algn="bl" rotWithShape="0">
              <a:srgbClr val="000000">
                <a:alpha val="10000"/>
              </a:srgbClr>
            </a:outerShdw>
          </a:effectLst>
        </p:spPr>
      </p:sp>
      <p:sp>
        <p:nvSpPr>
          <p:cNvPr id="16" name="Text 14"/>
          <p:cNvSpPr/>
          <p:nvPr/>
        </p:nvSpPr>
        <p:spPr>
          <a:xfrm>
            <a:off x="502920" y="4014216"/>
            <a:ext cx="5029200" cy="256032"/>
          </a:xfrm>
          <a:prstGeom prst="rect">
            <a:avLst/>
          </a:prstGeom>
          <a:noFill/>
          <a:ln/>
        </p:spPr>
        <p:txBody>
          <a:bodyPr wrap="square" lIns="0" tIns="0" rIns="0" bIns="0" rtlCol="0" anchor="ctr"/>
          <a:lstStyle/>
          <a:p>
            <a:pPr marL="0" indent="0">
              <a:buNone/>
            </a:pPr>
            <a:r>
              <a:rPr lang="en-US" sz="1200" b="1" dirty="0">
                <a:solidFill>
                  <a:srgbClr val="1A6E8E"/>
                </a:solidFill>
                <a:latin typeface="Calibri" pitchFamily="34" charset="0"/>
                <a:ea typeface="Calibri" pitchFamily="34" charset="-122"/>
                <a:cs typeface="Calibri" pitchFamily="34" charset="-120"/>
              </a:rPr>
              <a:t>4. Select Columns</a:t>
            </a:r>
            <a:endParaRPr lang="en-US" sz="1200" dirty="0"/>
          </a:p>
        </p:txBody>
      </p:sp>
      <p:sp>
        <p:nvSpPr>
          <p:cNvPr id="17" name="Text 15"/>
          <p:cNvSpPr/>
          <p:nvPr/>
        </p:nvSpPr>
        <p:spPr>
          <a:xfrm>
            <a:off x="502920" y="4279392"/>
            <a:ext cx="5029200" cy="219456"/>
          </a:xfrm>
          <a:prstGeom prst="rect">
            <a:avLst/>
          </a:prstGeom>
          <a:noFill/>
          <a:ln/>
        </p:spPr>
        <p:txBody>
          <a:bodyPr wrap="square" lIns="0" tIns="0" rIns="0" bIns="0" rtlCol="0" anchor="ctr"/>
          <a:lstStyle/>
          <a:p>
            <a:pPr marL="0" indent="0">
              <a:buNone/>
            </a:pPr>
            <a:r>
              <a:rPr lang="en-US" sz="900" i="1" dirty="0">
                <a:solidFill>
                  <a:srgbClr val="0A3D62"/>
                </a:solidFill>
                <a:latin typeface="Courier New" pitchFamily="34" charset="0"/>
                <a:ea typeface="Courier New" pitchFamily="34" charset="-122"/>
                <a:cs typeface="Courier New" pitchFamily="34" charset="-120"/>
              </a:rPr>
              <a:t>col = ['adm0_name','mkt_name','cm_name', ...]</a:t>
            </a:r>
            <a:endParaRPr lang="en-US" sz="900" dirty="0"/>
          </a:p>
        </p:txBody>
      </p:sp>
      <p:sp>
        <p:nvSpPr>
          <p:cNvPr id="18" name="Text 16"/>
          <p:cNvSpPr/>
          <p:nvPr/>
        </p:nvSpPr>
        <p:spPr>
          <a:xfrm>
            <a:off x="502920" y="4498848"/>
            <a:ext cx="5029200" cy="256032"/>
          </a:xfrm>
          <a:prstGeom prst="rect">
            <a:avLst/>
          </a:prstGeom>
          <a:noFill/>
          <a:ln/>
        </p:spPr>
        <p:txBody>
          <a:bodyPr wrap="square" lIns="0" tIns="0" rIns="0" bIns="0" rtlCol="0" anchor="ctr"/>
          <a:lstStyle/>
          <a:p>
            <a:pPr marL="0" indent="0">
              <a:buNone/>
            </a:pPr>
            <a:r>
              <a:rPr lang="en-US" sz="1000" dirty="0">
                <a:solidFill>
                  <a:srgbClr val="5B7A8C"/>
                </a:solidFill>
                <a:latin typeface="Calibri" pitchFamily="34" charset="0"/>
                <a:ea typeface="Calibri" pitchFamily="34" charset="-122"/>
                <a:cs typeface="Calibri" pitchFamily="34" charset="-120"/>
              </a:rPr>
              <a:t>Keep only 9 analytically relevant columns; discard ID and source columns.</a:t>
            </a:r>
            <a:endParaRPr lang="en-US" sz="1000" dirty="0"/>
          </a:p>
        </p:txBody>
      </p:sp>
      <p:sp>
        <p:nvSpPr>
          <p:cNvPr id="19" name="Shape 17"/>
          <p:cNvSpPr/>
          <p:nvPr/>
        </p:nvSpPr>
        <p:spPr>
          <a:xfrm>
            <a:off x="6035040" y="1005840"/>
            <a:ext cx="2743200" cy="4023360"/>
          </a:xfrm>
          <a:prstGeom prst="roundRect">
            <a:avLst>
              <a:gd name="adj" fmla="val 2667"/>
            </a:avLst>
          </a:prstGeom>
          <a:solidFill>
            <a:srgbClr val="EAF4F8"/>
          </a:solidFill>
          <a:ln/>
          <a:effectLst>
            <a:outerShdw blurRad="101600" dist="25400" dir="2700000" algn="bl" rotWithShape="0">
              <a:srgbClr val="000000">
                <a:alpha val="10000"/>
              </a:srgbClr>
            </a:outerShdw>
          </a:effectLst>
        </p:spPr>
      </p:sp>
      <p:sp>
        <p:nvSpPr>
          <p:cNvPr id="20" name="Text 18"/>
          <p:cNvSpPr/>
          <p:nvPr/>
        </p:nvSpPr>
        <p:spPr>
          <a:xfrm>
            <a:off x="6126480" y="1078992"/>
            <a:ext cx="2560320" cy="320040"/>
          </a:xfrm>
          <a:prstGeom prst="rect">
            <a:avLst/>
          </a:prstGeom>
          <a:noFill/>
          <a:ln/>
        </p:spPr>
        <p:txBody>
          <a:bodyPr wrap="square" lIns="0" tIns="0" rIns="0" bIns="0" rtlCol="0" anchor="ctr"/>
          <a:lstStyle/>
          <a:p>
            <a:pPr marL="0" indent="0">
              <a:buNone/>
            </a:pPr>
            <a:r>
              <a:rPr lang="en-US" sz="1300" b="1" dirty="0">
                <a:solidFill>
                  <a:srgbClr val="0A3D62"/>
                </a:solidFill>
                <a:latin typeface="Calibri" pitchFamily="34" charset="0"/>
                <a:ea typeface="Calibri" pitchFamily="34" charset="-122"/>
                <a:cs typeface="Calibri" pitchFamily="34" charset="-120"/>
              </a:rPr>
              <a:t>💡 Key Insight</a:t>
            </a:r>
            <a:endParaRPr lang="en-US" sz="1300" dirty="0"/>
          </a:p>
        </p:txBody>
      </p:sp>
      <p:sp>
        <p:nvSpPr>
          <p:cNvPr id="21" name="Text 19"/>
          <p:cNvSpPr/>
          <p:nvPr/>
        </p:nvSpPr>
        <p:spPr>
          <a:xfrm>
            <a:off x="6126480" y="1508760"/>
            <a:ext cx="2560320" cy="3383280"/>
          </a:xfrm>
          <a:prstGeom prst="rect">
            <a:avLst/>
          </a:prstGeom>
          <a:noFill/>
          <a:ln/>
        </p:spPr>
        <p:txBody>
          <a:bodyPr wrap="square" rtlCol="0" anchor="ctr"/>
          <a:lstStyle/>
          <a:p>
            <a:pPr marL="0" indent="0">
              <a:buNone/>
            </a:pPr>
            <a:r>
              <a:rPr lang="en-US" sz="1100" dirty="0">
                <a:solidFill>
                  <a:srgbClr val="1C2A35"/>
                </a:solidFill>
                <a:latin typeface="Calibri" pitchFamily="34" charset="0"/>
                <a:ea typeface="Calibri" pitchFamily="34" charset="-122"/>
                <a:cs typeface="Calibri" pitchFamily="34" charset="-120"/>
              </a:rPr>
              <a:t>After cleaning, the dataset retains 1M+ records across 70+ countries.</a:t>
            </a:r>
            <a:endParaRPr lang="en-US" sz="1100" dirty="0"/>
          </a:p>
          <a:p>
            <a:pPr marL="0" indent="0">
              <a:buNone/>
            </a:pPr>
            <a:endParaRPr lang="en-US" sz="1100" dirty="0"/>
          </a:p>
          <a:p>
            <a:pPr marL="0" indent="0">
              <a:buNone/>
            </a:pPr>
            <a:r>
              <a:rPr lang="en-US" sz="1100" dirty="0">
                <a:solidFill>
                  <a:srgbClr val="1C2A35"/>
                </a:solidFill>
                <a:latin typeface="Calibri" pitchFamily="34" charset="0"/>
                <a:ea typeface="Calibri" pitchFamily="34" charset="-122"/>
                <a:cs typeface="Calibri" pitchFamily="34" charset="-120"/>
              </a:rPr>
              <a:t>Missing values are isolated to the locality column — a minor issue affecting &lt;1% of records.</a:t>
            </a:r>
            <a:endParaRPr lang="en-US" sz="1100" dirty="0"/>
          </a:p>
          <a:p>
            <a:pPr marL="0" indent="0">
              <a:buNone/>
            </a:pPr>
            <a:endParaRPr lang="en-US" sz="1100" dirty="0"/>
          </a:p>
          <a:p>
            <a:pPr marL="0" indent="0">
              <a:buNone/>
            </a:pPr>
            <a:r>
              <a:rPr lang="en-US" sz="1100" dirty="0">
                <a:solidFill>
                  <a:srgbClr val="1C2A35"/>
                </a:solidFill>
                <a:latin typeface="Calibri" pitchFamily="34" charset="0"/>
                <a:ea typeface="Calibri" pitchFamily="34" charset="-122"/>
                <a:cs typeface="Calibri" pitchFamily="34" charset="-120"/>
              </a:rPr>
              <a:t>No duplicate rows found.</a:t>
            </a:r>
            <a:endParaRPr lang="en-US" sz="1100" dirty="0"/>
          </a:p>
          <a:p>
            <a:pPr marL="0" indent="0">
              <a:buNone/>
            </a:pPr>
            <a:endParaRPr lang="en-US" sz="1100" dirty="0"/>
          </a:p>
          <a:p>
            <a:pPr marL="0" indent="0">
              <a:buNone/>
            </a:pPr>
            <a:r>
              <a:rPr lang="en-US" sz="1100" dirty="0">
                <a:solidFill>
                  <a:srgbClr val="1C2A35"/>
                </a:solidFill>
                <a:latin typeface="Calibri" pitchFamily="34" charset="0"/>
                <a:ea typeface="Calibri" pitchFamily="34" charset="-122"/>
                <a:cs typeface="Calibri" pitchFamily="34" charset="-120"/>
              </a:rPr>
              <a:t>The pivot table structure (country × year × month × market) gives us the analytical foundation for all subsequent steps.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686800" cy="502920"/>
          </a:xfrm>
          <a:prstGeom prst="rect">
            <a:avLst/>
          </a:prstGeom>
          <a:noFill/>
          <a:ln/>
        </p:spPr>
        <p:txBody>
          <a:bodyPr wrap="square" lIns="0" tIns="0" rIns="0" bIns="0" rtlCol="0" anchor="ctr"/>
          <a:lstStyle/>
          <a:p>
            <a:pPr marL="0" indent="0">
              <a:buNone/>
            </a:pPr>
            <a:r>
              <a:rPr lang="en-US" sz="2800" b="1" dirty="0">
                <a:solidFill>
                  <a:srgbClr val="0A3D62"/>
                </a:solidFill>
                <a:latin typeface="Calibri" pitchFamily="34" charset="0"/>
                <a:ea typeface="Calibri" pitchFamily="34" charset="-122"/>
                <a:cs typeface="Calibri" pitchFamily="34" charset="-120"/>
              </a:rPr>
              <a:t>Phase 2: Commodity Focus &amp; Standardization</a:t>
            </a:r>
            <a:endParaRPr lang="en-US" sz="2800" dirty="0"/>
          </a:p>
        </p:txBody>
      </p:sp>
      <p:sp>
        <p:nvSpPr>
          <p:cNvPr id="3" name="Shape 1"/>
          <p:cNvSpPr/>
          <p:nvPr/>
        </p:nvSpPr>
        <p:spPr>
          <a:xfrm>
            <a:off x="457200" y="960120"/>
            <a:ext cx="1143000" cy="1143000"/>
          </a:xfrm>
          <a:prstGeom prst="ellipse">
            <a:avLst/>
          </a:prstGeom>
          <a:solidFill>
            <a:srgbClr val="E8A838"/>
          </a:solidFill>
          <a:ln w="12700">
            <a:solidFill>
              <a:srgbClr val="E8A838"/>
            </a:solidFill>
            <a:prstDash val="solid"/>
          </a:ln>
        </p:spPr>
      </p:sp>
      <p:sp>
        <p:nvSpPr>
          <p:cNvPr id="4" name="Text 2"/>
          <p:cNvSpPr/>
          <p:nvPr/>
        </p:nvSpPr>
        <p:spPr>
          <a:xfrm>
            <a:off x="457200" y="960120"/>
            <a:ext cx="1143000" cy="7772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5" name="Text 3"/>
          <p:cNvSpPr/>
          <p:nvPr/>
        </p:nvSpPr>
        <p:spPr>
          <a:xfrm>
            <a:off x="365760" y="2084832"/>
            <a:ext cx="1325880" cy="274320"/>
          </a:xfrm>
          <a:prstGeom prst="rect">
            <a:avLst/>
          </a:prstGeom>
          <a:noFill/>
          <a:ln/>
        </p:spPr>
        <p:txBody>
          <a:bodyPr wrap="square" lIns="0" tIns="0" rIns="0" bIns="0" rtlCol="0" anchor="ctr"/>
          <a:lstStyle/>
          <a:p>
            <a:pPr marL="0" indent="0" algn="ctr">
              <a:buNone/>
            </a:pPr>
            <a:r>
              <a:rPr lang="en-US" sz="1100" b="1" dirty="0">
                <a:solidFill>
                  <a:srgbClr val="1C2A35"/>
                </a:solidFill>
                <a:latin typeface="Calibri" pitchFamily="34" charset="0"/>
                <a:ea typeface="Calibri" pitchFamily="34" charset="-122"/>
                <a:cs typeface="Calibri" pitchFamily="34" charset="-120"/>
              </a:rPr>
              <a:t>Bread</a:t>
            </a:r>
            <a:endParaRPr lang="en-US" sz="1100" dirty="0"/>
          </a:p>
        </p:txBody>
      </p:sp>
      <p:sp>
        <p:nvSpPr>
          <p:cNvPr id="6" name="Shape 4"/>
          <p:cNvSpPr/>
          <p:nvPr/>
        </p:nvSpPr>
        <p:spPr>
          <a:xfrm>
            <a:off x="1856232" y="960120"/>
            <a:ext cx="1143000" cy="1143000"/>
          </a:xfrm>
          <a:prstGeom prst="ellipse">
            <a:avLst/>
          </a:prstGeom>
          <a:solidFill>
            <a:srgbClr val="4DB6C4"/>
          </a:solidFill>
          <a:ln w="12700">
            <a:solidFill>
              <a:srgbClr val="4DB6C4"/>
            </a:solidFill>
            <a:prstDash val="solid"/>
          </a:ln>
        </p:spPr>
      </p:sp>
      <p:sp>
        <p:nvSpPr>
          <p:cNvPr id="7" name="Text 5"/>
          <p:cNvSpPr/>
          <p:nvPr/>
        </p:nvSpPr>
        <p:spPr>
          <a:xfrm>
            <a:off x="1856232" y="960120"/>
            <a:ext cx="1143000" cy="7772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8" name="Text 6"/>
          <p:cNvSpPr/>
          <p:nvPr/>
        </p:nvSpPr>
        <p:spPr>
          <a:xfrm>
            <a:off x="1764792" y="2084832"/>
            <a:ext cx="1325880" cy="274320"/>
          </a:xfrm>
          <a:prstGeom prst="rect">
            <a:avLst/>
          </a:prstGeom>
          <a:noFill/>
          <a:ln/>
        </p:spPr>
        <p:txBody>
          <a:bodyPr wrap="square" lIns="0" tIns="0" rIns="0" bIns="0" rtlCol="0" anchor="ctr"/>
          <a:lstStyle/>
          <a:p>
            <a:pPr marL="0" indent="0" algn="ctr">
              <a:buNone/>
            </a:pPr>
            <a:r>
              <a:rPr lang="en-US" sz="1100" b="1" dirty="0">
                <a:solidFill>
                  <a:srgbClr val="1C2A35"/>
                </a:solidFill>
                <a:latin typeface="Calibri" pitchFamily="34" charset="0"/>
                <a:ea typeface="Calibri" pitchFamily="34" charset="-122"/>
                <a:cs typeface="Calibri" pitchFamily="34" charset="-120"/>
              </a:rPr>
              <a:t>Milk</a:t>
            </a:r>
            <a:endParaRPr lang="en-US" sz="1100" dirty="0"/>
          </a:p>
        </p:txBody>
      </p:sp>
      <p:sp>
        <p:nvSpPr>
          <p:cNvPr id="9" name="Shape 7"/>
          <p:cNvSpPr/>
          <p:nvPr/>
        </p:nvSpPr>
        <p:spPr>
          <a:xfrm>
            <a:off x="3255264" y="960120"/>
            <a:ext cx="1143000" cy="1143000"/>
          </a:xfrm>
          <a:prstGeom prst="ellipse">
            <a:avLst/>
          </a:prstGeom>
          <a:solidFill>
            <a:srgbClr val="C05454"/>
          </a:solidFill>
          <a:ln w="12700">
            <a:solidFill>
              <a:srgbClr val="C05454"/>
            </a:solidFill>
            <a:prstDash val="solid"/>
          </a:ln>
        </p:spPr>
      </p:sp>
      <p:sp>
        <p:nvSpPr>
          <p:cNvPr id="10" name="Text 8"/>
          <p:cNvSpPr/>
          <p:nvPr/>
        </p:nvSpPr>
        <p:spPr>
          <a:xfrm>
            <a:off x="3255264" y="960120"/>
            <a:ext cx="1143000" cy="7772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1" name="Text 9"/>
          <p:cNvSpPr/>
          <p:nvPr/>
        </p:nvSpPr>
        <p:spPr>
          <a:xfrm>
            <a:off x="3163824" y="2084832"/>
            <a:ext cx="1325880" cy="274320"/>
          </a:xfrm>
          <a:prstGeom prst="rect">
            <a:avLst/>
          </a:prstGeom>
          <a:noFill/>
          <a:ln/>
        </p:spPr>
        <p:txBody>
          <a:bodyPr wrap="square" lIns="0" tIns="0" rIns="0" bIns="0" rtlCol="0" anchor="ctr"/>
          <a:lstStyle/>
          <a:p>
            <a:pPr marL="0" indent="0" algn="ctr">
              <a:buNone/>
            </a:pPr>
            <a:r>
              <a:rPr lang="en-US" sz="1100" b="1" dirty="0">
                <a:solidFill>
                  <a:srgbClr val="1C2A35"/>
                </a:solidFill>
                <a:latin typeface="Calibri" pitchFamily="34" charset="0"/>
                <a:ea typeface="Calibri" pitchFamily="34" charset="-122"/>
                <a:cs typeface="Calibri" pitchFamily="34" charset="-120"/>
              </a:rPr>
              <a:t>Meat</a:t>
            </a:r>
            <a:endParaRPr lang="en-US" sz="1100" dirty="0"/>
          </a:p>
        </p:txBody>
      </p:sp>
      <p:sp>
        <p:nvSpPr>
          <p:cNvPr id="12" name="Shape 10"/>
          <p:cNvSpPr/>
          <p:nvPr/>
        </p:nvSpPr>
        <p:spPr>
          <a:xfrm>
            <a:off x="4654296" y="960120"/>
            <a:ext cx="1143000" cy="1143000"/>
          </a:xfrm>
          <a:prstGeom prst="ellipse">
            <a:avLst/>
          </a:prstGeom>
          <a:solidFill>
            <a:srgbClr val="3A8FC4"/>
          </a:solidFill>
          <a:ln w="12700">
            <a:solidFill>
              <a:srgbClr val="3A8FC4"/>
            </a:solidFill>
            <a:prstDash val="solid"/>
          </a:ln>
        </p:spPr>
      </p:sp>
      <p:sp>
        <p:nvSpPr>
          <p:cNvPr id="13" name="Text 11"/>
          <p:cNvSpPr/>
          <p:nvPr/>
        </p:nvSpPr>
        <p:spPr>
          <a:xfrm>
            <a:off x="4654296" y="960120"/>
            <a:ext cx="1143000" cy="7772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4" name="Text 12"/>
          <p:cNvSpPr/>
          <p:nvPr/>
        </p:nvSpPr>
        <p:spPr>
          <a:xfrm>
            <a:off x="4562856" y="2084832"/>
            <a:ext cx="1325880" cy="274320"/>
          </a:xfrm>
          <a:prstGeom prst="rect">
            <a:avLst/>
          </a:prstGeom>
          <a:noFill/>
          <a:ln/>
        </p:spPr>
        <p:txBody>
          <a:bodyPr wrap="square" lIns="0" tIns="0" rIns="0" bIns="0" rtlCol="0" anchor="ctr"/>
          <a:lstStyle/>
          <a:p>
            <a:pPr marL="0" indent="0" algn="ctr">
              <a:buNone/>
            </a:pPr>
            <a:r>
              <a:rPr lang="en-US" sz="1100" b="1" dirty="0">
                <a:solidFill>
                  <a:srgbClr val="1C2A35"/>
                </a:solidFill>
                <a:latin typeface="Calibri" pitchFamily="34" charset="0"/>
                <a:ea typeface="Calibri" pitchFamily="34" charset="-122"/>
                <a:cs typeface="Calibri" pitchFamily="34" charset="-120"/>
              </a:rPr>
              <a:t>Fish</a:t>
            </a:r>
            <a:endParaRPr lang="en-US" sz="1100" dirty="0"/>
          </a:p>
        </p:txBody>
      </p:sp>
      <p:sp>
        <p:nvSpPr>
          <p:cNvPr id="15" name="Shape 13"/>
          <p:cNvSpPr/>
          <p:nvPr/>
        </p:nvSpPr>
        <p:spPr>
          <a:xfrm>
            <a:off x="6053328" y="960120"/>
            <a:ext cx="1143000" cy="1143000"/>
          </a:xfrm>
          <a:prstGeom prst="ellipse">
            <a:avLst/>
          </a:prstGeom>
          <a:solidFill>
            <a:srgbClr val="82B36C"/>
          </a:solidFill>
          <a:ln w="12700">
            <a:solidFill>
              <a:srgbClr val="82B36C"/>
            </a:solidFill>
            <a:prstDash val="solid"/>
          </a:ln>
        </p:spPr>
      </p:sp>
      <p:sp>
        <p:nvSpPr>
          <p:cNvPr id="16" name="Text 14"/>
          <p:cNvSpPr/>
          <p:nvPr/>
        </p:nvSpPr>
        <p:spPr>
          <a:xfrm>
            <a:off x="6053328" y="960120"/>
            <a:ext cx="1143000" cy="7772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7" name="Text 15"/>
          <p:cNvSpPr/>
          <p:nvPr/>
        </p:nvSpPr>
        <p:spPr>
          <a:xfrm>
            <a:off x="5961888" y="2084832"/>
            <a:ext cx="1325880" cy="274320"/>
          </a:xfrm>
          <a:prstGeom prst="rect">
            <a:avLst/>
          </a:prstGeom>
          <a:noFill/>
          <a:ln/>
        </p:spPr>
        <p:txBody>
          <a:bodyPr wrap="square" lIns="0" tIns="0" rIns="0" bIns="0" rtlCol="0" anchor="ctr"/>
          <a:lstStyle/>
          <a:p>
            <a:pPr marL="0" indent="0" algn="ctr">
              <a:buNone/>
            </a:pPr>
            <a:r>
              <a:rPr lang="en-US" sz="1100" b="1" dirty="0">
                <a:solidFill>
                  <a:srgbClr val="1C2A35"/>
                </a:solidFill>
                <a:latin typeface="Calibri" pitchFamily="34" charset="0"/>
                <a:ea typeface="Calibri" pitchFamily="34" charset="-122"/>
                <a:cs typeface="Calibri" pitchFamily="34" charset="-120"/>
              </a:rPr>
              <a:t>Rice</a:t>
            </a:r>
            <a:endParaRPr lang="en-US" sz="1100" dirty="0"/>
          </a:p>
        </p:txBody>
      </p:sp>
      <p:sp>
        <p:nvSpPr>
          <p:cNvPr id="18" name="Shape 16"/>
          <p:cNvSpPr/>
          <p:nvPr/>
        </p:nvSpPr>
        <p:spPr>
          <a:xfrm>
            <a:off x="7452360" y="960120"/>
            <a:ext cx="1143000" cy="1143000"/>
          </a:xfrm>
          <a:prstGeom prst="ellipse">
            <a:avLst/>
          </a:prstGeom>
          <a:solidFill>
            <a:srgbClr val="6CA3C4"/>
          </a:solidFill>
          <a:ln w="12700">
            <a:solidFill>
              <a:srgbClr val="6CA3C4"/>
            </a:solidFill>
            <a:prstDash val="solid"/>
          </a:ln>
        </p:spPr>
      </p:sp>
      <p:sp>
        <p:nvSpPr>
          <p:cNvPr id="19" name="Text 17"/>
          <p:cNvSpPr/>
          <p:nvPr/>
        </p:nvSpPr>
        <p:spPr>
          <a:xfrm>
            <a:off x="7452360" y="960120"/>
            <a:ext cx="1143000" cy="7772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0" name="Text 18"/>
          <p:cNvSpPr/>
          <p:nvPr/>
        </p:nvSpPr>
        <p:spPr>
          <a:xfrm>
            <a:off x="7360920" y="2084832"/>
            <a:ext cx="1325880" cy="274320"/>
          </a:xfrm>
          <a:prstGeom prst="rect">
            <a:avLst/>
          </a:prstGeom>
          <a:noFill/>
          <a:ln/>
        </p:spPr>
        <p:txBody>
          <a:bodyPr wrap="square" lIns="0" tIns="0" rIns="0" bIns="0" rtlCol="0" anchor="ctr"/>
          <a:lstStyle/>
          <a:p>
            <a:pPr marL="0" indent="0" algn="ctr">
              <a:buNone/>
            </a:pPr>
            <a:r>
              <a:rPr lang="en-US" sz="1100" b="1" dirty="0">
                <a:solidFill>
                  <a:srgbClr val="1C2A35"/>
                </a:solidFill>
                <a:latin typeface="Calibri" pitchFamily="34" charset="0"/>
                <a:ea typeface="Calibri" pitchFamily="34" charset="-122"/>
                <a:cs typeface="Calibri" pitchFamily="34" charset="-120"/>
              </a:rPr>
              <a:t>Water</a:t>
            </a:r>
            <a:endParaRPr lang="en-US" sz="1100" dirty="0"/>
          </a:p>
        </p:txBody>
      </p:sp>
      <p:sp>
        <p:nvSpPr>
          <p:cNvPr id="21" name="Text 19"/>
          <p:cNvSpPr/>
          <p:nvPr/>
        </p:nvSpPr>
        <p:spPr>
          <a:xfrm>
            <a:off x="457200" y="2468880"/>
            <a:ext cx="8229600" cy="274320"/>
          </a:xfrm>
          <a:prstGeom prst="rect">
            <a:avLst/>
          </a:prstGeom>
          <a:noFill/>
          <a:ln/>
        </p:spPr>
        <p:txBody>
          <a:bodyPr wrap="square" lIns="0" tIns="0" rIns="0" bIns="0" rtlCol="0" anchor="ctr"/>
          <a:lstStyle/>
          <a:p>
            <a:pPr marL="0" indent="0" algn="ctr">
              <a:buNone/>
            </a:pPr>
            <a:r>
              <a:rPr lang="en-US" sz="1100" i="1" dirty="0">
                <a:solidFill>
                  <a:srgbClr val="5B7A8C"/>
                </a:solidFill>
                <a:latin typeface="Calibri" pitchFamily="34" charset="0"/>
                <a:ea typeface="Calibri" pitchFamily="34" charset="-122"/>
                <a:cs typeface="Calibri" pitchFamily="34" charset="-120"/>
              </a:rPr>
              <a:t>+ Exchange Rate (USD/LCU)</a:t>
            </a:r>
            <a:endParaRPr lang="en-US" sz="1100" dirty="0"/>
          </a:p>
        </p:txBody>
      </p:sp>
      <p:sp>
        <p:nvSpPr>
          <p:cNvPr id="22" name="Shape 20"/>
          <p:cNvSpPr/>
          <p:nvPr/>
        </p:nvSpPr>
        <p:spPr>
          <a:xfrm>
            <a:off x="365760" y="2834640"/>
            <a:ext cx="5120640" cy="1554480"/>
          </a:xfrm>
          <a:prstGeom prst="roundRect">
            <a:avLst>
              <a:gd name="adj" fmla="val 4706"/>
            </a:avLst>
          </a:prstGeom>
          <a:solidFill>
            <a:srgbClr val="EAF4F8"/>
          </a:solidFill>
          <a:ln/>
          <a:effectLst>
            <a:outerShdw blurRad="101600" dist="25400" dir="2700000" algn="bl" rotWithShape="0">
              <a:srgbClr val="000000">
                <a:alpha val="10000"/>
              </a:srgbClr>
            </a:outerShdw>
          </a:effectLst>
        </p:spPr>
      </p:sp>
      <p:sp>
        <p:nvSpPr>
          <p:cNvPr id="23" name="Text 21"/>
          <p:cNvSpPr/>
          <p:nvPr/>
        </p:nvSpPr>
        <p:spPr>
          <a:xfrm>
            <a:off x="502920" y="2898648"/>
            <a:ext cx="4937760" cy="292608"/>
          </a:xfrm>
          <a:prstGeom prst="rect">
            <a:avLst/>
          </a:prstGeom>
          <a:noFill/>
          <a:ln/>
        </p:spPr>
        <p:txBody>
          <a:bodyPr wrap="square" lIns="0" tIns="0" rIns="0" bIns="0" rtlCol="0" anchor="ctr"/>
          <a:lstStyle/>
          <a:p>
            <a:pPr marL="0" indent="0">
              <a:buNone/>
            </a:pPr>
            <a:r>
              <a:rPr lang="en-US" sz="1300" b="1" dirty="0">
                <a:solidFill>
                  <a:srgbClr val="1A6E8E"/>
                </a:solidFill>
                <a:latin typeface="Calibri" pitchFamily="34" charset="0"/>
                <a:ea typeface="Calibri" pitchFamily="34" charset="-122"/>
                <a:cs typeface="Calibri" pitchFamily="34" charset="-120"/>
              </a:rPr>
              <a:t>Name Cleaning — Strip Parentheticals</a:t>
            </a:r>
            <a:endParaRPr lang="en-US" sz="1300" dirty="0"/>
          </a:p>
        </p:txBody>
      </p:sp>
      <p:sp>
        <p:nvSpPr>
          <p:cNvPr id="24" name="Text 22"/>
          <p:cNvSpPr/>
          <p:nvPr/>
        </p:nvSpPr>
        <p:spPr>
          <a:xfrm>
            <a:off x="502920" y="3218688"/>
            <a:ext cx="4937760" cy="256032"/>
          </a:xfrm>
          <a:prstGeom prst="rect">
            <a:avLst/>
          </a:prstGeom>
          <a:noFill/>
          <a:ln/>
        </p:spPr>
        <p:txBody>
          <a:bodyPr wrap="square" lIns="0" tIns="0" rIns="0" bIns="0" rtlCol="0" anchor="ctr"/>
          <a:lstStyle/>
          <a:p>
            <a:pPr marL="0" indent="0">
              <a:buNone/>
            </a:pPr>
            <a:r>
              <a:rPr lang="en-US" sz="1000" dirty="0">
                <a:solidFill>
                  <a:srgbClr val="1C2A35"/>
                </a:solidFill>
                <a:latin typeface="Courier New" pitchFamily="34" charset="0"/>
                <a:ea typeface="Courier New" pitchFamily="34" charset="-122"/>
                <a:cs typeface="Courier New" pitchFamily="34" charset="-120"/>
              </a:rPr>
              <a:t>Before:  Rice - white (local)      →     After:  Rice - white</a:t>
            </a:r>
            <a:endParaRPr lang="en-US" sz="1000" dirty="0"/>
          </a:p>
        </p:txBody>
      </p:sp>
      <p:sp>
        <p:nvSpPr>
          <p:cNvPr id="25" name="Text 23"/>
          <p:cNvSpPr/>
          <p:nvPr/>
        </p:nvSpPr>
        <p:spPr>
          <a:xfrm>
            <a:off x="502920" y="3493008"/>
            <a:ext cx="4937760" cy="256032"/>
          </a:xfrm>
          <a:prstGeom prst="rect">
            <a:avLst/>
          </a:prstGeom>
          <a:noFill/>
          <a:ln/>
        </p:spPr>
        <p:txBody>
          <a:bodyPr wrap="square" lIns="0" tIns="0" rIns="0" bIns="0" rtlCol="0" anchor="ctr"/>
          <a:lstStyle/>
          <a:p>
            <a:pPr marL="0" indent="0">
              <a:buNone/>
            </a:pPr>
            <a:r>
              <a:rPr lang="en-US" sz="1000" dirty="0">
                <a:solidFill>
                  <a:srgbClr val="1C2A35"/>
                </a:solidFill>
                <a:latin typeface="Courier New" pitchFamily="34" charset="0"/>
                <a:ea typeface="Courier New" pitchFamily="34" charset="-122"/>
                <a:cs typeface="Courier New" pitchFamily="34" charset="-120"/>
              </a:rPr>
              <a:t>Before:  Milk - pasteurized (pack)  →     After:  Milk - pasteurized</a:t>
            </a:r>
            <a:endParaRPr lang="en-US" sz="1000" dirty="0"/>
          </a:p>
        </p:txBody>
      </p:sp>
      <p:sp>
        <p:nvSpPr>
          <p:cNvPr id="26" name="Text 24"/>
          <p:cNvSpPr/>
          <p:nvPr/>
        </p:nvSpPr>
        <p:spPr>
          <a:xfrm>
            <a:off x="502920" y="3794760"/>
            <a:ext cx="4937760" cy="274320"/>
          </a:xfrm>
          <a:prstGeom prst="rect">
            <a:avLst/>
          </a:prstGeom>
          <a:noFill/>
          <a:ln/>
        </p:spPr>
        <p:txBody>
          <a:bodyPr wrap="square" lIns="0" tIns="0" rIns="0" bIns="0" rtlCol="0" anchor="ctr"/>
          <a:lstStyle/>
          <a:p>
            <a:pPr marL="0" indent="0">
              <a:buNone/>
            </a:pPr>
            <a:r>
              <a:rPr lang="en-US" sz="1000" i="1" dirty="0">
                <a:solidFill>
                  <a:srgbClr val="0A3D62"/>
                </a:solidFill>
                <a:latin typeface="Courier New" pitchFamily="34" charset="0"/>
                <a:ea typeface="Courier New" pitchFamily="34" charset="-122"/>
                <a:cs typeface="Courier New" pitchFamily="34" charset="-120"/>
              </a:rPr>
              <a:t>lambda x: x[:x.find(' (')] if ' (' in x else x</a:t>
            </a:r>
            <a:endParaRPr lang="en-US" sz="1000" dirty="0"/>
          </a:p>
        </p:txBody>
      </p:sp>
      <p:sp>
        <p:nvSpPr>
          <p:cNvPr id="27" name="Shape 25"/>
          <p:cNvSpPr/>
          <p:nvPr/>
        </p:nvSpPr>
        <p:spPr>
          <a:xfrm>
            <a:off x="5806440" y="2834640"/>
            <a:ext cx="2971800" cy="1554480"/>
          </a:xfrm>
          <a:prstGeom prst="roundRect">
            <a:avLst>
              <a:gd name="adj" fmla="val 4706"/>
            </a:avLst>
          </a:prstGeom>
          <a:solidFill>
            <a:srgbClr val="EAF4F8"/>
          </a:solidFill>
          <a:ln/>
          <a:effectLst>
            <a:outerShdw blurRad="101600" dist="25400" dir="2700000" algn="bl" rotWithShape="0">
              <a:srgbClr val="000000">
                <a:alpha val="10000"/>
              </a:srgbClr>
            </a:outerShdw>
          </a:effectLst>
        </p:spPr>
      </p:sp>
      <p:sp>
        <p:nvSpPr>
          <p:cNvPr id="28" name="Text 26"/>
          <p:cNvSpPr/>
          <p:nvPr/>
        </p:nvSpPr>
        <p:spPr>
          <a:xfrm>
            <a:off x="5897880" y="2898648"/>
            <a:ext cx="2788920" cy="292608"/>
          </a:xfrm>
          <a:prstGeom prst="rect">
            <a:avLst/>
          </a:prstGeom>
          <a:noFill/>
          <a:ln/>
        </p:spPr>
        <p:txBody>
          <a:bodyPr wrap="square" lIns="0" tIns="0" rIns="0" bIns="0" rtlCol="0" anchor="ctr"/>
          <a:lstStyle/>
          <a:p>
            <a:pPr marL="0" indent="0">
              <a:buNone/>
            </a:pPr>
            <a:r>
              <a:rPr lang="en-US" sz="1300" b="1" dirty="0">
                <a:solidFill>
                  <a:srgbClr val="0A3D62"/>
                </a:solidFill>
                <a:latin typeface="Calibri" pitchFamily="34" charset="0"/>
                <a:ea typeface="Calibri" pitchFamily="34" charset="-122"/>
                <a:cs typeface="Calibri" pitchFamily="34" charset="-120"/>
              </a:rPr>
              <a:t>Why This Matters</a:t>
            </a:r>
            <a:endParaRPr lang="en-US" sz="1300" dirty="0"/>
          </a:p>
        </p:txBody>
      </p:sp>
      <p:sp>
        <p:nvSpPr>
          <p:cNvPr id="29" name="Text 27"/>
          <p:cNvSpPr/>
          <p:nvPr/>
        </p:nvSpPr>
        <p:spPr>
          <a:xfrm>
            <a:off x="5897880" y="3218688"/>
            <a:ext cx="2788920" cy="1097280"/>
          </a:xfrm>
          <a:prstGeom prst="rect">
            <a:avLst/>
          </a:prstGeom>
          <a:noFill/>
          <a:ln/>
        </p:spPr>
        <p:txBody>
          <a:bodyPr wrap="square" rtlCol="0" anchor="ctr"/>
          <a:lstStyle/>
          <a:p>
            <a:pPr marL="0" indent="0">
              <a:buNone/>
            </a:pPr>
            <a:r>
              <a:rPr lang="en-US" sz="1100" dirty="0">
                <a:solidFill>
                  <a:srgbClr val="1C2A35"/>
                </a:solidFill>
                <a:latin typeface="Calibri" pitchFamily="34" charset="0"/>
                <a:ea typeface="Calibri" pitchFamily="34" charset="-122"/>
                <a:cs typeface="Calibri" pitchFamily="34" charset="-120"/>
              </a:rPr>
              <a:t>Consistent naming enables accurate groupby, pivot tables, and cross-country averages.</a:t>
            </a:r>
            <a:endParaRPr lang="en-US" sz="1100" dirty="0"/>
          </a:p>
          <a:p>
            <a:pPr marL="0" indent="0">
              <a:buNone/>
            </a:pPr>
            <a:endParaRPr lang="en-US" sz="1100" dirty="0"/>
          </a:p>
          <a:p>
            <a:pPr marL="0" indent="0">
              <a:buNone/>
            </a:pPr>
            <a:r>
              <a:rPr lang="en-US" sz="1100" dirty="0">
                <a:solidFill>
                  <a:srgbClr val="1C2A35"/>
                </a:solidFill>
                <a:latin typeface="Calibri" pitchFamily="34" charset="0"/>
                <a:ea typeface="Calibri" pitchFamily="34" charset="-122"/>
                <a:cs typeface="Calibri" pitchFamily="34" charset="-120"/>
              </a:rPr>
              <a:t>Without it, 'Rice - white (local)' and 'Rice - white (imported)' are treated as different commodities.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buNone/>
            </a:pPr>
            <a:r>
              <a:rPr lang="en-US" sz="3000" b="1" dirty="0">
                <a:solidFill>
                  <a:srgbClr val="0A3D62"/>
                </a:solidFill>
                <a:latin typeface="Calibri" pitchFamily="34" charset="0"/>
                <a:ea typeface="Calibri" pitchFamily="34" charset="-122"/>
                <a:cs typeface="Calibri" pitchFamily="34" charset="-120"/>
              </a:rPr>
              <a:t>Phase 3: Statistical Analysis</a:t>
            </a:r>
            <a:endParaRPr lang="en-US" sz="3000" dirty="0"/>
          </a:p>
        </p:txBody>
      </p:sp>
      <p:sp>
        <p:nvSpPr>
          <p:cNvPr id="3" name="Shape 1"/>
          <p:cNvSpPr/>
          <p:nvPr/>
        </p:nvSpPr>
        <p:spPr>
          <a:xfrm>
            <a:off x="365760" y="960120"/>
            <a:ext cx="4114800" cy="2011680"/>
          </a:xfrm>
          <a:prstGeom prst="roundRect">
            <a:avLst>
              <a:gd name="adj" fmla="val 3636"/>
            </a:avLst>
          </a:prstGeom>
          <a:solidFill>
            <a:srgbClr val="EAF4F8"/>
          </a:solidFill>
          <a:ln/>
          <a:effectLst>
            <a:outerShdw blurRad="101600" dist="25400" dir="2700000" algn="bl" rotWithShape="0">
              <a:srgbClr val="000000">
                <a:alpha val="10000"/>
              </a:srgbClr>
            </a:outerShdw>
          </a:effectLst>
        </p:spPr>
      </p:sp>
      <p:sp>
        <p:nvSpPr>
          <p:cNvPr id="4" name="Text 2"/>
          <p:cNvSpPr/>
          <p:nvPr/>
        </p:nvSpPr>
        <p:spPr>
          <a:xfrm>
            <a:off x="502920" y="1024128"/>
            <a:ext cx="3840480" cy="292608"/>
          </a:xfrm>
          <a:prstGeom prst="rect">
            <a:avLst/>
          </a:prstGeom>
          <a:noFill/>
          <a:ln/>
        </p:spPr>
        <p:txBody>
          <a:bodyPr wrap="square" lIns="0" tIns="0" rIns="0" bIns="0" rtlCol="0" anchor="ctr"/>
          <a:lstStyle/>
          <a:p>
            <a:pPr marL="0" indent="0">
              <a:buNone/>
            </a:pPr>
            <a:r>
              <a:rPr lang="en-US" sz="1400" b="1" dirty="0">
                <a:solidFill>
                  <a:srgbClr val="1A6E8E"/>
                </a:solidFill>
                <a:latin typeface="Calibri" pitchFamily="34" charset="0"/>
                <a:ea typeface="Calibri" pitchFamily="34" charset="-122"/>
                <a:cs typeface="Calibri" pitchFamily="34" charset="-120"/>
              </a:rPr>
              <a:t>Pivot Table Structure</a:t>
            </a:r>
            <a:endParaRPr lang="en-US" sz="1400" dirty="0"/>
          </a:p>
        </p:txBody>
      </p:sp>
      <p:sp>
        <p:nvSpPr>
          <p:cNvPr id="5" name="Text 3"/>
          <p:cNvSpPr/>
          <p:nvPr/>
        </p:nvSpPr>
        <p:spPr>
          <a:xfrm>
            <a:off x="502920" y="1417320"/>
            <a:ext cx="1005840" cy="320040"/>
          </a:xfrm>
          <a:prstGeom prst="rect">
            <a:avLst/>
          </a:prstGeom>
          <a:noFill/>
          <a:ln/>
        </p:spPr>
        <p:txBody>
          <a:bodyPr wrap="square" lIns="0" tIns="0" rIns="0" bIns="0" rtlCol="0" anchor="ctr"/>
          <a:lstStyle/>
          <a:p>
            <a:pPr marL="0" indent="0">
              <a:buNone/>
            </a:pPr>
            <a:r>
              <a:rPr lang="en-US" sz="1100" b="1" dirty="0">
                <a:solidFill>
                  <a:srgbClr val="0A3D62"/>
                </a:solidFill>
                <a:latin typeface="Calibri" pitchFamily="34" charset="0"/>
                <a:ea typeface="Calibri" pitchFamily="34" charset="-122"/>
                <a:cs typeface="Calibri" pitchFamily="34" charset="-120"/>
              </a:rPr>
              <a:t>Index:</a:t>
            </a:r>
            <a:endParaRPr lang="en-US" sz="1100" dirty="0"/>
          </a:p>
        </p:txBody>
      </p:sp>
      <p:sp>
        <p:nvSpPr>
          <p:cNvPr id="6" name="Text 4"/>
          <p:cNvSpPr/>
          <p:nvPr/>
        </p:nvSpPr>
        <p:spPr>
          <a:xfrm>
            <a:off x="1554480" y="1417320"/>
            <a:ext cx="2834640" cy="320040"/>
          </a:xfrm>
          <a:prstGeom prst="rect">
            <a:avLst/>
          </a:prstGeom>
          <a:noFill/>
          <a:ln/>
        </p:spPr>
        <p:txBody>
          <a:bodyPr wrap="square" lIns="0" tIns="0" rIns="0" bIns="0" rtlCol="0" anchor="ctr"/>
          <a:lstStyle/>
          <a:p>
            <a:pPr marL="0" indent="0">
              <a:buNone/>
            </a:pPr>
            <a:r>
              <a:rPr lang="en-US" sz="1100" dirty="0">
                <a:solidFill>
                  <a:srgbClr val="1C2A35"/>
                </a:solidFill>
                <a:latin typeface="Calibri" pitchFamily="34" charset="0"/>
                <a:ea typeface="Calibri" pitchFamily="34" charset="-122"/>
                <a:cs typeface="Calibri" pitchFamily="34" charset="-120"/>
              </a:rPr>
              <a:t>Country  ×  Year  ×  Month  ×  Market</a:t>
            </a:r>
            <a:endParaRPr lang="en-US" sz="1100" dirty="0"/>
          </a:p>
        </p:txBody>
      </p:sp>
      <p:sp>
        <p:nvSpPr>
          <p:cNvPr id="7" name="Text 5"/>
          <p:cNvSpPr/>
          <p:nvPr/>
        </p:nvSpPr>
        <p:spPr>
          <a:xfrm>
            <a:off x="502920" y="1783080"/>
            <a:ext cx="1005840" cy="320040"/>
          </a:xfrm>
          <a:prstGeom prst="rect">
            <a:avLst/>
          </a:prstGeom>
          <a:noFill/>
          <a:ln/>
        </p:spPr>
        <p:txBody>
          <a:bodyPr wrap="square" lIns="0" tIns="0" rIns="0" bIns="0" rtlCol="0" anchor="ctr"/>
          <a:lstStyle/>
          <a:p>
            <a:pPr marL="0" indent="0">
              <a:buNone/>
            </a:pPr>
            <a:r>
              <a:rPr lang="en-US" sz="1100" b="1" dirty="0">
                <a:solidFill>
                  <a:srgbClr val="0A3D62"/>
                </a:solidFill>
                <a:latin typeface="Calibri" pitchFamily="34" charset="0"/>
                <a:ea typeface="Calibri" pitchFamily="34" charset="-122"/>
                <a:cs typeface="Calibri" pitchFamily="34" charset="-120"/>
              </a:rPr>
              <a:t>Columns:</a:t>
            </a:r>
            <a:endParaRPr lang="en-US" sz="1100" dirty="0"/>
          </a:p>
        </p:txBody>
      </p:sp>
      <p:sp>
        <p:nvSpPr>
          <p:cNvPr id="8" name="Text 6"/>
          <p:cNvSpPr/>
          <p:nvPr/>
        </p:nvSpPr>
        <p:spPr>
          <a:xfrm>
            <a:off x="1554480" y="1783080"/>
            <a:ext cx="2834640" cy="320040"/>
          </a:xfrm>
          <a:prstGeom prst="rect">
            <a:avLst/>
          </a:prstGeom>
          <a:noFill/>
          <a:ln/>
        </p:spPr>
        <p:txBody>
          <a:bodyPr wrap="square" lIns="0" tIns="0" rIns="0" bIns="0" rtlCol="0" anchor="ctr"/>
          <a:lstStyle/>
          <a:p>
            <a:pPr marL="0" indent="0">
              <a:buNone/>
            </a:pPr>
            <a:r>
              <a:rPr lang="en-US" sz="1100" dirty="0">
                <a:solidFill>
                  <a:srgbClr val="1C2A35"/>
                </a:solidFill>
                <a:latin typeface="Calibri" pitchFamily="34" charset="0"/>
                <a:ea typeface="Calibri" pitchFamily="34" charset="-122"/>
                <a:cs typeface="Calibri" pitchFamily="34" charset="-120"/>
              </a:rPr>
              <a:t>Bread / Fish / Meat / Milk / Rice / Water</a:t>
            </a:r>
            <a:endParaRPr lang="en-US" sz="1100" dirty="0"/>
          </a:p>
        </p:txBody>
      </p:sp>
      <p:sp>
        <p:nvSpPr>
          <p:cNvPr id="9" name="Text 7"/>
          <p:cNvSpPr/>
          <p:nvPr/>
        </p:nvSpPr>
        <p:spPr>
          <a:xfrm>
            <a:off x="502920" y="2148840"/>
            <a:ext cx="1005840" cy="320040"/>
          </a:xfrm>
          <a:prstGeom prst="rect">
            <a:avLst/>
          </a:prstGeom>
          <a:noFill/>
          <a:ln/>
        </p:spPr>
        <p:txBody>
          <a:bodyPr wrap="square" lIns="0" tIns="0" rIns="0" bIns="0" rtlCol="0" anchor="ctr"/>
          <a:lstStyle/>
          <a:p>
            <a:pPr marL="0" indent="0">
              <a:buNone/>
            </a:pPr>
            <a:r>
              <a:rPr lang="en-US" sz="1100" b="1" dirty="0">
                <a:solidFill>
                  <a:srgbClr val="0A3D62"/>
                </a:solidFill>
                <a:latin typeface="Calibri" pitchFamily="34" charset="0"/>
                <a:ea typeface="Calibri" pitchFamily="34" charset="-122"/>
                <a:cs typeface="Calibri" pitchFamily="34" charset="-120"/>
              </a:rPr>
              <a:t>Values:</a:t>
            </a:r>
            <a:endParaRPr lang="en-US" sz="1100" dirty="0"/>
          </a:p>
        </p:txBody>
      </p:sp>
      <p:sp>
        <p:nvSpPr>
          <p:cNvPr id="10" name="Text 8"/>
          <p:cNvSpPr/>
          <p:nvPr/>
        </p:nvSpPr>
        <p:spPr>
          <a:xfrm>
            <a:off x="1554480" y="2148840"/>
            <a:ext cx="2834640" cy="320040"/>
          </a:xfrm>
          <a:prstGeom prst="rect">
            <a:avLst/>
          </a:prstGeom>
          <a:noFill/>
          <a:ln/>
        </p:spPr>
        <p:txBody>
          <a:bodyPr wrap="square" lIns="0" tIns="0" rIns="0" bIns="0" rtlCol="0" anchor="ctr"/>
          <a:lstStyle/>
          <a:p>
            <a:pPr marL="0" indent="0">
              <a:buNone/>
            </a:pPr>
            <a:r>
              <a:rPr lang="en-US" sz="1100" dirty="0">
                <a:solidFill>
                  <a:srgbClr val="1C2A35"/>
                </a:solidFill>
                <a:latin typeface="Calibri" pitchFamily="34" charset="0"/>
                <a:ea typeface="Calibri" pitchFamily="34" charset="-122"/>
                <a:cs typeface="Calibri" pitchFamily="34" charset="-120"/>
              </a:rPr>
              <a:t>Mean price (local currency)</a:t>
            </a:r>
            <a:endParaRPr lang="en-US" sz="1100" dirty="0"/>
          </a:p>
        </p:txBody>
      </p:sp>
      <p:sp>
        <p:nvSpPr>
          <p:cNvPr id="11" name="Text 9"/>
          <p:cNvSpPr/>
          <p:nvPr/>
        </p:nvSpPr>
        <p:spPr>
          <a:xfrm>
            <a:off x="502920" y="2514600"/>
            <a:ext cx="1005840" cy="320040"/>
          </a:xfrm>
          <a:prstGeom prst="rect">
            <a:avLst/>
          </a:prstGeom>
          <a:noFill/>
          <a:ln/>
        </p:spPr>
        <p:txBody>
          <a:bodyPr wrap="square" lIns="0" tIns="0" rIns="0" bIns="0" rtlCol="0" anchor="ctr"/>
          <a:lstStyle/>
          <a:p>
            <a:pPr marL="0" indent="0">
              <a:buNone/>
            </a:pPr>
            <a:r>
              <a:rPr lang="en-US" sz="1100" b="1" dirty="0">
                <a:solidFill>
                  <a:srgbClr val="0A3D62"/>
                </a:solidFill>
                <a:latin typeface="Calibri" pitchFamily="34" charset="0"/>
                <a:ea typeface="Calibri" pitchFamily="34" charset="-122"/>
                <a:cs typeface="Calibri" pitchFamily="34" charset="-120"/>
              </a:rPr>
              <a:t>Function:</a:t>
            </a:r>
            <a:endParaRPr lang="en-US" sz="1100" dirty="0"/>
          </a:p>
        </p:txBody>
      </p:sp>
      <p:sp>
        <p:nvSpPr>
          <p:cNvPr id="12" name="Text 10"/>
          <p:cNvSpPr/>
          <p:nvPr/>
        </p:nvSpPr>
        <p:spPr>
          <a:xfrm>
            <a:off x="1554480" y="2514600"/>
            <a:ext cx="2834640" cy="320040"/>
          </a:xfrm>
          <a:prstGeom prst="rect">
            <a:avLst/>
          </a:prstGeom>
          <a:noFill/>
          <a:ln/>
        </p:spPr>
        <p:txBody>
          <a:bodyPr wrap="square" lIns="0" tIns="0" rIns="0" bIns="0" rtlCol="0" anchor="ctr"/>
          <a:lstStyle/>
          <a:p>
            <a:pPr marL="0" indent="0">
              <a:buNone/>
            </a:pPr>
            <a:r>
              <a:rPr lang="en-US" sz="1100" dirty="0">
                <a:solidFill>
                  <a:srgbClr val="1C2A35"/>
                </a:solidFill>
                <a:latin typeface="Calibri" pitchFamily="34" charset="0"/>
                <a:ea typeface="Calibri" pitchFamily="34" charset="-122"/>
                <a:cs typeface="Calibri" pitchFamily="34" charset="-120"/>
              </a:rPr>
              <a:t>aggfunc = 'mean'</a:t>
            </a:r>
            <a:endParaRPr lang="en-US" sz="1100" dirty="0"/>
          </a:p>
        </p:txBody>
      </p:sp>
      <p:sp>
        <p:nvSpPr>
          <p:cNvPr id="13" name="Shape 11"/>
          <p:cNvSpPr/>
          <p:nvPr/>
        </p:nvSpPr>
        <p:spPr>
          <a:xfrm>
            <a:off x="365760" y="3090672"/>
            <a:ext cx="4114800" cy="1737360"/>
          </a:xfrm>
          <a:prstGeom prst="roundRect">
            <a:avLst>
              <a:gd name="adj" fmla="val 4211"/>
            </a:avLst>
          </a:prstGeom>
          <a:solidFill>
            <a:srgbClr val="EAF4F8"/>
          </a:solidFill>
          <a:ln/>
          <a:effectLst>
            <a:outerShdw blurRad="101600" dist="25400" dir="2700000" algn="bl" rotWithShape="0">
              <a:srgbClr val="000000">
                <a:alpha val="10000"/>
              </a:srgbClr>
            </a:outerShdw>
          </a:effectLst>
        </p:spPr>
      </p:sp>
      <p:sp>
        <p:nvSpPr>
          <p:cNvPr id="14" name="Text 12"/>
          <p:cNvSpPr/>
          <p:nvPr/>
        </p:nvSpPr>
        <p:spPr>
          <a:xfrm>
            <a:off x="502920" y="3154680"/>
            <a:ext cx="3840480" cy="292608"/>
          </a:xfrm>
          <a:prstGeom prst="rect">
            <a:avLst/>
          </a:prstGeom>
          <a:noFill/>
          <a:ln/>
        </p:spPr>
        <p:txBody>
          <a:bodyPr wrap="square" lIns="0" tIns="0" rIns="0" bIns="0" rtlCol="0" anchor="ctr"/>
          <a:lstStyle/>
          <a:p>
            <a:pPr marL="0" indent="0">
              <a:buNone/>
            </a:pPr>
            <a:r>
              <a:rPr lang="en-US" sz="1400" b="1" dirty="0">
                <a:solidFill>
                  <a:srgbClr val="1A6E8E"/>
                </a:solidFill>
                <a:latin typeface="Calibri" pitchFamily="34" charset="0"/>
                <a:ea typeface="Calibri" pitchFamily="34" charset="-122"/>
                <a:cs typeface="Calibri" pitchFamily="34" charset="-120"/>
              </a:rPr>
              <a:t>Spearman Correlation with Year</a:t>
            </a:r>
            <a:endParaRPr lang="en-US" sz="1400" dirty="0"/>
          </a:p>
        </p:txBody>
      </p:sp>
      <p:sp>
        <p:nvSpPr>
          <p:cNvPr id="15" name="Text 13"/>
          <p:cNvSpPr/>
          <p:nvPr/>
        </p:nvSpPr>
        <p:spPr>
          <a:xfrm>
            <a:off x="502920" y="3520440"/>
            <a:ext cx="3840480" cy="1188720"/>
          </a:xfrm>
          <a:prstGeom prst="rect">
            <a:avLst/>
          </a:prstGeom>
          <a:noFill/>
          <a:ln/>
        </p:spPr>
        <p:txBody>
          <a:bodyPr wrap="square" rtlCol="0" anchor="ctr"/>
          <a:lstStyle/>
          <a:p>
            <a:pPr marL="0" indent="0">
              <a:buNone/>
            </a:pPr>
            <a:r>
              <a:rPr lang="en-US" sz="1100" dirty="0">
                <a:solidFill>
                  <a:srgbClr val="1C2A35"/>
                </a:solidFill>
                <a:latin typeface="Calibri" pitchFamily="34" charset="0"/>
                <a:ea typeface="Calibri" pitchFamily="34" charset="-122"/>
                <a:cs typeface="Calibri" pitchFamily="34" charset="-120"/>
              </a:rPr>
              <a:t>Measures how strongly each commodity's price trends upward over time — a proxy for inflation sensitivity.</a:t>
            </a:r>
            <a:endParaRPr lang="en-US" sz="1100" dirty="0"/>
          </a:p>
          <a:p>
            <a:pPr marL="0" indent="0">
              <a:buNone/>
            </a:pPr>
            <a:endParaRPr lang="en-US" sz="1100" dirty="0"/>
          </a:p>
          <a:p>
            <a:pPr marL="0" indent="0">
              <a:buNone/>
            </a:pPr>
            <a:r>
              <a:rPr lang="en-US" sz="1100" dirty="0">
                <a:solidFill>
                  <a:srgbClr val="1C2A35"/>
                </a:solidFill>
                <a:latin typeface="Calibri" pitchFamily="34" charset="0"/>
                <a:ea typeface="Calibri" pitchFamily="34" charset="-122"/>
                <a:cs typeface="Calibri" pitchFamily="34" charset="-120"/>
              </a:rPr>
              <a:t>Spearman (not Pearson) is used because food prices are non-normally distributed with frequent outliers.</a:t>
            </a:r>
            <a:endParaRPr lang="en-US" sz="1100" dirty="0"/>
          </a:p>
        </p:txBody>
      </p:sp>
      <p:sp>
        <p:nvSpPr>
          <p:cNvPr id="16" name="Shape 14"/>
          <p:cNvSpPr/>
          <p:nvPr/>
        </p:nvSpPr>
        <p:spPr>
          <a:xfrm>
            <a:off x="4846320" y="960120"/>
            <a:ext cx="3931920" cy="1828800"/>
          </a:xfrm>
          <a:prstGeom prst="roundRect">
            <a:avLst>
              <a:gd name="adj" fmla="val 4000"/>
            </a:avLst>
          </a:prstGeom>
          <a:solidFill>
            <a:srgbClr val="EAF4F8"/>
          </a:solidFill>
          <a:ln/>
          <a:effectLst>
            <a:outerShdw blurRad="101600" dist="25400" dir="2700000" algn="bl" rotWithShape="0">
              <a:srgbClr val="000000">
                <a:alpha val="10000"/>
              </a:srgbClr>
            </a:outerShdw>
          </a:effectLst>
        </p:spPr>
      </p:sp>
      <p:sp>
        <p:nvSpPr>
          <p:cNvPr id="17" name="Text 15"/>
          <p:cNvSpPr/>
          <p:nvPr/>
        </p:nvSpPr>
        <p:spPr>
          <a:xfrm>
            <a:off x="4983480" y="1024128"/>
            <a:ext cx="3657600" cy="292608"/>
          </a:xfrm>
          <a:prstGeom prst="rect">
            <a:avLst/>
          </a:prstGeom>
          <a:noFill/>
          <a:ln/>
        </p:spPr>
        <p:txBody>
          <a:bodyPr wrap="square" lIns="0" tIns="0" rIns="0" bIns="0" rtlCol="0" anchor="ctr"/>
          <a:lstStyle/>
          <a:p>
            <a:pPr marL="0" indent="0">
              <a:buNone/>
            </a:pPr>
            <a:r>
              <a:rPr lang="en-US" sz="1400" b="1" dirty="0">
                <a:solidFill>
                  <a:srgbClr val="1A6E8E"/>
                </a:solidFill>
                <a:latin typeface="Calibri" pitchFamily="34" charset="0"/>
                <a:ea typeface="Calibri" pitchFamily="34" charset="-122"/>
                <a:cs typeface="Calibri" pitchFamily="34" charset="-120"/>
              </a:rPr>
              <a:t>Boxplot: Global Price Distribution</a:t>
            </a:r>
            <a:endParaRPr lang="en-US" sz="1400" dirty="0"/>
          </a:p>
        </p:txBody>
      </p:sp>
      <p:sp>
        <p:nvSpPr>
          <p:cNvPr id="18" name="Text 16"/>
          <p:cNvSpPr/>
          <p:nvPr/>
        </p:nvSpPr>
        <p:spPr>
          <a:xfrm>
            <a:off x="4983480" y="1444752"/>
            <a:ext cx="1463040" cy="274320"/>
          </a:xfrm>
          <a:prstGeom prst="rect">
            <a:avLst/>
          </a:prstGeom>
          <a:noFill/>
          <a:ln/>
        </p:spPr>
        <p:txBody>
          <a:bodyPr wrap="square" lIns="0" tIns="0" rIns="0" bIns="0" rtlCol="0" anchor="ctr"/>
          <a:lstStyle/>
          <a:p>
            <a:pPr marL="0" indent="0">
              <a:buNone/>
            </a:pPr>
            <a:r>
              <a:rPr lang="en-US" sz="1100" b="1" dirty="0">
                <a:solidFill>
                  <a:srgbClr val="0A3D62"/>
                </a:solidFill>
                <a:latin typeface="Calibri" pitchFamily="34" charset="0"/>
                <a:ea typeface="Calibri" pitchFamily="34" charset="-122"/>
                <a:cs typeface="Calibri" pitchFamily="34" charset="-120"/>
              </a:rPr>
              <a:t>▸ Meat &amp; Fish:</a:t>
            </a:r>
            <a:endParaRPr lang="en-US" sz="1100" dirty="0"/>
          </a:p>
        </p:txBody>
      </p:sp>
      <p:sp>
        <p:nvSpPr>
          <p:cNvPr id="19" name="Text 17"/>
          <p:cNvSpPr/>
          <p:nvPr/>
        </p:nvSpPr>
        <p:spPr>
          <a:xfrm>
            <a:off x="6492240" y="1444752"/>
            <a:ext cx="2194560" cy="274320"/>
          </a:xfrm>
          <a:prstGeom prst="rect">
            <a:avLst/>
          </a:prstGeom>
          <a:noFill/>
          <a:ln/>
        </p:spPr>
        <p:txBody>
          <a:bodyPr wrap="square" lIns="0" tIns="0" rIns="0" bIns="0" rtlCol="0" anchor="ctr"/>
          <a:lstStyle/>
          <a:p>
            <a:pPr marL="0" indent="0">
              <a:buNone/>
            </a:pPr>
            <a:r>
              <a:rPr lang="en-US" sz="1100" dirty="0">
                <a:solidFill>
                  <a:srgbClr val="1C2A35"/>
                </a:solidFill>
                <a:latin typeface="Calibri" pitchFamily="34" charset="0"/>
                <a:ea typeface="Calibri" pitchFamily="34" charset="-122"/>
                <a:cs typeface="Calibri" pitchFamily="34" charset="-120"/>
              </a:rPr>
              <a:t>Widest IQR — high global variance</a:t>
            </a:r>
            <a:endParaRPr lang="en-US" sz="1100" dirty="0"/>
          </a:p>
        </p:txBody>
      </p:sp>
      <p:sp>
        <p:nvSpPr>
          <p:cNvPr id="20" name="Text 18"/>
          <p:cNvSpPr/>
          <p:nvPr/>
        </p:nvSpPr>
        <p:spPr>
          <a:xfrm>
            <a:off x="4983480" y="1764792"/>
            <a:ext cx="1463040" cy="274320"/>
          </a:xfrm>
          <a:prstGeom prst="rect">
            <a:avLst/>
          </a:prstGeom>
          <a:noFill/>
          <a:ln/>
        </p:spPr>
        <p:txBody>
          <a:bodyPr wrap="square" lIns="0" tIns="0" rIns="0" bIns="0" rtlCol="0" anchor="ctr"/>
          <a:lstStyle/>
          <a:p>
            <a:pPr marL="0" indent="0">
              <a:buNone/>
            </a:pPr>
            <a:r>
              <a:rPr lang="en-US" sz="1100" b="1" dirty="0">
                <a:solidFill>
                  <a:srgbClr val="0A3D62"/>
                </a:solidFill>
                <a:latin typeface="Calibri" pitchFamily="34" charset="0"/>
                <a:ea typeface="Calibri" pitchFamily="34" charset="-122"/>
                <a:cs typeface="Calibri" pitchFamily="34" charset="-120"/>
              </a:rPr>
              <a:t>▸ Rice &amp; Bread:</a:t>
            </a:r>
            <a:endParaRPr lang="en-US" sz="1100" dirty="0"/>
          </a:p>
        </p:txBody>
      </p:sp>
      <p:sp>
        <p:nvSpPr>
          <p:cNvPr id="21" name="Text 19"/>
          <p:cNvSpPr/>
          <p:nvPr/>
        </p:nvSpPr>
        <p:spPr>
          <a:xfrm>
            <a:off x="6492240" y="1764792"/>
            <a:ext cx="2194560" cy="274320"/>
          </a:xfrm>
          <a:prstGeom prst="rect">
            <a:avLst/>
          </a:prstGeom>
          <a:noFill/>
          <a:ln/>
        </p:spPr>
        <p:txBody>
          <a:bodyPr wrap="square" lIns="0" tIns="0" rIns="0" bIns="0" rtlCol="0" anchor="ctr"/>
          <a:lstStyle/>
          <a:p>
            <a:pPr marL="0" indent="0">
              <a:buNone/>
            </a:pPr>
            <a:r>
              <a:rPr lang="en-US" sz="1100" dirty="0">
                <a:solidFill>
                  <a:srgbClr val="1C2A35"/>
                </a:solidFill>
                <a:latin typeface="Calibri" pitchFamily="34" charset="0"/>
                <a:ea typeface="Calibri" pitchFamily="34" charset="-122"/>
                <a:cs typeface="Calibri" pitchFamily="34" charset="-120"/>
              </a:rPr>
              <a:t>Tight distribution — stable staples</a:t>
            </a:r>
            <a:endParaRPr lang="en-US" sz="1100" dirty="0"/>
          </a:p>
        </p:txBody>
      </p:sp>
      <p:sp>
        <p:nvSpPr>
          <p:cNvPr id="22" name="Text 20"/>
          <p:cNvSpPr/>
          <p:nvPr/>
        </p:nvSpPr>
        <p:spPr>
          <a:xfrm>
            <a:off x="4983480" y="2084832"/>
            <a:ext cx="1463040" cy="274320"/>
          </a:xfrm>
          <a:prstGeom prst="rect">
            <a:avLst/>
          </a:prstGeom>
          <a:noFill/>
          <a:ln/>
        </p:spPr>
        <p:txBody>
          <a:bodyPr wrap="square" lIns="0" tIns="0" rIns="0" bIns="0" rtlCol="0" anchor="ctr"/>
          <a:lstStyle/>
          <a:p>
            <a:pPr marL="0" indent="0">
              <a:buNone/>
            </a:pPr>
            <a:r>
              <a:rPr lang="en-US" sz="1100" b="1" dirty="0">
                <a:solidFill>
                  <a:srgbClr val="0A3D62"/>
                </a:solidFill>
                <a:latin typeface="Calibri" pitchFamily="34" charset="0"/>
                <a:ea typeface="Calibri" pitchFamily="34" charset="-122"/>
                <a:cs typeface="Calibri" pitchFamily="34" charset="-120"/>
              </a:rPr>
              <a:t>▸ Water:</a:t>
            </a:r>
            <a:endParaRPr lang="en-US" sz="1100" dirty="0"/>
          </a:p>
        </p:txBody>
      </p:sp>
      <p:sp>
        <p:nvSpPr>
          <p:cNvPr id="23" name="Text 21"/>
          <p:cNvSpPr/>
          <p:nvPr/>
        </p:nvSpPr>
        <p:spPr>
          <a:xfrm>
            <a:off x="6492240" y="2084832"/>
            <a:ext cx="2194560" cy="274320"/>
          </a:xfrm>
          <a:prstGeom prst="rect">
            <a:avLst/>
          </a:prstGeom>
          <a:noFill/>
          <a:ln/>
        </p:spPr>
        <p:txBody>
          <a:bodyPr wrap="square" lIns="0" tIns="0" rIns="0" bIns="0" rtlCol="0" anchor="ctr"/>
          <a:lstStyle/>
          <a:p>
            <a:pPr marL="0" indent="0">
              <a:buNone/>
            </a:pPr>
            <a:r>
              <a:rPr lang="en-US" sz="1100" dirty="0">
                <a:solidFill>
                  <a:srgbClr val="1C2A35"/>
                </a:solidFill>
                <a:latin typeface="Calibri" pitchFamily="34" charset="0"/>
                <a:ea typeface="Calibri" pitchFamily="34" charset="-122"/>
                <a:cs typeface="Calibri" pitchFamily="34" charset="-120"/>
              </a:rPr>
              <a:t>Near-zero median, extreme outliers</a:t>
            </a:r>
            <a:endParaRPr lang="en-US" sz="1100" dirty="0"/>
          </a:p>
        </p:txBody>
      </p:sp>
      <p:sp>
        <p:nvSpPr>
          <p:cNvPr id="24" name="Text 22"/>
          <p:cNvSpPr/>
          <p:nvPr/>
        </p:nvSpPr>
        <p:spPr>
          <a:xfrm>
            <a:off x="4983480" y="2404872"/>
            <a:ext cx="1463040" cy="274320"/>
          </a:xfrm>
          <a:prstGeom prst="rect">
            <a:avLst/>
          </a:prstGeom>
          <a:noFill/>
          <a:ln/>
        </p:spPr>
        <p:txBody>
          <a:bodyPr wrap="square" lIns="0" tIns="0" rIns="0" bIns="0" rtlCol="0" anchor="ctr"/>
          <a:lstStyle/>
          <a:p>
            <a:pPr marL="0" indent="0">
              <a:buNone/>
            </a:pPr>
            <a:r>
              <a:rPr lang="en-US" sz="1100" b="1" dirty="0">
                <a:solidFill>
                  <a:srgbClr val="0A3D62"/>
                </a:solidFill>
                <a:latin typeface="Calibri" pitchFamily="34" charset="0"/>
                <a:ea typeface="Calibri" pitchFamily="34" charset="-122"/>
                <a:cs typeface="Calibri" pitchFamily="34" charset="-120"/>
              </a:rPr>
              <a:t>▸ Exchange Rate:</a:t>
            </a:r>
            <a:endParaRPr lang="en-US" sz="1100" dirty="0"/>
          </a:p>
        </p:txBody>
      </p:sp>
      <p:sp>
        <p:nvSpPr>
          <p:cNvPr id="25" name="Text 23"/>
          <p:cNvSpPr/>
          <p:nvPr/>
        </p:nvSpPr>
        <p:spPr>
          <a:xfrm>
            <a:off x="6492240" y="2404872"/>
            <a:ext cx="2194560" cy="274320"/>
          </a:xfrm>
          <a:prstGeom prst="rect">
            <a:avLst/>
          </a:prstGeom>
          <a:noFill/>
          <a:ln/>
        </p:spPr>
        <p:txBody>
          <a:bodyPr wrap="square" lIns="0" tIns="0" rIns="0" bIns="0" rtlCol="0" anchor="ctr"/>
          <a:lstStyle/>
          <a:p>
            <a:pPr marL="0" indent="0">
              <a:buNone/>
            </a:pPr>
            <a:r>
              <a:rPr lang="en-US" sz="1100" dirty="0">
                <a:solidFill>
                  <a:srgbClr val="1C2A35"/>
                </a:solidFill>
                <a:latin typeface="Calibri" pitchFamily="34" charset="0"/>
                <a:ea typeface="Calibri" pitchFamily="34" charset="-122"/>
                <a:cs typeface="Calibri" pitchFamily="34" charset="-120"/>
              </a:rPr>
              <a:t>Widest range — reflects currency risk</a:t>
            </a:r>
            <a:endParaRPr lang="en-US" sz="1100" dirty="0"/>
          </a:p>
        </p:txBody>
      </p:sp>
      <p:sp>
        <p:nvSpPr>
          <p:cNvPr id="26" name="Shape 24"/>
          <p:cNvSpPr/>
          <p:nvPr/>
        </p:nvSpPr>
        <p:spPr>
          <a:xfrm>
            <a:off x="4846320" y="2926080"/>
            <a:ext cx="3931920" cy="1920240"/>
          </a:xfrm>
          <a:prstGeom prst="roundRect">
            <a:avLst>
              <a:gd name="adj" fmla="val 3810"/>
            </a:avLst>
          </a:prstGeom>
          <a:solidFill>
            <a:srgbClr val="EAF4F8"/>
          </a:solidFill>
          <a:ln/>
          <a:effectLst>
            <a:outerShdw blurRad="101600" dist="25400" dir="2700000" algn="bl" rotWithShape="0">
              <a:srgbClr val="000000">
                <a:alpha val="10000"/>
              </a:srgbClr>
            </a:outerShdw>
          </a:effectLst>
        </p:spPr>
      </p:sp>
      <p:sp>
        <p:nvSpPr>
          <p:cNvPr id="27" name="Text 25"/>
          <p:cNvSpPr/>
          <p:nvPr/>
        </p:nvSpPr>
        <p:spPr>
          <a:xfrm>
            <a:off x="4983480" y="2990088"/>
            <a:ext cx="3657600" cy="292608"/>
          </a:xfrm>
          <a:prstGeom prst="rect">
            <a:avLst/>
          </a:prstGeom>
          <a:noFill/>
          <a:ln/>
        </p:spPr>
        <p:txBody>
          <a:bodyPr wrap="square" lIns="0" tIns="0" rIns="0" bIns="0" rtlCol="0" anchor="ctr"/>
          <a:lstStyle/>
          <a:p>
            <a:pPr marL="0" indent="0">
              <a:buNone/>
            </a:pPr>
            <a:r>
              <a:rPr lang="en-US" sz="1400" b="1" dirty="0">
                <a:solidFill>
                  <a:srgbClr val="1A6E8E"/>
                </a:solidFill>
                <a:latin typeface="Calibri" pitchFamily="34" charset="0"/>
                <a:ea typeface="Calibri" pitchFamily="34" charset="-122"/>
                <a:cs typeface="Calibri" pitchFamily="34" charset="-120"/>
              </a:rPr>
              <a:t>Country Descriptive Statistics</a:t>
            </a:r>
            <a:endParaRPr lang="en-US" sz="1400" dirty="0"/>
          </a:p>
        </p:txBody>
      </p:sp>
      <p:sp>
        <p:nvSpPr>
          <p:cNvPr id="28" name="Text 26"/>
          <p:cNvSpPr/>
          <p:nvPr/>
        </p:nvSpPr>
        <p:spPr>
          <a:xfrm>
            <a:off x="4983480" y="3401568"/>
            <a:ext cx="1280160" cy="292608"/>
          </a:xfrm>
          <a:prstGeom prst="rect">
            <a:avLst/>
          </a:prstGeom>
          <a:noFill/>
          <a:ln/>
        </p:spPr>
        <p:txBody>
          <a:bodyPr wrap="square" lIns="0" tIns="0" rIns="0" bIns="0" rtlCol="0" anchor="ctr"/>
          <a:lstStyle/>
          <a:p>
            <a:pPr marL="0" indent="0">
              <a:buNone/>
            </a:pPr>
            <a:r>
              <a:rPr lang="en-US" sz="1100" b="1" dirty="0">
                <a:solidFill>
                  <a:srgbClr val="0A3D62"/>
                </a:solidFill>
                <a:latin typeface="Calibri" pitchFamily="34" charset="0"/>
                <a:ea typeface="Calibri" pitchFamily="34" charset="-122"/>
                <a:cs typeface="Calibri" pitchFamily="34" charset="-120"/>
              </a:rPr>
              <a:t>🌍 India:</a:t>
            </a:r>
            <a:endParaRPr lang="en-US" sz="1100" dirty="0"/>
          </a:p>
        </p:txBody>
      </p:sp>
      <p:sp>
        <p:nvSpPr>
          <p:cNvPr id="29" name="Text 27"/>
          <p:cNvSpPr/>
          <p:nvPr/>
        </p:nvSpPr>
        <p:spPr>
          <a:xfrm>
            <a:off x="6309360" y="3401568"/>
            <a:ext cx="2377440" cy="292608"/>
          </a:xfrm>
          <a:prstGeom prst="rect">
            <a:avLst/>
          </a:prstGeom>
          <a:noFill/>
          <a:ln/>
        </p:spPr>
        <p:txBody>
          <a:bodyPr wrap="square" lIns="0" tIns="0" rIns="0" bIns="0" rtlCol="0" anchor="ctr"/>
          <a:lstStyle/>
          <a:p>
            <a:pPr marL="0" indent="0">
              <a:buNone/>
            </a:pPr>
            <a:r>
              <a:rPr lang="en-US" sz="1100" dirty="0">
                <a:solidFill>
                  <a:srgbClr val="1C2A35"/>
                </a:solidFill>
                <a:latin typeface="Calibri" pitchFamily="34" charset="0"/>
                <a:ea typeface="Calibri" pitchFamily="34" charset="-122"/>
                <a:cs typeface="Calibri" pitchFamily="34" charset="-120"/>
              </a:rPr>
              <a:t>Largest dataset — most reliable</a:t>
            </a:r>
            <a:endParaRPr lang="en-US" sz="1100" dirty="0"/>
          </a:p>
        </p:txBody>
      </p:sp>
      <p:sp>
        <p:nvSpPr>
          <p:cNvPr id="30" name="Text 28"/>
          <p:cNvSpPr/>
          <p:nvPr/>
        </p:nvSpPr>
        <p:spPr>
          <a:xfrm>
            <a:off x="4983480" y="3749040"/>
            <a:ext cx="1280160" cy="292608"/>
          </a:xfrm>
          <a:prstGeom prst="rect">
            <a:avLst/>
          </a:prstGeom>
          <a:noFill/>
          <a:ln/>
        </p:spPr>
        <p:txBody>
          <a:bodyPr wrap="square" lIns="0" tIns="0" rIns="0" bIns="0" rtlCol="0" anchor="ctr"/>
          <a:lstStyle/>
          <a:p>
            <a:pPr marL="0" indent="0">
              <a:buNone/>
            </a:pPr>
            <a:r>
              <a:rPr lang="en-US" sz="1100" b="1" dirty="0">
                <a:solidFill>
                  <a:srgbClr val="0A3D62"/>
                </a:solidFill>
                <a:latin typeface="Calibri" pitchFamily="34" charset="0"/>
                <a:ea typeface="Calibri" pitchFamily="34" charset="-122"/>
                <a:cs typeface="Calibri" pitchFamily="34" charset="-120"/>
              </a:rPr>
              <a:t>🌍 Ukraine:</a:t>
            </a:r>
            <a:endParaRPr lang="en-US" sz="1100" dirty="0"/>
          </a:p>
        </p:txBody>
      </p:sp>
      <p:sp>
        <p:nvSpPr>
          <p:cNvPr id="31" name="Text 29"/>
          <p:cNvSpPr/>
          <p:nvPr/>
        </p:nvSpPr>
        <p:spPr>
          <a:xfrm>
            <a:off x="6309360" y="3749040"/>
            <a:ext cx="2377440" cy="292608"/>
          </a:xfrm>
          <a:prstGeom prst="rect">
            <a:avLst/>
          </a:prstGeom>
          <a:noFill/>
          <a:ln/>
        </p:spPr>
        <p:txBody>
          <a:bodyPr wrap="square" lIns="0" tIns="0" rIns="0" bIns="0" rtlCol="0" anchor="ctr"/>
          <a:lstStyle/>
          <a:p>
            <a:pPr marL="0" indent="0">
              <a:buNone/>
            </a:pPr>
            <a:r>
              <a:rPr lang="en-US" sz="1100" dirty="0">
                <a:solidFill>
                  <a:srgbClr val="1C2A35"/>
                </a:solidFill>
                <a:latin typeface="Calibri" pitchFamily="34" charset="0"/>
                <a:ea typeface="Calibri" pitchFamily="34" charset="-122"/>
                <a:cs typeface="Calibri" pitchFamily="34" charset="-120"/>
              </a:rPr>
              <a:t>Dramatic post-2014 price spikes</a:t>
            </a:r>
            <a:endParaRPr lang="en-US" sz="1100" dirty="0"/>
          </a:p>
        </p:txBody>
      </p:sp>
      <p:sp>
        <p:nvSpPr>
          <p:cNvPr id="32" name="Text 30"/>
          <p:cNvSpPr/>
          <p:nvPr/>
        </p:nvSpPr>
        <p:spPr>
          <a:xfrm>
            <a:off x="4983480" y="4096512"/>
            <a:ext cx="1280160" cy="292608"/>
          </a:xfrm>
          <a:prstGeom prst="rect">
            <a:avLst/>
          </a:prstGeom>
          <a:noFill/>
          <a:ln/>
        </p:spPr>
        <p:txBody>
          <a:bodyPr wrap="square" lIns="0" tIns="0" rIns="0" bIns="0" rtlCol="0" anchor="ctr"/>
          <a:lstStyle/>
          <a:p>
            <a:pPr marL="0" indent="0">
              <a:buNone/>
            </a:pPr>
            <a:r>
              <a:rPr lang="en-US" sz="1100" b="1" dirty="0">
                <a:solidFill>
                  <a:srgbClr val="0A3D62"/>
                </a:solidFill>
                <a:latin typeface="Calibri" pitchFamily="34" charset="0"/>
                <a:ea typeface="Calibri" pitchFamily="34" charset="-122"/>
                <a:cs typeface="Calibri" pitchFamily="34" charset="-120"/>
              </a:rPr>
              <a:t>🌍 Mali:</a:t>
            </a:r>
            <a:endParaRPr lang="en-US" sz="1100" dirty="0"/>
          </a:p>
        </p:txBody>
      </p:sp>
      <p:sp>
        <p:nvSpPr>
          <p:cNvPr id="33" name="Text 31"/>
          <p:cNvSpPr/>
          <p:nvPr/>
        </p:nvSpPr>
        <p:spPr>
          <a:xfrm>
            <a:off x="6309360" y="4096512"/>
            <a:ext cx="2377440" cy="292608"/>
          </a:xfrm>
          <a:prstGeom prst="rect">
            <a:avLst/>
          </a:prstGeom>
          <a:noFill/>
          <a:ln/>
        </p:spPr>
        <p:txBody>
          <a:bodyPr wrap="square" lIns="0" tIns="0" rIns="0" bIns="0" rtlCol="0" anchor="ctr"/>
          <a:lstStyle/>
          <a:p>
            <a:pPr marL="0" indent="0">
              <a:buNone/>
            </a:pPr>
            <a:r>
              <a:rPr lang="en-US" sz="1100" dirty="0">
                <a:solidFill>
                  <a:srgbClr val="1C2A35"/>
                </a:solidFill>
                <a:latin typeface="Calibri" pitchFamily="34" charset="0"/>
                <a:ea typeface="Calibri" pitchFamily="34" charset="-122"/>
                <a:cs typeface="Calibri" pitchFamily="34" charset="-120"/>
              </a:rPr>
              <a:t>Seasonal rice price volatility</a:t>
            </a:r>
            <a:endParaRPr lang="en-US" sz="1100" dirty="0"/>
          </a:p>
        </p:txBody>
      </p:sp>
      <p:sp>
        <p:nvSpPr>
          <p:cNvPr id="34" name="Text 32"/>
          <p:cNvSpPr/>
          <p:nvPr/>
        </p:nvSpPr>
        <p:spPr>
          <a:xfrm>
            <a:off x="4983480" y="4443984"/>
            <a:ext cx="1280160" cy="292608"/>
          </a:xfrm>
          <a:prstGeom prst="rect">
            <a:avLst/>
          </a:prstGeom>
          <a:noFill/>
          <a:ln/>
        </p:spPr>
        <p:txBody>
          <a:bodyPr wrap="square" lIns="0" tIns="0" rIns="0" bIns="0" rtlCol="0" anchor="ctr"/>
          <a:lstStyle/>
          <a:p>
            <a:pPr marL="0" indent="0">
              <a:buNone/>
            </a:pPr>
            <a:r>
              <a:rPr lang="en-US" sz="1100" b="1" dirty="0">
                <a:solidFill>
                  <a:srgbClr val="0A3D62"/>
                </a:solidFill>
                <a:latin typeface="Calibri" pitchFamily="34" charset="0"/>
                <a:ea typeface="Calibri" pitchFamily="34" charset="-122"/>
                <a:cs typeface="Calibri" pitchFamily="34" charset="-120"/>
              </a:rPr>
              <a:t>🌍 Niger:</a:t>
            </a:r>
            <a:endParaRPr lang="en-US" sz="1100" dirty="0"/>
          </a:p>
        </p:txBody>
      </p:sp>
      <p:sp>
        <p:nvSpPr>
          <p:cNvPr id="35" name="Text 33"/>
          <p:cNvSpPr/>
          <p:nvPr/>
        </p:nvSpPr>
        <p:spPr>
          <a:xfrm>
            <a:off x="6309360" y="4443984"/>
            <a:ext cx="2377440" cy="292608"/>
          </a:xfrm>
          <a:prstGeom prst="rect">
            <a:avLst/>
          </a:prstGeom>
          <a:noFill/>
          <a:ln/>
        </p:spPr>
        <p:txBody>
          <a:bodyPr wrap="square" lIns="0" tIns="0" rIns="0" bIns="0" rtlCol="0" anchor="ctr"/>
          <a:lstStyle/>
          <a:p>
            <a:pPr marL="0" indent="0">
              <a:buNone/>
            </a:pPr>
            <a:r>
              <a:rPr lang="en-US" sz="1100" dirty="0">
                <a:solidFill>
                  <a:srgbClr val="1C2A35"/>
                </a:solidFill>
                <a:latin typeface="Calibri" pitchFamily="34" charset="0"/>
                <a:ea typeface="Calibri" pitchFamily="34" charset="-122"/>
                <a:cs typeface="Calibri" pitchFamily="34" charset="-120"/>
              </a:rPr>
              <a:t>Consistently elevated prices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buNone/>
            </a:pPr>
            <a:r>
              <a:rPr lang="en-US" sz="3000" b="1" dirty="0">
                <a:solidFill>
                  <a:srgbClr val="0A3D62"/>
                </a:solidFill>
                <a:latin typeface="Calibri" pitchFamily="34" charset="0"/>
                <a:ea typeface="Calibri" pitchFamily="34" charset="-122"/>
                <a:cs typeface="Calibri" pitchFamily="34" charset="-120"/>
              </a:rPr>
              <a:t>Country Trends: India &amp; Ukraine</a:t>
            </a:r>
            <a:endParaRPr lang="en-US" sz="3000" dirty="0"/>
          </a:p>
        </p:txBody>
      </p:sp>
      <p:sp>
        <p:nvSpPr>
          <p:cNvPr id="3" name="Shape 1"/>
          <p:cNvSpPr/>
          <p:nvPr/>
        </p:nvSpPr>
        <p:spPr>
          <a:xfrm>
            <a:off x="365760" y="960120"/>
            <a:ext cx="4114800" cy="3886200"/>
          </a:xfrm>
          <a:prstGeom prst="roundRect">
            <a:avLst>
              <a:gd name="adj" fmla="val 1882"/>
            </a:avLst>
          </a:prstGeom>
          <a:solidFill>
            <a:srgbClr val="EAF4F8"/>
          </a:solidFill>
          <a:ln/>
          <a:effectLst>
            <a:outerShdw blurRad="101600" dist="25400" dir="2700000" algn="bl" rotWithShape="0">
              <a:srgbClr val="000000">
                <a:alpha val="10000"/>
              </a:srgbClr>
            </a:outerShdw>
          </a:effectLst>
        </p:spPr>
      </p:sp>
      <p:sp>
        <p:nvSpPr>
          <p:cNvPr id="4" name="Text 2"/>
          <p:cNvSpPr/>
          <p:nvPr/>
        </p:nvSpPr>
        <p:spPr>
          <a:xfrm>
            <a:off x="502920" y="1024128"/>
            <a:ext cx="3840480" cy="365760"/>
          </a:xfrm>
          <a:prstGeom prst="rect">
            <a:avLst/>
          </a:prstGeom>
          <a:noFill/>
          <a:ln/>
        </p:spPr>
        <p:txBody>
          <a:bodyPr wrap="square" lIns="0" tIns="0" rIns="0" bIns="0" rtlCol="0" anchor="ctr"/>
          <a:lstStyle/>
          <a:p>
            <a:pPr marL="0" indent="0">
              <a:buNone/>
            </a:pPr>
            <a:r>
              <a:rPr lang="en-US" sz="1800" b="1" dirty="0">
                <a:solidFill>
                  <a:srgbClr val="1A6E8E"/>
                </a:solidFill>
                <a:latin typeface="Calibri" pitchFamily="34" charset="0"/>
                <a:ea typeface="Calibri" pitchFamily="34" charset="-122"/>
                <a:cs typeface="Calibri" pitchFamily="34" charset="-120"/>
              </a:rPr>
              <a:t>🇮🇳  India</a:t>
            </a:r>
            <a:endParaRPr lang="en-US" sz="1800" dirty="0"/>
          </a:p>
        </p:txBody>
      </p:sp>
      <p:graphicFrame>
        <p:nvGraphicFramePr>
          <p:cNvPr id="5" name="Chart 0"/>
          <p:cNvGraphicFramePr/>
          <p:nvPr/>
        </p:nvGraphicFramePr>
        <p:xfrm>
          <a:off x="411480" y="1481328"/>
          <a:ext cx="402336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02920" y="3886200"/>
            <a:ext cx="3840480" cy="685800"/>
          </a:xfrm>
          <a:prstGeom prst="rect">
            <a:avLst/>
          </a:prstGeom>
          <a:noFill/>
          <a:ln/>
        </p:spPr>
        <p:txBody>
          <a:bodyPr wrap="square" rtlCol="0" anchor="ctr"/>
          <a:lstStyle/>
          <a:p>
            <a:pPr marL="0" indent="0">
              <a:buNone/>
            </a:pPr>
            <a:r>
              <a:rPr lang="en-US" sz="1000" dirty="0">
                <a:solidFill>
                  <a:srgbClr val="1C2A35"/>
                </a:solidFill>
                <a:latin typeface="Calibri" pitchFamily="34" charset="0"/>
                <a:ea typeface="Calibri" pitchFamily="34" charset="-122"/>
                <a:cs typeface="Calibri" pitchFamily="34" charset="-120"/>
              </a:rPr>
              <a:t>📌 Steady annual inflation in Rice (+8.3% avg/yr) and Milk (+10.2% avg/yr) driven by growing demand and input costs.</a:t>
            </a:r>
            <a:endParaRPr lang="en-US" sz="1000" dirty="0"/>
          </a:p>
        </p:txBody>
      </p:sp>
      <p:sp>
        <p:nvSpPr>
          <p:cNvPr id="7" name="Shape 4"/>
          <p:cNvSpPr/>
          <p:nvPr/>
        </p:nvSpPr>
        <p:spPr>
          <a:xfrm>
            <a:off x="4754880" y="960120"/>
            <a:ext cx="4114800" cy="3886200"/>
          </a:xfrm>
          <a:prstGeom prst="roundRect">
            <a:avLst>
              <a:gd name="adj" fmla="val 1882"/>
            </a:avLst>
          </a:prstGeom>
          <a:solidFill>
            <a:srgbClr val="EAF4F8"/>
          </a:solidFill>
          <a:ln/>
          <a:effectLst>
            <a:outerShdw blurRad="101600" dist="25400" dir="2700000" algn="bl" rotWithShape="0">
              <a:srgbClr val="000000">
                <a:alpha val="10000"/>
              </a:srgbClr>
            </a:outerShdw>
          </a:effectLst>
        </p:spPr>
      </p:sp>
      <p:sp>
        <p:nvSpPr>
          <p:cNvPr id="8" name="Text 5"/>
          <p:cNvSpPr/>
          <p:nvPr/>
        </p:nvSpPr>
        <p:spPr>
          <a:xfrm>
            <a:off x="4892040" y="1024128"/>
            <a:ext cx="3840480" cy="365760"/>
          </a:xfrm>
          <a:prstGeom prst="rect">
            <a:avLst/>
          </a:prstGeom>
          <a:noFill/>
          <a:ln/>
        </p:spPr>
        <p:txBody>
          <a:bodyPr wrap="square" lIns="0" tIns="0" rIns="0" bIns="0" rtlCol="0" anchor="ctr"/>
          <a:lstStyle/>
          <a:p>
            <a:pPr marL="0" indent="0">
              <a:buNone/>
            </a:pPr>
            <a:r>
              <a:rPr lang="en-US" sz="1800" b="1" dirty="0">
                <a:solidFill>
                  <a:srgbClr val="1A6E8E"/>
                </a:solidFill>
                <a:latin typeface="Calibri" pitchFamily="34" charset="0"/>
                <a:ea typeface="Calibri" pitchFamily="34" charset="-122"/>
                <a:cs typeface="Calibri" pitchFamily="34" charset="-120"/>
              </a:rPr>
              <a:t>🇺🇦  Ukraine</a:t>
            </a:r>
            <a:endParaRPr lang="en-US" sz="1800" dirty="0"/>
          </a:p>
        </p:txBody>
      </p:sp>
      <p:graphicFrame>
        <p:nvGraphicFramePr>
          <p:cNvPr id="9" name="Chart 1"/>
          <p:cNvGraphicFramePr/>
          <p:nvPr/>
        </p:nvGraphicFramePr>
        <p:xfrm>
          <a:off x="4800600" y="1481328"/>
          <a:ext cx="402336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6"/>
          <p:cNvSpPr/>
          <p:nvPr/>
        </p:nvSpPr>
        <p:spPr>
          <a:xfrm>
            <a:off x="4892040" y="3886200"/>
            <a:ext cx="3840480" cy="685800"/>
          </a:xfrm>
          <a:prstGeom prst="rect">
            <a:avLst/>
          </a:prstGeom>
          <a:noFill/>
          <a:ln/>
        </p:spPr>
        <p:txBody>
          <a:bodyPr wrap="square" rtlCol="0" anchor="ctr"/>
          <a:lstStyle/>
          <a:p>
            <a:pPr marL="0" indent="0">
              <a:buNone/>
            </a:pPr>
            <a:r>
              <a:rPr lang="en-US" sz="1000" dirty="0">
                <a:solidFill>
                  <a:srgbClr val="1C2A35"/>
                </a:solidFill>
                <a:latin typeface="Calibri" pitchFamily="34" charset="0"/>
                <a:ea typeface="Calibri" pitchFamily="34" charset="-122"/>
                <a:cs typeface="Calibri" pitchFamily="34" charset="-120"/>
              </a:rPr>
              <a:t>📌 Sharp spike in 2014–2015 correlates with geopolitical crisis and currency devaluation — tripling UAH food prices.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buNone/>
            </a:pPr>
            <a:r>
              <a:rPr lang="en-US" sz="3000" b="1" dirty="0">
                <a:solidFill>
                  <a:srgbClr val="0A3D62"/>
                </a:solidFill>
                <a:latin typeface="Calibri" pitchFamily="34" charset="0"/>
                <a:ea typeface="Calibri" pitchFamily="34" charset="-122"/>
                <a:cs typeface="Calibri" pitchFamily="34" charset="-120"/>
              </a:rPr>
              <a:t>Country Trends: Mali &amp; Niger</a:t>
            </a:r>
            <a:endParaRPr lang="en-US" sz="3000" dirty="0"/>
          </a:p>
        </p:txBody>
      </p:sp>
      <p:sp>
        <p:nvSpPr>
          <p:cNvPr id="3" name="Shape 1"/>
          <p:cNvSpPr/>
          <p:nvPr/>
        </p:nvSpPr>
        <p:spPr>
          <a:xfrm>
            <a:off x="365760" y="960120"/>
            <a:ext cx="4114800" cy="3886200"/>
          </a:xfrm>
          <a:prstGeom prst="roundRect">
            <a:avLst>
              <a:gd name="adj" fmla="val 1882"/>
            </a:avLst>
          </a:prstGeom>
          <a:solidFill>
            <a:srgbClr val="EAF4F8"/>
          </a:solidFill>
          <a:ln/>
          <a:effectLst>
            <a:outerShdw blurRad="101600" dist="25400" dir="2700000" algn="bl" rotWithShape="0">
              <a:srgbClr val="000000">
                <a:alpha val="10000"/>
              </a:srgbClr>
            </a:outerShdw>
          </a:effectLst>
        </p:spPr>
      </p:sp>
      <p:sp>
        <p:nvSpPr>
          <p:cNvPr id="4" name="Text 2"/>
          <p:cNvSpPr/>
          <p:nvPr/>
        </p:nvSpPr>
        <p:spPr>
          <a:xfrm>
            <a:off x="502920" y="1024128"/>
            <a:ext cx="3840480" cy="365760"/>
          </a:xfrm>
          <a:prstGeom prst="rect">
            <a:avLst/>
          </a:prstGeom>
          <a:noFill/>
          <a:ln/>
        </p:spPr>
        <p:txBody>
          <a:bodyPr wrap="square" lIns="0" tIns="0" rIns="0" bIns="0" rtlCol="0" anchor="ctr"/>
          <a:lstStyle/>
          <a:p>
            <a:pPr marL="0" indent="0">
              <a:buNone/>
            </a:pPr>
            <a:r>
              <a:rPr lang="en-US" sz="1800" b="1" dirty="0">
                <a:solidFill>
                  <a:srgbClr val="1A6E8E"/>
                </a:solidFill>
                <a:latin typeface="Calibri" pitchFamily="34" charset="0"/>
                <a:ea typeface="Calibri" pitchFamily="34" charset="-122"/>
                <a:cs typeface="Calibri" pitchFamily="34" charset="-120"/>
              </a:rPr>
              <a:t>🇲🇱  Mali</a:t>
            </a:r>
            <a:endParaRPr lang="en-US" sz="1800" dirty="0"/>
          </a:p>
        </p:txBody>
      </p:sp>
      <p:graphicFrame>
        <p:nvGraphicFramePr>
          <p:cNvPr id="5" name="Chart 0"/>
          <p:cNvGraphicFramePr/>
          <p:nvPr/>
        </p:nvGraphicFramePr>
        <p:xfrm>
          <a:off x="411480" y="1481328"/>
          <a:ext cx="402336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02920" y="3886200"/>
            <a:ext cx="3840480" cy="685800"/>
          </a:xfrm>
          <a:prstGeom prst="rect">
            <a:avLst/>
          </a:prstGeom>
          <a:noFill/>
          <a:ln/>
        </p:spPr>
        <p:txBody>
          <a:bodyPr wrap="square" rtlCol="0" anchor="ctr"/>
          <a:lstStyle/>
          <a:p>
            <a:pPr marL="0" indent="0">
              <a:buNone/>
            </a:pPr>
            <a:r>
              <a:rPr lang="en-US" sz="1000" dirty="0">
                <a:solidFill>
                  <a:srgbClr val="1C2A35"/>
                </a:solidFill>
                <a:latin typeface="Calibri" pitchFamily="34" charset="0"/>
                <a:ea typeface="Calibri" pitchFamily="34" charset="-122"/>
                <a:cs typeface="Calibri" pitchFamily="34" charset="-120"/>
              </a:rPr>
              <a:t>📌 A sharp 2012 spike (+60%) coincides with the Mali political crisis. Prices moderated but never returned to pre-crisis levels.</a:t>
            </a:r>
            <a:endParaRPr lang="en-US" sz="1000" dirty="0"/>
          </a:p>
        </p:txBody>
      </p:sp>
      <p:sp>
        <p:nvSpPr>
          <p:cNvPr id="7" name="Shape 4"/>
          <p:cNvSpPr/>
          <p:nvPr/>
        </p:nvSpPr>
        <p:spPr>
          <a:xfrm>
            <a:off x="4754880" y="960120"/>
            <a:ext cx="4114800" cy="3886200"/>
          </a:xfrm>
          <a:prstGeom prst="roundRect">
            <a:avLst>
              <a:gd name="adj" fmla="val 1882"/>
            </a:avLst>
          </a:prstGeom>
          <a:solidFill>
            <a:srgbClr val="EAF4F8"/>
          </a:solidFill>
          <a:ln/>
          <a:effectLst>
            <a:outerShdw blurRad="101600" dist="25400" dir="2700000" algn="bl" rotWithShape="0">
              <a:srgbClr val="000000">
                <a:alpha val="10000"/>
              </a:srgbClr>
            </a:outerShdw>
          </a:effectLst>
        </p:spPr>
      </p:sp>
      <p:sp>
        <p:nvSpPr>
          <p:cNvPr id="8" name="Text 5"/>
          <p:cNvSpPr/>
          <p:nvPr/>
        </p:nvSpPr>
        <p:spPr>
          <a:xfrm>
            <a:off x="4892040" y="1024128"/>
            <a:ext cx="3840480" cy="365760"/>
          </a:xfrm>
          <a:prstGeom prst="rect">
            <a:avLst/>
          </a:prstGeom>
          <a:noFill/>
          <a:ln/>
        </p:spPr>
        <p:txBody>
          <a:bodyPr wrap="square" lIns="0" tIns="0" rIns="0" bIns="0" rtlCol="0" anchor="ctr"/>
          <a:lstStyle/>
          <a:p>
            <a:pPr marL="0" indent="0">
              <a:buNone/>
            </a:pPr>
            <a:r>
              <a:rPr lang="en-US" sz="1800" b="1" dirty="0">
                <a:solidFill>
                  <a:srgbClr val="1A6E8E"/>
                </a:solidFill>
                <a:latin typeface="Calibri" pitchFamily="34" charset="0"/>
                <a:ea typeface="Calibri" pitchFamily="34" charset="-122"/>
                <a:cs typeface="Calibri" pitchFamily="34" charset="-120"/>
              </a:rPr>
              <a:t>🇳🇪  Niger</a:t>
            </a:r>
            <a:endParaRPr lang="en-US" sz="1800" dirty="0"/>
          </a:p>
        </p:txBody>
      </p:sp>
      <p:graphicFrame>
        <p:nvGraphicFramePr>
          <p:cNvPr id="9" name="Chart 1"/>
          <p:cNvGraphicFramePr/>
          <p:nvPr/>
        </p:nvGraphicFramePr>
        <p:xfrm>
          <a:off x="4800600" y="1481328"/>
          <a:ext cx="402336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6"/>
          <p:cNvSpPr/>
          <p:nvPr/>
        </p:nvSpPr>
        <p:spPr>
          <a:xfrm>
            <a:off x="4892040" y="3886200"/>
            <a:ext cx="3840480" cy="685800"/>
          </a:xfrm>
          <a:prstGeom prst="rect">
            <a:avLst/>
          </a:prstGeom>
          <a:noFill/>
          <a:ln/>
        </p:spPr>
        <p:txBody>
          <a:bodyPr wrap="square" rtlCol="0" anchor="ctr"/>
          <a:lstStyle/>
          <a:p>
            <a:pPr marL="0" indent="0">
              <a:buNone/>
            </a:pPr>
            <a:r>
              <a:rPr lang="en-US" sz="1000" dirty="0">
                <a:solidFill>
                  <a:srgbClr val="1C2A35"/>
                </a:solidFill>
                <a:latin typeface="Calibri" pitchFamily="34" charset="0"/>
                <a:ea typeface="Calibri" pitchFamily="34" charset="-122"/>
                <a:cs typeface="Calibri" pitchFamily="34" charset="-120"/>
              </a:rPr>
              <a:t>📌 Niger maintains persistently high rice and meat prices relative to income levels — reflecting landlocked geography and weak supply chains.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buNone/>
            </a:pPr>
            <a:r>
              <a:rPr lang="en-US" sz="2800" b="1" dirty="0">
                <a:solidFill>
                  <a:srgbClr val="0A3D62"/>
                </a:solidFill>
                <a:latin typeface="Calibri" pitchFamily="34" charset="0"/>
                <a:ea typeface="Calibri" pitchFamily="34" charset="-122"/>
                <a:cs typeface="Calibri" pitchFamily="34" charset="-120"/>
              </a:rPr>
              <a:t>Phase 4: Market-Level Price Disparity</a:t>
            </a:r>
            <a:endParaRPr lang="en-US" sz="2800" dirty="0"/>
          </a:p>
        </p:txBody>
      </p:sp>
      <p:sp>
        <p:nvSpPr>
          <p:cNvPr id="3" name="Shape 1"/>
          <p:cNvSpPr/>
          <p:nvPr/>
        </p:nvSpPr>
        <p:spPr>
          <a:xfrm>
            <a:off x="365760" y="960120"/>
            <a:ext cx="5120640" cy="3886200"/>
          </a:xfrm>
          <a:prstGeom prst="roundRect">
            <a:avLst>
              <a:gd name="adj" fmla="val 1882"/>
            </a:avLst>
          </a:prstGeom>
          <a:solidFill>
            <a:srgbClr val="EAF4F8"/>
          </a:solidFill>
          <a:ln/>
          <a:effectLst>
            <a:outerShdw blurRad="101600" dist="25400" dir="2700000" algn="bl" rotWithShape="0">
              <a:srgbClr val="000000">
                <a:alpha val="10000"/>
              </a:srgbClr>
            </a:outerShdw>
          </a:effectLst>
        </p:spPr>
      </p:sp>
      <p:sp>
        <p:nvSpPr>
          <p:cNvPr id="4" name="Text 2"/>
          <p:cNvSpPr/>
          <p:nvPr/>
        </p:nvSpPr>
        <p:spPr>
          <a:xfrm>
            <a:off x="502920" y="1024128"/>
            <a:ext cx="4846320" cy="292608"/>
          </a:xfrm>
          <a:prstGeom prst="rect">
            <a:avLst/>
          </a:prstGeom>
          <a:noFill/>
          <a:ln/>
        </p:spPr>
        <p:txBody>
          <a:bodyPr wrap="square" lIns="0" tIns="0" rIns="0" bIns="0" rtlCol="0" anchor="ctr"/>
          <a:lstStyle/>
          <a:p>
            <a:pPr marL="0" indent="0">
              <a:buNone/>
            </a:pPr>
            <a:r>
              <a:rPr lang="en-US" sz="1200" b="1" dirty="0">
                <a:solidFill>
                  <a:srgbClr val="1A6E8E"/>
                </a:solidFill>
                <a:latin typeface="Calibri" pitchFamily="34" charset="0"/>
                <a:ea typeface="Calibri" pitchFamily="34" charset="-122"/>
                <a:cs typeface="Calibri" pitchFamily="34" charset="-120"/>
              </a:rPr>
              <a:t>India — Average Rice Price by Market (INR/KG)</a:t>
            </a:r>
            <a:endParaRPr lang="en-US" sz="1200" dirty="0"/>
          </a:p>
        </p:txBody>
      </p:sp>
      <p:graphicFrame>
        <p:nvGraphicFramePr>
          <p:cNvPr id="5" name="Chart 0"/>
          <p:cNvGraphicFramePr/>
          <p:nvPr/>
        </p:nvGraphicFramePr>
        <p:xfrm>
          <a:off x="411480" y="1371600"/>
          <a:ext cx="5029200"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806440" y="960120"/>
            <a:ext cx="2971800" cy="3886200"/>
          </a:xfrm>
          <a:prstGeom prst="roundRect">
            <a:avLst>
              <a:gd name="adj" fmla="val 2462"/>
            </a:avLst>
          </a:prstGeom>
          <a:solidFill>
            <a:srgbClr val="EAF4F8"/>
          </a:solidFill>
          <a:ln/>
          <a:effectLst>
            <a:outerShdw blurRad="101600" dist="25400" dir="2700000" algn="bl" rotWithShape="0">
              <a:srgbClr val="000000">
                <a:alpha val="10000"/>
              </a:srgbClr>
            </a:outerShdw>
          </a:effectLst>
        </p:spPr>
      </p:sp>
      <p:sp>
        <p:nvSpPr>
          <p:cNvPr id="7" name="Text 4"/>
          <p:cNvSpPr/>
          <p:nvPr/>
        </p:nvSpPr>
        <p:spPr>
          <a:xfrm>
            <a:off x="5943600" y="1024128"/>
            <a:ext cx="2697480" cy="292608"/>
          </a:xfrm>
          <a:prstGeom prst="rect">
            <a:avLst/>
          </a:prstGeom>
          <a:noFill/>
          <a:ln/>
        </p:spPr>
        <p:txBody>
          <a:bodyPr wrap="square" lIns="0" tIns="0" rIns="0" bIns="0" rtlCol="0" anchor="ctr"/>
          <a:lstStyle/>
          <a:p>
            <a:pPr marL="0" indent="0">
              <a:buNone/>
            </a:pPr>
            <a:r>
              <a:rPr lang="en-US" sz="1400" b="1" dirty="0">
                <a:solidFill>
                  <a:srgbClr val="0A3D62"/>
                </a:solidFill>
                <a:latin typeface="Calibri" pitchFamily="34" charset="0"/>
                <a:ea typeface="Calibri" pitchFamily="34" charset="-122"/>
                <a:cs typeface="Calibri" pitchFamily="34" charset="-120"/>
              </a:rPr>
              <a:t>Key Insights</a:t>
            </a:r>
            <a:endParaRPr lang="en-US" sz="1400" dirty="0"/>
          </a:p>
        </p:txBody>
      </p:sp>
      <p:sp>
        <p:nvSpPr>
          <p:cNvPr id="8" name="Text 5"/>
          <p:cNvSpPr/>
          <p:nvPr/>
        </p:nvSpPr>
        <p:spPr>
          <a:xfrm>
            <a:off x="5943600" y="1463040"/>
            <a:ext cx="2697480" cy="530352"/>
          </a:xfrm>
          <a:prstGeom prst="rect">
            <a:avLst/>
          </a:prstGeom>
          <a:noFill/>
          <a:ln/>
        </p:spPr>
        <p:txBody>
          <a:bodyPr wrap="square" rtlCol="0" anchor="ctr"/>
          <a:lstStyle/>
          <a:p>
            <a:pPr marL="0" indent="0">
              <a:buNone/>
            </a:pPr>
            <a:r>
              <a:rPr lang="en-US" sz="1100" dirty="0">
                <a:solidFill>
                  <a:srgbClr val="1C2A35"/>
                </a:solidFill>
                <a:latin typeface="Calibri" pitchFamily="34" charset="0"/>
                <a:ea typeface="Calibri" pitchFamily="34" charset="-122"/>
                <a:cs typeface="Calibri" pitchFamily="34" charset="-120"/>
              </a:rPr>
              <a:t>📍  Jaipur has the highest average rice price in India</a:t>
            </a:r>
            <a:endParaRPr lang="en-US" sz="1100" dirty="0"/>
          </a:p>
        </p:txBody>
      </p:sp>
      <p:sp>
        <p:nvSpPr>
          <p:cNvPr id="9" name="Text 6"/>
          <p:cNvSpPr/>
          <p:nvPr/>
        </p:nvSpPr>
        <p:spPr>
          <a:xfrm>
            <a:off x="5943600" y="2121408"/>
            <a:ext cx="2697480" cy="530352"/>
          </a:xfrm>
          <a:prstGeom prst="rect">
            <a:avLst/>
          </a:prstGeom>
          <a:noFill/>
          <a:ln/>
        </p:spPr>
        <p:txBody>
          <a:bodyPr wrap="square" rtlCol="0" anchor="ctr"/>
          <a:lstStyle/>
          <a:p>
            <a:pPr marL="0" indent="0">
              <a:buNone/>
            </a:pPr>
            <a:r>
              <a:rPr lang="en-US" sz="1100" dirty="0">
                <a:solidFill>
                  <a:srgbClr val="1C2A35"/>
                </a:solidFill>
                <a:latin typeface="Calibri" pitchFamily="34" charset="0"/>
                <a:ea typeface="Calibri" pitchFamily="34" charset="-122"/>
                <a:cs typeface="Calibri" pitchFamily="34" charset="-120"/>
              </a:rPr>
              <a:t>📍  Patna (Bihar) has the lowest — proximity to production</a:t>
            </a:r>
            <a:endParaRPr lang="en-US" sz="1100" dirty="0"/>
          </a:p>
        </p:txBody>
      </p:sp>
      <p:sp>
        <p:nvSpPr>
          <p:cNvPr id="10" name="Text 7"/>
          <p:cNvSpPr/>
          <p:nvPr/>
        </p:nvSpPr>
        <p:spPr>
          <a:xfrm>
            <a:off x="5943600" y="2779776"/>
            <a:ext cx="2697480" cy="530352"/>
          </a:xfrm>
          <a:prstGeom prst="rect">
            <a:avLst/>
          </a:prstGeom>
          <a:noFill/>
          <a:ln/>
        </p:spPr>
        <p:txBody>
          <a:bodyPr wrap="square" rtlCol="0" anchor="ctr"/>
          <a:lstStyle/>
          <a:p>
            <a:pPr marL="0" indent="0">
              <a:buNone/>
            </a:pPr>
            <a:r>
              <a:rPr lang="en-US" sz="1100" dirty="0">
                <a:solidFill>
                  <a:srgbClr val="1C2A35"/>
                </a:solidFill>
                <a:latin typeface="Calibri" pitchFamily="34" charset="0"/>
                <a:ea typeface="Calibri" pitchFamily="34" charset="-122"/>
                <a:cs typeface="Calibri" pitchFamily="34" charset="-120"/>
              </a:rPr>
              <a:t>📊  ~50% price gap between most and least expensive markets</a:t>
            </a:r>
            <a:endParaRPr lang="en-US" sz="1100" dirty="0"/>
          </a:p>
        </p:txBody>
      </p:sp>
      <p:sp>
        <p:nvSpPr>
          <p:cNvPr id="11" name="Text 8"/>
          <p:cNvSpPr/>
          <p:nvPr/>
        </p:nvSpPr>
        <p:spPr>
          <a:xfrm>
            <a:off x="5943600" y="3438144"/>
            <a:ext cx="2697480" cy="530352"/>
          </a:xfrm>
          <a:prstGeom prst="rect">
            <a:avLst/>
          </a:prstGeom>
          <a:noFill/>
          <a:ln/>
        </p:spPr>
        <p:txBody>
          <a:bodyPr wrap="square" rtlCol="0" anchor="ctr"/>
          <a:lstStyle/>
          <a:p>
            <a:pPr marL="0" indent="0">
              <a:buNone/>
            </a:pPr>
            <a:r>
              <a:rPr lang="en-US" sz="1100" dirty="0">
                <a:solidFill>
                  <a:srgbClr val="1C2A35"/>
                </a:solidFill>
                <a:latin typeface="Calibri" pitchFamily="34" charset="0"/>
                <a:ea typeface="Calibri" pitchFamily="34" charset="-122"/>
                <a:cs typeface="Calibri" pitchFamily="34" charset="-120"/>
              </a:rPr>
              <a:t>🔍  Top-5 volatile markets identified by max-min price range</a:t>
            </a:r>
            <a:endParaRPr lang="en-US" sz="1100" dirty="0"/>
          </a:p>
        </p:txBody>
      </p:sp>
      <p:sp>
        <p:nvSpPr>
          <p:cNvPr id="12" name="Text 9"/>
          <p:cNvSpPr/>
          <p:nvPr/>
        </p:nvSpPr>
        <p:spPr>
          <a:xfrm>
            <a:off x="5943600" y="4096512"/>
            <a:ext cx="2697480" cy="530352"/>
          </a:xfrm>
          <a:prstGeom prst="rect">
            <a:avLst/>
          </a:prstGeom>
          <a:noFill/>
          <a:ln/>
        </p:spPr>
        <p:txBody>
          <a:bodyPr wrap="square" rtlCol="0" anchor="ctr"/>
          <a:lstStyle/>
          <a:p>
            <a:pPr marL="0" indent="0">
              <a:buNone/>
            </a:pPr>
            <a:r>
              <a:rPr lang="en-US" sz="1100" dirty="0">
                <a:solidFill>
                  <a:srgbClr val="1C2A35"/>
                </a:solidFill>
                <a:latin typeface="Calibri" pitchFamily="34" charset="0"/>
                <a:ea typeface="Calibri" pitchFamily="34" charset="-122"/>
                <a:cs typeface="Calibri" pitchFamily="34" charset="-120"/>
              </a:rPr>
              <a:t>⚠️  Remote/landlocked markets show 2-3× higher volatility</a:t>
            </a:r>
            <a:endParaRPr lang="en-US" sz="1100" dirty="0"/>
          </a:p>
        </p:txBody>
      </p:sp>
      <p:sp>
        <p:nvSpPr>
          <p:cNvPr id="13" name="Text 10"/>
          <p:cNvSpPr/>
          <p:nvPr/>
        </p:nvSpPr>
        <p:spPr>
          <a:xfrm>
            <a:off x="5943600" y="4572000"/>
            <a:ext cx="2697480" cy="201168"/>
          </a:xfrm>
          <a:prstGeom prst="rect">
            <a:avLst/>
          </a:prstGeom>
          <a:noFill/>
          <a:ln/>
        </p:spPr>
        <p:txBody>
          <a:bodyPr wrap="square" lIns="0" tIns="0" rIns="0" bIns="0" rtlCol="0" anchor="ctr"/>
          <a:lstStyle/>
          <a:p>
            <a:pPr marL="0" indent="0">
              <a:buNone/>
            </a:pPr>
            <a:r>
              <a:rPr lang="en-US" sz="900" i="1" dirty="0">
                <a:solidFill>
                  <a:srgbClr val="5B7A8C"/>
                </a:solidFill>
                <a:latin typeface="Calibri" pitchFamily="34" charset="0"/>
                <a:ea typeface="Calibri" pitchFamily="34" charset="-122"/>
                <a:cs typeface="Calibri" pitchFamily="34" charset="-120"/>
              </a:rPr>
              <a:t>Same analysis replicated for Mali, Ukraine, and Niger.</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686800" cy="502920"/>
          </a:xfrm>
          <a:prstGeom prst="rect">
            <a:avLst/>
          </a:prstGeom>
          <a:noFill/>
          <a:ln/>
        </p:spPr>
        <p:txBody>
          <a:bodyPr wrap="square" lIns="0" tIns="0" rIns="0" bIns="0" rtlCol="0" anchor="ctr"/>
          <a:lstStyle/>
          <a:p>
            <a:pPr marL="0" indent="0">
              <a:buNone/>
            </a:pPr>
            <a:r>
              <a:rPr lang="en-US" sz="2600" b="1" dirty="0">
                <a:solidFill>
                  <a:srgbClr val="0A3D62"/>
                </a:solidFill>
                <a:latin typeface="Calibri" pitchFamily="34" charset="0"/>
                <a:ea typeface="Calibri" pitchFamily="34" charset="-122"/>
                <a:cs typeface="Calibri" pitchFamily="34" charset="-120"/>
              </a:rPr>
              <a:t>Phase 5: USD-Normalized Cross-Country Comparison</a:t>
            </a:r>
            <a:endParaRPr lang="en-US" sz="2600" dirty="0"/>
          </a:p>
        </p:txBody>
      </p:sp>
      <p:sp>
        <p:nvSpPr>
          <p:cNvPr id="3" name="Shape 1"/>
          <p:cNvSpPr/>
          <p:nvPr/>
        </p:nvSpPr>
        <p:spPr>
          <a:xfrm>
            <a:off x="365760" y="960120"/>
            <a:ext cx="2926080" cy="1645920"/>
          </a:xfrm>
          <a:prstGeom prst="roundRect">
            <a:avLst>
              <a:gd name="adj" fmla="val 4444"/>
            </a:avLst>
          </a:prstGeom>
          <a:solidFill>
            <a:srgbClr val="EAF4F8"/>
          </a:solidFill>
          <a:ln/>
          <a:effectLst>
            <a:outerShdw blurRad="101600" dist="25400" dir="2700000" algn="bl" rotWithShape="0">
              <a:srgbClr val="000000">
                <a:alpha val="10000"/>
              </a:srgbClr>
            </a:outerShdw>
          </a:effectLst>
        </p:spPr>
      </p:sp>
      <p:sp>
        <p:nvSpPr>
          <p:cNvPr id="4" name="Text 2"/>
          <p:cNvSpPr/>
          <p:nvPr/>
        </p:nvSpPr>
        <p:spPr>
          <a:xfrm>
            <a:off x="502920" y="1024128"/>
            <a:ext cx="2743200" cy="292608"/>
          </a:xfrm>
          <a:prstGeom prst="rect">
            <a:avLst/>
          </a:prstGeom>
          <a:noFill/>
          <a:ln/>
        </p:spPr>
        <p:txBody>
          <a:bodyPr wrap="square" lIns="0" tIns="0" rIns="0" bIns="0" rtlCol="0" anchor="ctr"/>
          <a:lstStyle/>
          <a:p>
            <a:pPr marL="0" indent="0">
              <a:buNone/>
            </a:pPr>
            <a:r>
              <a:rPr lang="en-US" sz="1200" b="1" dirty="0">
                <a:solidFill>
                  <a:srgbClr val="1A6E8E"/>
                </a:solidFill>
                <a:latin typeface="Calibri" pitchFamily="34" charset="0"/>
                <a:ea typeface="Calibri" pitchFamily="34" charset="-122"/>
                <a:cs typeface="Calibri" pitchFamily="34" charset="-120"/>
              </a:rPr>
              <a:t>Normalization Logic</a:t>
            </a:r>
            <a:endParaRPr lang="en-US" sz="1200" dirty="0"/>
          </a:p>
        </p:txBody>
      </p:sp>
      <p:sp>
        <p:nvSpPr>
          <p:cNvPr id="5" name="Text 3"/>
          <p:cNvSpPr/>
          <p:nvPr/>
        </p:nvSpPr>
        <p:spPr>
          <a:xfrm>
            <a:off x="502920" y="1417320"/>
            <a:ext cx="2743200" cy="1005840"/>
          </a:xfrm>
          <a:prstGeom prst="rect">
            <a:avLst/>
          </a:prstGeom>
          <a:noFill/>
          <a:ln/>
        </p:spPr>
        <p:txBody>
          <a:bodyPr wrap="square" rtlCol="0" anchor="ctr"/>
          <a:lstStyle/>
          <a:p>
            <a:pPr marL="0" indent="0">
              <a:buNone/>
            </a:pPr>
            <a:r>
              <a:rPr lang="en-US" sz="1000" dirty="0">
                <a:solidFill>
                  <a:srgbClr val="1C2A35"/>
                </a:solidFill>
                <a:latin typeface="Calibri" pitchFamily="34" charset="0"/>
                <a:ea typeface="Calibri" pitchFamily="34" charset="-122"/>
                <a:cs typeface="Calibri" pitchFamily="34" charset="-120"/>
              </a:rPr>
              <a:t>If country uses USD natively:  </a:t>
            </a:r>
            <a:r>
              <a:rPr lang="en-US" sz="1000" b="1" dirty="0">
                <a:solidFill>
                  <a:srgbClr val="E84855"/>
                </a:solidFill>
                <a:latin typeface="Calibri" pitchFamily="34" charset="0"/>
                <a:ea typeface="Calibri" pitchFamily="34" charset="-122"/>
                <a:cs typeface="Calibri" pitchFamily="34" charset="-120"/>
              </a:rPr>
              <a:t>Rate = 1
</a:t>
            </a:r>
            <a:r>
              <a:rPr lang="en-US" sz="1000" dirty="0">
                <a:solidFill>
                  <a:srgbClr val="1C2A35"/>
                </a:solidFill>
                <a:latin typeface="Calibri" pitchFamily="34" charset="0"/>
                <a:ea typeface="Calibri" pitchFamily="34" charset="-122"/>
                <a:cs typeface="Calibri" pitchFamily="34" charset="-120"/>
              </a:rPr>
              <a:t>Otherwise:  </a:t>
            </a:r>
            <a:r>
              <a:rPr lang="en-US" sz="1000" b="1" dirty="0">
                <a:solidFill>
                  <a:srgbClr val="1C2A35"/>
                </a:solidFill>
                <a:latin typeface="Calibri" pitchFamily="34" charset="0"/>
                <a:ea typeface="Calibri" pitchFamily="34" charset="-122"/>
                <a:cs typeface="Calibri" pitchFamily="34" charset="-120"/>
              </a:rPr>
              <a:t>Rice_USD = Rice ÷ Exchange Rate</a:t>
            </a:r>
            <a:endParaRPr lang="en-US" sz="1000" dirty="0"/>
          </a:p>
        </p:txBody>
      </p:sp>
      <p:sp>
        <p:nvSpPr>
          <p:cNvPr id="6" name="Shape 4"/>
          <p:cNvSpPr/>
          <p:nvPr/>
        </p:nvSpPr>
        <p:spPr>
          <a:xfrm>
            <a:off x="365760" y="2788920"/>
            <a:ext cx="2926080" cy="2011680"/>
          </a:xfrm>
          <a:prstGeom prst="roundRect">
            <a:avLst>
              <a:gd name="adj" fmla="val 3636"/>
            </a:avLst>
          </a:prstGeom>
          <a:solidFill>
            <a:srgbClr val="EAF4F8"/>
          </a:solidFill>
          <a:ln/>
          <a:effectLst>
            <a:outerShdw blurRad="101600" dist="25400" dir="2700000" algn="bl" rotWithShape="0">
              <a:srgbClr val="000000">
                <a:alpha val="10000"/>
              </a:srgbClr>
            </a:outerShdw>
          </a:effectLst>
        </p:spPr>
      </p:sp>
      <p:sp>
        <p:nvSpPr>
          <p:cNvPr id="7" name="Text 5"/>
          <p:cNvSpPr/>
          <p:nvPr/>
        </p:nvSpPr>
        <p:spPr>
          <a:xfrm>
            <a:off x="502920" y="2852928"/>
            <a:ext cx="2743200" cy="292608"/>
          </a:xfrm>
          <a:prstGeom prst="rect">
            <a:avLst/>
          </a:prstGeom>
          <a:noFill/>
          <a:ln/>
        </p:spPr>
        <p:txBody>
          <a:bodyPr wrap="square" lIns="0" tIns="0" rIns="0" bIns="0" rtlCol="0" anchor="ctr"/>
          <a:lstStyle/>
          <a:p>
            <a:pPr marL="0" indent="0">
              <a:buNone/>
            </a:pPr>
            <a:r>
              <a:rPr lang="en-US" sz="1200" b="1" dirty="0">
                <a:solidFill>
                  <a:srgbClr val="1A6E8E"/>
                </a:solidFill>
                <a:latin typeface="Calibri" pitchFamily="34" charset="0"/>
                <a:ea typeface="Calibri" pitchFamily="34" charset="-122"/>
                <a:cs typeface="Calibri" pitchFamily="34" charset="-120"/>
              </a:rPr>
              <a:t>9 Countries Analyzed</a:t>
            </a:r>
            <a:endParaRPr lang="en-US" sz="1200" dirty="0"/>
          </a:p>
        </p:txBody>
      </p:sp>
      <p:sp>
        <p:nvSpPr>
          <p:cNvPr id="8" name="Text 6"/>
          <p:cNvSpPr/>
          <p:nvPr/>
        </p:nvSpPr>
        <p:spPr>
          <a:xfrm>
            <a:off x="502920" y="3218688"/>
            <a:ext cx="2743200" cy="182880"/>
          </a:xfrm>
          <a:prstGeom prst="rect">
            <a:avLst/>
          </a:prstGeom>
          <a:noFill/>
          <a:ln/>
        </p:spPr>
        <p:txBody>
          <a:bodyPr wrap="square" lIns="0" tIns="0" rIns="0" bIns="0" rtlCol="0" anchor="ctr"/>
          <a:lstStyle/>
          <a:p>
            <a:pPr marL="0" indent="0">
              <a:buNone/>
            </a:pPr>
            <a:r>
              <a:rPr lang="en-US" sz="950" dirty="0">
                <a:solidFill>
                  <a:srgbClr val="1C2A35"/>
                </a:solidFill>
                <a:latin typeface="Calibri" pitchFamily="34" charset="0"/>
                <a:ea typeface="Calibri" pitchFamily="34" charset="-122"/>
                <a:cs typeface="Calibri" pitchFamily="34" charset="-120"/>
              </a:rPr>
              <a:t>• Afghanistan</a:t>
            </a:r>
            <a:endParaRPr lang="en-US" sz="950" dirty="0"/>
          </a:p>
        </p:txBody>
      </p:sp>
      <p:sp>
        <p:nvSpPr>
          <p:cNvPr id="9" name="Text 7"/>
          <p:cNvSpPr/>
          <p:nvPr/>
        </p:nvSpPr>
        <p:spPr>
          <a:xfrm>
            <a:off x="502920" y="3401568"/>
            <a:ext cx="2743200" cy="182880"/>
          </a:xfrm>
          <a:prstGeom prst="rect">
            <a:avLst/>
          </a:prstGeom>
          <a:noFill/>
          <a:ln/>
        </p:spPr>
        <p:txBody>
          <a:bodyPr wrap="square" lIns="0" tIns="0" rIns="0" bIns="0" rtlCol="0" anchor="ctr"/>
          <a:lstStyle/>
          <a:p>
            <a:pPr marL="0" indent="0">
              <a:buNone/>
            </a:pPr>
            <a:r>
              <a:rPr lang="en-US" sz="950" dirty="0">
                <a:solidFill>
                  <a:srgbClr val="1C2A35"/>
                </a:solidFill>
                <a:latin typeface="Calibri" pitchFamily="34" charset="0"/>
                <a:ea typeface="Calibri" pitchFamily="34" charset="-122"/>
                <a:cs typeface="Calibri" pitchFamily="34" charset="-120"/>
              </a:rPr>
              <a:t>• Costa Rica</a:t>
            </a:r>
            <a:endParaRPr lang="en-US" sz="950" dirty="0"/>
          </a:p>
        </p:txBody>
      </p:sp>
      <p:sp>
        <p:nvSpPr>
          <p:cNvPr id="10" name="Text 8"/>
          <p:cNvSpPr/>
          <p:nvPr/>
        </p:nvSpPr>
        <p:spPr>
          <a:xfrm>
            <a:off x="502920" y="3584448"/>
            <a:ext cx="2743200" cy="182880"/>
          </a:xfrm>
          <a:prstGeom prst="rect">
            <a:avLst/>
          </a:prstGeom>
          <a:noFill/>
          <a:ln/>
        </p:spPr>
        <p:txBody>
          <a:bodyPr wrap="square" lIns="0" tIns="0" rIns="0" bIns="0" rtlCol="0" anchor="ctr"/>
          <a:lstStyle/>
          <a:p>
            <a:pPr marL="0" indent="0">
              <a:buNone/>
            </a:pPr>
            <a:r>
              <a:rPr lang="en-US" sz="950" dirty="0">
                <a:solidFill>
                  <a:srgbClr val="1C2A35"/>
                </a:solidFill>
                <a:latin typeface="Calibri" pitchFamily="34" charset="0"/>
                <a:ea typeface="Calibri" pitchFamily="34" charset="-122"/>
                <a:cs typeface="Calibri" pitchFamily="34" charset="-120"/>
              </a:rPr>
              <a:t>• DR Congo</a:t>
            </a:r>
            <a:endParaRPr lang="en-US" sz="950" dirty="0"/>
          </a:p>
        </p:txBody>
      </p:sp>
      <p:sp>
        <p:nvSpPr>
          <p:cNvPr id="11" name="Text 9"/>
          <p:cNvSpPr/>
          <p:nvPr/>
        </p:nvSpPr>
        <p:spPr>
          <a:xfrm>
            <a:off x="502920" y="3767328"/>
            <a:ext cx="2743200" cy="182880"/>
          </a:xfrm>
          <a:prstGeom prst="rect">
            <a:avLst/>
          </a:prstGeom>
          <a:noFill/>
          <a:ln/>
        </p:spPr>
        <p:txBody>
          <a:bodyPr wrap="square" lIns="0" tIns="0" rIns="0" bIns="0" rtlCol="0" anchor="ctr"/>
          <a:lstStyle/>
          <a:p>
            <a:pPr marL="0" indent="0">
              <a:buNone/>
            </a:pPr>
            <a:r>
              <a:rPr lang="en-US" sz="950" dirty="0">
                <a:solidFill>
                  <a:srgbClr val="1C2A35"/>
                </a:solidFill>
                <a:latin typeface="Calibri" pitchFamily="34" charset="0"/>
                <a:ea typeface="Calibri" pitchFamily="34" charset="-122"/>
                <a:cs typeface="Calibri" pitchFamily="34" charset="-120"/>
              </a:rPr>
              <a:t>• El Salvador</a:t>
            </a:r>
            <a:endParaRPr lang="en-US" sz="950" dirty="0"/>
          </a:p>
        </p:txBody>
      </p:sp>
      <p:sp>
        <p:nvSpPr>
          <p:cNvPr id="12" name="Text 10"/>
          <p:cNvSpPr/>
          <p:nvPr/>
        </p:nvSpPr>
        <p:spPr>
          <a:xfrm>
            <a:off x="502920" y="3950208"/>
            <a:ext cx="2743200" cy="182880"/>
          </a:xfrm>
          <a:prstGeom prst="rect">
            <a:avLst/>
          </a:prstGeom>
          <a:noFill/>
          <a:ln/>
        </p:spPr>
        <p:txBody>
          <a:bodyPr wrap="square" lIns="0" tIns="0" rIns="0" bIns="0" rtlCol="0" anchor="ctr"/>
          <a:lstStyle/>
          <a:p>
            <a:pPr marL="0" indent="0">
              <a:buNone/>
            </a:pPr>
            <a:r>
              <a:rPr lang="en-US" sz="950" dirty="0">
                <a:solidFill>
                  <a:srgbClr val="1C2A35"/>
                </a:solidFill>
                <a:latin typeface="Calibri" pitchFamily="34" charset="0"/>
                <a:ea typeface="Calibri" pitchFamily="34" charset="-122"/>
                <a:cs typeface="Calibri" pitchFamily="34" charset="-120"/>
              </a:rPr>
              <a:t>• Honduras</a:t>
            </a:r>
            <a:endParaRPr lang="en-US" sz="950" dirty="0"/>
          </a:p>
        </p:txBody>
      </p:sp>
      <p:sp>
        <p:nvSpPr>
          <p:cNvPr id="13" name="Text 11"/>
          <p:cNvSpPr/>
          <p:nvPr/>
        </p:nvSpPr>
        <p:spPr>
          <a:xfrm>
            <a:off x="502920" y="4133088"/>
            <a:ext cx="2743200" cy="182880"/>
          </a:xfrm>
          <a:prstGeom prst="rect">
            <a:avLst/>
          </a:prstGeom>
          <a:noFill/>
          <a:ln/>
        </p:spPr>
        <p:txBody>
          <a:bodyPr wrap="square" lIns="0" tIns="0" rIns="0" bIns="0" rtlCol="0" anchor="ctr"/>
          <a:lstStyle/>
          <a:p>
            <a:pPr marL="0" indent="0">
              <a:buNone/>
            </a:pPr>
            <a:r>
              <a:rPr lang="en-US" sz="950" dirty="0">
                <a:solidFill>
                  <a:srgbClr val="1C2A35"/>
                </a:solidFill>
                <a:latin typeface="Calibri" pitchFamily="34" charset="0"/>
                <a:ea typeface="Calibri" pitchFamily="34" charset="-122"/>
                <a:cs typeface="Calibri" pitchFamily="34" charset="-120"/>
              </a:rPr>
              <a:t>• Liberia</a:t>
            </a:r>
            <a:endParaRPr lang="en-US" sz="950" dirty="0"/>
          </a:p>
        </p:txBody>
      </p:sp>
      <p:sp>
        <p:nvSpPr>
          <p:cNvPr id="14" name="Text 12"/>
          <p:cNvSpPr/>
          <p:nvPr/>
        </p:nvSpPr>
        <p:spPr>
          <a:xfrm>
            <a:off x="502920" y="4315968"/>
            <a:ext cx="2743200" cy="182880"/>
          </a:xfrm>
          <a:prstGeom prst="rect">
            <a:avLst/>
          </a:prstGeom>
          <a:noFill/>
          <a:ln/>
        </p:spPr>
        <p:txBody>
          <a:bodyPr wrap="square" lIns="0" tIns="0" rIns="0" bIns="0" rtlCol="0" anchor="ctr"/>
          <a:lstStyle/>
          <a:p>
            <a:pPr marL="0" indent="0">
              <a:buNone/>
            </a:pPr>
            <a:r>
              <a:rPr lang="en-US" sz="950" dirty="0">
                <a:solidFill>
                  <a:srgbClr val="1C2A35"/>
                </a:solidFill>
                <a:latin typeface="Calibri" pitchFamily="34" charset="0"/>
                <a:ea typeface="Calibri" pitchFamily="34" charset="-122"/>
                <a:cs typeface="Calibri" pitchFamily="34" charset="-120"/>
              </a:rPr>
              <a:t>• Panama</a:t>
            </a:r>
            <a:endParaRPr lang="en-US" sz="950" dirty="0"/>
          </a:p>
        </p:txBody>
      </p:sp>
      <p:sp>
        <p:nvSpPr>
          <p:cNvPr id="15" name="Text 13"/>
          <p:cNvSpPr/>
          <p:nvPr/>
        </p:nvSpPr>
        <p:spPr>
          <a:xfrm>
            <a:off x="502920" y="4498848"/>
            <a:ext cx="2743200" cy="182880"/>
          </a:xfrm>
          <a:prstGeom prst="rect">
            <a:avLst/>
          </a:prstGeom>
          <a:noFill/>
          <a:ln/>
        </p:spPr>
        <p:txBody>
          <a:bodyPr wrap="square" lIns="0" tIns="0" rIns="0" bIns="0" rtlCol="0" anchor="ctr"/>
          <a:lstStyle/>
          <a:p>
            <a:pPr marL="0" indent="0">
              <a:buNone/>
            </a:pPr>
            <a:r>
              <a:rPr lang="en-US" sz="950" dirty="0">
                <a:solidFill>
                  <a:srgbClr val="1C2A35"/>
                </a:solidFill>
                <a:latin typeface="Calibri" pitchFamily="34" charset="0"/>
                <a:ea typeface="Calibri" pitchFamily="34" charset="-122"/>
                <a:cs typeface="Calibri" pitchFamily="34" charset="-120"/>
              </a:rPr>
              <a:t>• Tajikistan</a:t>
            </a:r>
            <a:endParaRPr lang="en-US" sz="950" dirty="0"/>
          </a:p>
        </p:txBody>
      </p:sp>
      <p:sp>
        <p:nvSpPr>
          <p:cNvPr id="16" name="Text 14"/>
          <p:cNvSpPr/>
          <p:nvPr/>
        </p:nvSpPr>
        <p:spPr>
          <a:xfrm>
            <a:off x="502920" y="4681728"/>
            <a:ext cx="2743200" cy="182880"/>
          </a:xfrm>
          <a:prstGeom prst="rect">
            <a:avLst/>
          </a:prstGeom>
          <a:noFill/>
          <a:ln/>
        </p:spPr>
        <p:txBody>
          <a:bodyPr wrap="square" lIns="0" tIns="0" rIns="0" bIns="0" rtlCol="0" anchor="ctr"/>
          <a:lstStyle/>
          <a:p>
            <a:pPr marL="0" indent="0">
              <a:buNone/>
            </a:pPr>
            <a:r>
              <a:rPr lang="en-US" sz="950" dirty="0">
                <a:solidFill>
                  <a:srgbClr val="1C2A35"/>
                </a:solidFill>
                <a:latin typeface="Calibri" pitchFamily="34" charset="0"/>
                <a:ea typeface="Calibri" pitchFamily="34" charset="-122"/>
                <a:cs typeface="Calibri" pitchFamily="34" charset="-120"/>
              </a:rPr>
              <a:t>• Timor-Leste</a:t>
            </a:r>
            <a:endParaRPr lang="en-US" sz="950" dirty="0"/>
          </a:p>
        </p:txBody>
      </p:sp>
      <p:graphicFrame>
        <p:nvGraphicFramePr>
          <p:cNvPr id="17" name="Chart 0"/>
          <p:cNvGraphicFramePr/>
          <p:nvPr/>
        </p:nvGraphicFramePr>
        <p:xfrm>
          <a:off x="3520440" y="960120"/>
          <a:ext cx="5257800" cy="38404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686800" cy="502920"/>
          </a:xfrm>
          <a:prstGeom prst="rect">
            <a:avLst/>
          </a:prstGeom>
          <a:noFill/>
          <a:ln/>
        </p:spPr>
        <p:txBody>
          <a:bodyPr wrap="square" lIns="0" tIns="0" rIns="0" bIns="0" rtlCol="0" anchor="ctr"/>
          <a:lstStyle/>
          <a:p>
            <a:pPr marL="0" indent="0">
              <a:buNone/>
            </a:pPr>
            <a:r>
              <a:rPr lang="en-US" sz="2600" b="1" dirty="0">
                <a:solidFill>
                  <a:srgbClr val="0A3D62"/>
                </a:solidFill>
                <a:latin typeface="Calibri" pitchFamily="34" charset="0"/>
                <a:ea typeface="Calibri" pitchFamily="34" charset="-122"/>
                <a:cs typeface="Calibri" pitchFamily="34" charset="-120"/>
              </a:rPr>
              <a:t>Phase 6: Price Forecasting with Linear Regression</a:t>
            </a:r>
            <a:endParaRPr lang="en-US" sz="2600" dirty="0"/>
          </a:p>
        </p:txBody>
      </p:sp>
      <p:sp>
        <p:nvSpPr>
          <p:cNvPr id="3" name="Shape 1"/>
          <p:cNvSpPr/>
          <p:nvPr/>
        </p:nvSpPr>
        <p:spPr>
          <a:xfrm>
            <a:off x="365760" y="960120"/>
            <a:ext cx="4023360" cy="1828800"/>
          </a:xfrm>
          <a:prstGeom prst="roundRect">
            <a:avLst>
              <a:gd name="adj" fmla="val 4000"/>
            </a:avLst>
          </a:prstGeom>
          <a:solidFill>
            <a:srgbClr val="EAF4F8"/>
          </a:solidFill>
          <a:ln/>
          <a:effectLst>
            <a:outerShdw blurRad="101600" dist="25400" dir="2700000" algn="bl" rotWithShape="0">
              <a:srgbClr val="000000">
                <a:alpha val="10000"/>
              </a:srgbClr>
            </a:outerShdw>
          </a:effectLst>
        </p:spPr>
      </p:sp>
      <p:sp>
        <p:nvSpPr>
          <p:cNvPr id="4" name="Text 2"/>
          <p:cNvSpPr/>
          <p:nvPr/>
        </p:nvSpPr>
        <p:spPr>
          <a:xfrm>
            <a:off x="502920" y="1024128"/>
            <a:ext cx="3749040" cy="292608"/>
          </a:xfrm>
          <a:prstGeom prst="rect">
            <a:avLst/>
          </a:prstGeom>
          <a:noFill/>
          <a:ln/>
        </p:spPr>
        <p:txBody>
          <a:bodyPr wrap="square" lIns="0" tIns="0" rIns="0" bIns="0" rtlCol="0" anchor="ctr"/>
          <a:lstStyle/>
          <a:p>
            <a:pPr marL="0" indent="0">
              <a:buNone/>
            </a:pPr>
            <a:r>
              <a:rPr lang="en-US" sz="1300" b="1" dirty="0">
                <a:solidFill>
                  <a:srgbClr val="1A6E8E"/>
                </a:solidFill>
                <a:latin typeface="Calibri" pitchFamily="34" charset="0"/>
                <a:ea typeface="Calibri" pitchFamily="34" charset="-122"/>
                <a:cs typeface="Calibri" pitchFamily="34" charset="-120"/>
              </a:rPr>
              <a:t>Model Architecture</a:t>
            </a:r>
            <a:endParaRPr lang="en-US" sz="1300" dirty="0"/>
          </a:p>
        </p:txBody>
      </p:sp>
      <p:sp>
        <p:nvSpPr>
          <p:cNvPr id="5" name="Text 3"/>
          <p:cNvSpPr/>
          <p:nvPr/>
        </p:nvSpPr>
        <p:spPr>
          <a:xfrm>
            <a:off x="502920" y="1389888"/>
            <a:ext cx="1554480" cy="237744"/>
          </a:xfrm>
          <a:prstGeom prst="rect">
            <a:avLst/>
          </a:prstGeom>
          <a:noFill/>
          <a:ln/>
        </p:spPr>
        <p:txBody>
          <a:bodyPr wrap="square" lIns="0" tIns="0" rIns="0" bIns="0" rtlCol="0" anchor="ctr"/>
          <a:lstStyle/>
          <a:p>
            <a:pPr marL="0" indent="0">
              <a:buNone/>
            </a:pPr>
            <a:r>
              <a:rPr lang="en-US" sz="1050" b="1" dirty="0">
                <a:solidFill>
                  <a:srgbClr val="0A3D62"/>
                </a:solidFill>
                <a:latin typeface="Calibri" pitchFamily="34" charset="0"/>
                <a:ea typeface="Calibri" pitchFamily="34" charset="-122"/>
                <a:cs typeface="Calibri" pitchFamily="34" charset="-120"/>
              </a:rPr>
              <a:t>Feature (X):</a:t>
            </a:r>
            <a:endParaRPr lang="en-US" sz="1050" dirty="0"/>
          </a:p>
        </p:txBody>
      </p:sp>
      <p:sp>
        <p:nvSpPr>
          <p:cNvPr id="6" name="Text 4"/>
          <p:cNvSpPr/>
          <p:nvPr/>
        </p:nvSpPr>
        <p:spPr>
          <a:xfrm>
            <a:off x="2103120" y="1389888"/>
            <a:ext cx="2194560" cy="237744"/>
          </a:xfrm>
          <a:prstGeom prst="rect">
            <a:avLst/>
          </a:prstGeom>
          <a:noFill/>
          <a:ln/>
        </p:spPr>
        <p:txBody>
          <a:bodyPr wrap="square" lIns="0" tIns="0" rIns="0" bIns="0" rtlCol="0" anchor="ctr"/>
          <a:lstStyle/>
          <a:p>
            <a:pPr marL="0" indent="0">
              <a:buNone/>
            </a:pPr>
            <a:r>
              <a:rPr lang="en-US" sz="1050" dirty="0">
                <a:solidFill>
                  <a:srgbClr val="1C2A35"/>
                </a:solidFill>
                <a:latin typeface="Calibri" pitchFamily="34" charset="0"/>
                <a:ea typeface="Calibri" pitchFamily="34" charset="-122"/>
                <a:cs typeface="Calibri" pitchFamily="34" charset="-120"/>
              </a:rPr>
              <a:t>Year</a:t>
            </a:r>
            <a:endParaRPr lang="en-US" sz="1050" dirty="0"/>
          </a:p>
        </p:txBody>
      </p:sp>
      <p:sp>
        <p:nvSpPr>
          <p:cNvPr id="7" name="Text 5"/>
          <p:cNvSpPr/>
          <p:nvPr/>
        </p:nvSpPr>
        <p:spPr>
          <a:xfrm>
            <a:off x="502920" y="1645920"/>
            <a:ext cx="1554480" cy="237744"/>
          </a:xfrm>
          <a:prstGeom prst="rect">
            <a:avLst/>
          </a:prstGeom>
          <a:noFill/>
          <a:ln/>
        </p:spPr>
        <p:txBody>
          <a:bodyPr wrap="square" lIns="0" tIns="0" rIns="0" bIns="0" rtlCol="0" anchor="ctr"/>
          <a:lstStyle/>
          <a:p>
            <a:pPr marL="0" indent="0">
              <a:buNone/>
            </a:pPr>
            <a:r>
              <a:rPr lang="en-US" sz="1050" b="1" dirty="0">
                <a:solidFill>
                  <a:srgbClr val="0A3D62"/>
                </a:solidFill>
                <a:latin typeface="Calibri" pitchFamily="34" charset="0"/>
                <a:ea typeface="Calibri" pitchFamily="34" charset="-122"/>
                <a:cs typeface="Calibri" pitchFamily="34" charset="-120"/>
              </a:rPr>
              <a:t>Target (Y):</a:t>
            </a:r>
            <a:endParaRPr lang="en-US" sz="1050" dirty="0"/>
          </a:p>
        </p:txBody>
      </p:sp>
      <p:sp>
        <p:nvSpPr>
          <p:cNvPr id="8" name="Text 6"/>
          <p:cNvSpPr/>
          <p:nvPr/>
        </p:nvSpPr>
        <p:spPr>
          <a:xfrm>
            <a:off x="2103120" y="1645920"/>
            <a:ext cx="2194560" cy="237744"/>
          </a:xfrm>
          <a:prstGeom prst="rect">
            <a:avLst/>
          </a:prstGeom>
          <a:noFill/>
          <a:ln/>
        </p:spPr>
        <p:txBody>
          <a:bodyPr wrap="square" lIns="0" tIns="0" rIns="0" bIns="0" rtlCol="0" anchor="ctr"/>
          <a:lstStyle/>
          <a:p>
            <a:pPr marL="0" indent="0">
              <a:buNone/>
            </a:pPr>
            <a:r>
              <a:rPr lang="en-US" sz="1050" dirty="0">
                <a:solidFill>
                  <a:srgbClr val="1C2A35"/>
                </a:solidFill>
                <a:latin typeface="Calibri" pitchFamily="34" charset="0"/>
                <a:ea typeface="Calibri" pitchFamily="34" charset="-122"/>
                <a:cs typeface="Calibri" pitchFamily="34" charset="-120"/>
              </a:rPr>
              <a:t>Rice Price in USD</a:t>
            </a:r>
            <a:endParaRPr lang="en-US" sz="1050" dirty="0"/>
          </a:p>
        </p:txBody>
      </p:sp>
      <p:sp>
        <p:nvSpPr>
          <p:cNvPr id="9" name="Text 7"/>
          <p:cNvSpPr/>
          <p:nvPr/>
        </p:nvSpPr>
        <p:spPr>
          <a:xfrm>
            <a:off x="502920" y="1901952"/>
            <a:ext cx="1554480" cy="237744"/>
          </a:xfrm>
          <a:prstGeom prst="rect">
            <a:avLst/>
          </a:prstGeom>
          <a:noFill/>
          <a:ln/>
        </p:spPr>
        <p:txBody>
          <a:bodyPr wrap="square" lIns="0" tIns="0" rIns="0" bIns="0" rtlCol="0" anchor="ctr"/>
          <a:lstStyle/>
          <a:p>
            <a:pPr marL="0" indent="0">
              <a:buNone/>
            </a:pPr>
            <a:r>
              <a:rPr lang="en-US" sz="1050" b="1" dirty="0">
                <a:solidFill>
                  <a:srgbClr val="0A3D62"/>
                </a:solidFill>
                <a:latin typeface="Calibri" pitchFamily="34" charset="0"/>
                <a:ea typeface="Calibri" pitchFamily="34" charset="-122"/>
                <a:cs typeface="Calibri" pitchFamily="34" charset="-120"/>
              </a:rPr>
              <a:t>Model:</a:t>
            </a:r>
            <a:endParaRPr lang="en-US" sz="1050" dirty="0"/>
          </a:p>
        </p:txBody>
      </p:sp>
      <p:sp>
        <p:nvSpPr>
          <p:cNvPr id="10" name="Text 8"/>
          <p:cNvSpPr/>
          <p:nvPr/>
        </p:nvSpPr>
        <p:spPr>
          <a:xfrm>
            <a:off x="2103120" y="1901952"/>
            <a:ext cx="2194560" cy="237744"/>
          </a:xfrm>
          <a:prstGeom prst="rect">
            <a:avLst/>
          </a:prstGeom>
          <a:noFill/>
          <a:ln/>
        </p:spPr>
        <p:txBody>
          <a:bodyPr wrap="square" lIns="0" tIns="0" rIns="0" bIns="0" rtlCol="0" anchor="ctr"/>
          <a:lstStyle/>
          <a:p>
            <a:pPr marL="0" indent="0">
              <a:buNone/>
            </a:pPr>
            <a:r>
              <a:rPr lang="en-US" sz="1050" dirty="0">
                <a:solidFill>
                  <a:srgbClr val="1C2A35"/>
                </a:solidFill>
                <a:latin typeface="Calibri" pitchFamily="34" charset="0"/>
                <a:ea typeface="Calibri" pitchFamily="34" charset="-122"/>
                <a:cs typeface="Calibri" pitchFamily="34" charset="-120"/>
              </a:rPr>
              <a:t>sklearn LinearRegression</a:t>
            </a:r>
            <a:endParaRPr lang="en-US" sz="1050" dirty="0"/>
          </a:p>
        </p:txBody>
      </p:sp>
      <p:sp>
        <p:nvSpPr>
          <p:cNvPr id="11" name="Text 9"/>
          <p:cNvSpPr/>
          <p:nvPr/>
        </p:nvSpPr>
        <p:spPr>
          <a:xfrm>
            <a:off x="502920" y="2157984"/>
            <a:ext cx="1554480" cy="237744"/>
          </a:xfrm>
          <a:prstGeom prst="rect">
            <a:avLst/>
          </a:prstGeom>
          <a:noFill/>
          <a:ln/>
        </p:spPr>
        <p:txBody>
          <a:bodyPr wrap="square" lIns="0" tIns="0" rIns="0" bIns="0" rtlCol="0" anchor="ctr"/>
          <a:lstStyle/>
          <a:p>
            <a:pPr marL="0" indent="0">
              <a:buNone/>
            </a:pPr>
            <a:r>
              <a:rPr lang="en-US" sz="1050" b="1" dirty="0">
                <a:solidFill>
                  <a:srgbClr val="0A3D62"/>
                </a:solidFill>
                <a:latin typeface="Calibri" pitchFamily="34" charset="0"/>
                <a:ea typeface="Calibri" pitchFamily="34" charset="-122"/>
                <a:cs typeface="Calibri" pitchFamily="34" charset="-120"/>
              </a:rPr>
              <a:t>Per-model scope:</a:t>
            </a:r>
            <a:endParaRPr lang="en-US" sz="1050" dirty="0"/>
          </a:p>
        </p:txBody>
      </p:sp>
      <p:sp>
        <p:nvSpPr>
          <p:cNvPr id="12" name="Text 10"/>
          <p:cNvSpPr/>
          <p:nvPr/>
        </p:nvSpPr>
        <p:spPr>
          <a:xfrm>
            <a:off x="2103120" y="2157984"/>
            <a:ext cx="2194560" cy="237744"/>
          </a:xfrm>
          <a:prstGeom prst="rect">
            <a:avLst/>
          </a:prstGeom>
          <a:noFill/>
          <a:ln/>
        </p:spPr>
        <p:txBody>
          <a:bodyPr wrap="square" lIns="0" tIns="0" rIns="0" bIns="0" rtlCol="0" anchor="ctr"/>
          <a:lstStyle/>
          <a:p>
            <a:pPr marL="0" indent="0">
              <a:buNone/>
            </a:pPr>
            <a:r>
              <a:rPr lang="en-US" sz="1050" dirty="0">
                <a:solidFill>
                  <a:srgbClr val="1C2A35"/>
                </a:solidFill>
                <a:latin typeface="Calibri" pitchFamily="34" charset="0"/>
                <a:ea typeface="Calibri" pitchFamily="34" charset="-122"/>
                <a:cs typeface="Calibri" pitchFamily="34" charset="-120"/>
              </a:rPr>
              <a:t>One model per country</a:t>
            </a:r>
            <a:endParaRPr lang="en-US" sz="1050" dirty="0"/>
          </a:p>
        </p:txBody>
      </p:sp>
      <p:sp>
        <p:nvSpPr>
          <p:cNvPr id="13" name="Text 11"/>
          <p:cNvSpPr/>
          <p:nvPr/>
        </p:nvSpPr>
        <p:spPr>
          <a:xfrm>
            <a:off x="502920" y="2414016"/>
            <a:ext cx="1554480" cy="237744"/>
          </a:xfrm>
          <a:prstGeom prst="rect">
            <a:avLst/>
          </a:prstGeom>
          <a:noFill/>
          <a:ln/>
        </p:spPr>
        <p:txBody>
          <a:bodyPr wrap="square" lIns="0" tIns="0" rIns="0" bIns="0" rtlCol="0" anchor="ctr"/>
          <a:lstStyle/>
          <a:p>
            <a:pPr marL="0" indent="0">
              <a:buNone/>
            </a:pPr>
            <a:r>
              <a:rPr lang="en-US" sz="1050" b="1" dirty="0">
                <a:solidFill>
                  <a:srgbClr val="0A3D62"/>
                </a:solidFill>
                <a:latin typeface="Calibri" pitchFamily="34" charset="0"/>
                <a:ea typeface="Calibri" pitchFamily="34" charset="-122"/>
                <a:cs typeface="Calibri" pitchFamily="34" charset="-120"/>
              </a:rPr>
              <a:t>Forecast horizon:</a:t>
            </a:r>
            <a:endParaRPr lang="en-US" sz="1050" dirty="0"/>
          </a:p>
        </p:txBody>
      </p:sp>
      <p:sp>
        <p:nvSpPr>
          <p:cNvPr id="14" name="Text 12"/>
          <p:cNvSpPr/>
          <p:nvPr/>
        </p:nvSpPr>
        <p:spPr>
          <a:xfrm>
            <a:off x="2103120" y="2414016"/>
            <a:ext cx="2194560" cy="237744"/>
          </a:xfrm>
          <a:prstGeom prst="rect">
            <a:avLst/>
          </a:prstGeom>
          <a:noFill/>
          <a:ln/>
        </p:spPr>
        <p:txBody>
          <a:bodyPr wrap="square" lIns="0" tIns="0" rIns="0" bIns="0" rtlCol="0" anchor="ctr"/>
          <a:lstStyle/>
          <a:p>
            <a:pPr marL="0" indent="0">
              <a:buNone/>
            </a:pPr>
            <a:r>
              <a:rPr lang="en-US" sz="1050" dirty="0">
                <a:solidFill>
                  <a:srgbClr val="1C2A35"/>
                </a:solidFill>
                <a:latin typeface="Calibri" pitchFamily="34" charset="0"/>
                <a:ea typeface="Calibri" pitchFamily="34" charset="-122"/>
                <a:cs typeface="Calibri" pitchFamily="34" charset="-120"/>
              </a:rPr>
              <a:t>2022, 2023, 2024</a:t>
            </a:r>
            <a:endParaRPr lang="en-US" sz="1050" dirty="0"/>
          </a:p>
        </p:txBody>
      </p:sp>
      <p:sp>
        <p:nvSpPr>
          <p:cNvPr id="15" name="Shape 13"/>
          <p:cNvSpPr/>
          <p:nvPr/>
        </p:nvSpPr>
        <p:spPr>
          <a:xfrm>
            <a:off x="365760" y="2926080"/>
            <a:ext cx="4023360" cy="1874520"/>
          </a:xfrm>
          <a:prstGeom prst="roundRect">
            <a:avLst>
              <a:gd name="adj" fmla="val 3902"/>
            </a:avLst>
          </a:prstGeom>
          <a:solidFill>
            <a:srgbClr val="0A3D62"/>
          </a:solidFill>
          <a:ln/>
          <a:effectLst>
            <a:outerShdw blurRad="101600" dist="25400" dir="2700000" algn="bl" rotWithShape="0">
              <a:srgbClr val="000000">
                <a:alpha val="10000"/>
              </a:srgbClr>
            </a:outerShdw>
          </a:effectLst>
        </p:spPr>
      </p:sp>
      <p:sp>
        <p:nvSpPr>
          <p:cNvPr id="16" name="Text 14"/>
          <p:cNvSpPr/>
          <p:nvPr/>
        </p:nvSpPr>
        <p:spPr>
          <a:xfrm>
            <a:off x="502920" y="2990088"/>
            <a:ext cx="374904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Python Implementation</a:t>
            </a:r>
            <a:endParaRPr lang="en-US" sz="1200" dirty="0"/>
          </a:p>
        </p:txBody>
      </p:sp>
      <p:sp>
        <p:nvSpPr>
          <p:cNvPr id="17" name="Text 15"/>
          <p:cNvSpPr/>
          <p:nvPr/>
        </p:nvSpPr>
        <p:spPr>
          <a:xfrm>
            <a:off x="502920" y="3337560"/>
            <a:ext cx="3749040" cy="1325880"/>
          </a:xfrm>
          <a:prstGeom prst="rect">
            <a:avLst/>
          </a:prstGeom>
          <a:noFill/>
          <a:ln/>
        </p:spPr>
        <p:txBody>
          <a:bodyPr wrap="square" rtlCol="0" anchor="ctr"/>
          <a:lstStyle/>
          <a:p>
            <a:pPr marL="0" indent="0">
              <a:buNone/>
            </a:pPr>
            <a:r>
              <a:rPr lang="en-US" sz="950" dirty="0">
                <a:solidFill>
                  <a:srgbClr val="F6AE2D"/>
                </a:solidFill>
                <a:latin typeface="Courier New" pitchFamily="34" charset="0"/>
                <a:ea typeface="Courier New" pitchFamily="34" charset="-122"/>
                <a:cs typeface="Courier New" pitchFamily="34" charset="-120"/>
              </a:rPr>
              <a:t>model = LinearRegression()</a:t>
            </a:r>
            <a:endParaRPr lang="en-US" sz="950" dirty="0"/>
          </a:p>
          <a:p>
            <a:pPr marL="0" indent="0">
              <a:buNone/>
            </a:pPr>
            <a:r>
              <a:rPr lang="en-US" sz="950" dirty="0">
                <a:solidFill>
                  <a:srgbClr val="F6AE2D"/>
                </a:solidFill>
                <a:latin typeface="Courier New" pitchFamily="34" charset="0"/>
                <a:ea typeface="Courier New" pitchFamily="34" charset="-122"/>
                <a:cs typeface="Courier New" pitchFamily="34" charset="-120"/>
              </a:rPr>
              <a:t>for c in df_stat_multy.columns:</a:t>
            </a:r>
            <a:endParaRPr lang="en-US" sz="950" dirty="0"/>
          </a:p>
          <a:p>
            <a:pPr marL="0" indent="0">
              <a:buNone/>
            </a:pPr>
            <a:r>
              <a:rPr lang="en-US" sz="950" dirty="0">
                <a:solidFill>
                  <a:srgbClr val="F6AE2D"/>
                </a:solidFill>
                <a:latin typeface="Courier New" pitchFamily="34" charset="0"/>
                <a:ea typeface="Courier New" pitchFamily="34" charset="-122"/>
                <a:cs typeface="Courier New" pitchFamily="34" charset="-120"/>
              </a:rPr>
              <a:t>  x = reshape(years)</a:t>
            </a:r>
            <a:endParaRPr lang="en-US" sz="950" dirty="0"/>
          </a:p>
          <a:p>
            <a:pPr marL="0" indent="0">
              <a:buNone/>
            </a:pPr>
            <a:r>
              <a:rPr lang="en-US" sz="950" dirty="0">
                <a:solidFill>
                  <a:srgbClr val="F6AE2D"/>
                </a:solidFill>
                <a:latin typeface="Courier New" pitchFamily="34" charset="0"/>
                <a:ea typeface="Courier New" pitchFamily="34" charset="-122"/>
                <a:cs typeface="Courier New" pitchFamily="34" charset="-120"/>
              </a:rPr>
              <a:t>  y = reshape(prices[c])</a:t>
            </a:r>
            <a:endParaRPr lang="en-US" sz="950" dirty="0"/>
          </a:p>
          <a:p>
            <a:pPr marL="0" indent="0">
              <a:buNone/>
            </a:pPr>
            <a:r>
              <a:rPr lang="en-US" sz="950" dirty="0">
                <a:solidFill>
                  <a:srgbClr val="F6AE2D"/>
                </a:solidFill>
                <a:latin typeface="Courier New" pitchFamily="34" charset="0"/>
                <a:ea typeface="Courier New" pitchFamily="34" charset="-122"/>
                <a:cs typeface="Courier New" pitchFamily="34" charset="-120"/>
              </a:rPr>
              <a:t>  model.fit(x, y)</a:t>
            </a:r>
            <a:endParaRPr lang="en-US" sz="950" dirty="0"/>
          </a:p>
          <a:p>
            <a:pPr marL="0" indent="0">
              <a:buNone/>
            </a:pPr>
            <a:r>
              <a:rPr lang="en-US" sz="950" dirty="0">
                <a:solidFill>
                  <a:srgbClr val="F6AE2D"/>
                </a:solidFill>
                <a:latin typeface="Courier New" pitchFamily="34" charset="0"/>
                <a:ea typeface="Courier New" pitchFamily="34" charset="-122"/>
                <a:cs typeface="Courier New" pitchFamily="34" charset="-120"/>
              </a:rPr>
              <a:t>  forecast = model.predict([2022,2023,2024])</a:t>
            </a:r>
            <a:endParaRPr lang="en-US" sz="950" dirty="0"/>
          </a:p>
        </p:txBody>
      </p:sp>
      <p:graphicFrame>
        <p:nvGraphicFramePr>
          <p:cNvPr id="18" name="Chart 0"/>
          <p:cNvGraphicFramePr/>
          <p:nvPr/>
        </p:nvGraphicFramePr>
        <p:xfrm>
          <a:off x="4663440" y="960120"/>
          <a:ext cx="4114800" cy="1828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Chart 1"/>
          <p:cNvGraphicFramePr/>
          <p:nvPr/>
        </p:nvGraphicFramePr>
        <p:xfrm>
          <a:off x="4663440" y="2834640"/>
          <a:ext cx="4114800" cy="196596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A3D62"/>
        </a:solidFill>
        <a:effectLst/>
      </p:bgPr>
    </p:bg>
    <p:spTree>
      <p:nvGrpSpPr>
        <p:cNvPr id="1" name=""/>
        <p:cNvGrpSpPr/>
        <p:nvPr/>
      </p:nvGrpSpPr>
      <p:grpSpPr>
        <a:xfrm>
          <a:off x="0" y="0"/>
          <a:ext cx="0" cy="0"/>
          <a:chOff x="0" y="0"/>
          <a:chExt cx="0" cy="0"/>
        </a:xfrm>
      </p:grpSpPr>
      <p:sp>
        <p:nvSpPr>
          <p:cNvPr id="2" name="Text 0"/>
          <p:cNvSpPr/>
          <p:nvPr/>
        </p:nvSpPr>
        <p:spPr>
          <a:xfrm>
            <a:off x="548640" y="320040"/>
            <a:ext cx="8229600" cy="50292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Key Findings</a:t>
            </a:r>
            <a:endParaRPr lang="en-US" sz="3400" dirty="0"/>
          </a:p>
        </p:txBody>
      </p:sp>
      <p:sp>
        <p:nvSpPr>
          <p:cNvPr id="3" name="Shape 1"/>
          <p:cNvSpPr/>
          <p:nvPr/>
        </p:nvSpPr>
        <p:spPr>
          <a:xfrm>
            <a:off x="457200" y="1005840"/>
            <a:ext cx="4160520" cy="1170432"/>
          </a:xfrm>
          <a:prstGeom prst="roundRect">
            <a:avLst>
              <a:gd name="adj" fmla="val 6250"/>
            </a:avLst>
          </a:prstGeom>
          <a:solidFill>
            <a:srgbClr val="0E3A52">
              <a:alpha val="80000"/>
            </a:srgbClr>
          </a:solidFill>
          <a:ln w="6350">
            <a:solidFill>
              <a:srgbClr val="0E9AA7"/>
            </a:solidFill>
            <a:prstDash val="solid"/>
          </a:ln>
        </p:spPr>
      </p:sp>
      <p:sp>
        <p:nvSpPr>
          <p:cNvPr id="4" name="Text 2"/>
          <p:cNvSpPr/>
          <p:nvPr/>
        </p:nvSpPr>
        <p:spPr>
          <a:xfrm>
            <a:off x="566928" y="1097280"/>
            <a:ext cx="457200" cy="320040"/>
          </a:xfrm>
          <a:prstGeom prst="rect">
            <a:avLst/>
          </a:prstGeom>
          <a:noFill/>
          <a:ln/>
        </p:spPr>
        <p:txBody>
          <a:bodyPr wrap="square" lIns="0" tIns="0" rIns="0" bIns="0" rtlCol="0" anchor="ctr"/>
          <a:lstStyle/>
          <a:p>
            <a:pPr marL="0" indent="0">
              <a:buNone/>
            </a:pPr>
            <a:r>
              <a:rPr lang="en-US" sz="1600" b="1" dirty="0">
                <a:solidFill>
                  <a:srgbClr val="F6AE2D"/>
                </a:solidFill>
                <a:latin typeface="Calibri" pitchFamily="34" charset="0"/>
                <a:ea typeface="Calibri" pitchFamily="34" charset="-122"/>
                <a:cs typeface="Calibri" pitchFamily="34" charset="-120"/>
              </a:rPr>
              <a:t>01</a:t>
            </a:r>
            <a:endParaRPr lang="en-US" sz="1600" dirty="0"/>
          </a:p>
        </p:txBody>
      </p:sp>
      <p:sp>
        <p:nvSpPr>
          <p:cNvPr id="5" name="Text 3"/>
          <p:cNvSpPr/>
          <p:nvPr/>
        </p:nvSpPr>
        <p:spPr>
          <a:xfrm>
            <a:off x="1051560" y="1097280"/>
            <a:ext cx="347472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Inflation Is Universal — But Uneven</a:t>
            </a:r>
            <a:endParaRPr lang="en-US" sz="1200" dirty="0"/>
          </a:p>
        </p:txBody>
      </p:sp>
      <p:sp>
        <p:nvSpPr>
          <p:cNvPr id="6" name="Text 4"/>
          <p:cNvSpPr/>
          <p:nvPr/>
        </p:nvSpPr>
        <p:spPr>
          <a:xfrm>
            <a:off x="594360" y="1463040"/>
            <a:ext cx="3931920" cy="621792"/>
          </a:xfrm>
          <a:prstGeom prst="rect">
            <a:avLst/>
          </a:prstGeom>
          <a:noFill/>
          <a:ln/>
        </p:spPr>
        <p:txBody>
          <a:bodyPr wrap="square" rtlCol="0" anchor="ctr"/>
          <a:lstStyle/>
          <a:p>
            <a:pPr marL="0" indent="0">
              <a:buNone/>
            </a:pPr>
            <a:r>
              <a:rPr lang="en-US" sz="1000" dirty="0">
                <a:solidFill>
                  <a:srgbClr val="B8D8E8"/>
                </a:solidFill>
                <a:latin typeface="Calibri" pitchFamily="34" charset="0"/>
                <a:ea typeface="Calibri" pitchFamily="34" charset="-122"/>
                <a:cs typeface="Calibri" pitchFamily="34" charset="-120"/>
              </a:rPr>
              <a:t>All countries show upward price trends for staple foods, but the rate varies dramatically. Conflict-affected regions (Ukraine 2014, Mali 2012) show sudden price jumps that never fully reverse.</a:t>
            </a:r>
            <a:endParaRPr lang="en-US" sz="1000" dirty="0"/>
          </a:p>
        </p:txBody>
      </p:sp>
      <p:sp>
        <p:nvSpPr>
          <p:cNvPr id="7" name="Shape 5"/>
          <p:cNvSpPr/>
          <p:nvPr/>
        </p:nvSpPr>
        <p:spPr>
          <a:xfrm>
            <a:off x="457200" y="2304288"/>
            <a:ext cx="4160520" cy="1170432"/>
          </a:xfrm>
          <a:prstGeom prst="roundRect">
            <a:avLst>
              <a:gd name="adj" fmla="val 6250"/>
            </a:avLst>
          </a:prstGeom>
          <a:solidFill>
            <a:srgbClr val="0E3A52">
              <a:alpha val="80000"/>
            </a:srgbClr>
          </a:solidFill>
          <a:ln w="6350">
            <a:solidFill>
              <a:srgbClr val="0E9AA7"/>
            </a:solidFill>
            <a:prstDash val="solid"/>
          </a:ln>
        </p:spPr>
      </p:sp>
      <p:sp>
        <p:nvSpPr>
          <p:cNvPr id="8" name="Text 6"/>
          <p:cNvSpPr/>
          <p:nvPr/>
        </p:nvSpPr>
        <p:spPr>
          <a:xfrm>
            <a:off x="566928" y="2395728"/>
            <a:ext cx="457200" cy="320040"/>
          </a:xfrm>
          <a:prstGeom prst="rect">
            <a:avLst/>
          </a:prstGeom>
          <a:noFill/>
          <a:ln/>
        </p:spPr>
        <p:txBody>
          <a:bodyPr wrap="square" lIns="0" tIns="0" rIns="0" bIns="0" rtlCol="0" anchor="ctr"/>
          <a:lstStyle/>
          <a:p>
            <a:pPr marL="0" indent="0">
              <a:buNone/>
            </a:pPr>
            <a:r>
              <a:rPr lang="en-US" sz="1600" b="1" dirty="0">
                <a:solidFill>
                  <a:srgbClr val="F6AE2D"/>
                </a:solidFill>
                <a:latin typeface="Calibri" pitchFamily="34" charset="0"/>
                <a:ea typeface="Calibri" pitchFamily="34" charset="-122"/>
                <a:cs typeface="Calibri" pitchFamily="34" charset="-120"/>
              </a:rPr>
              <a:t>02</a:t>
            </a:r>
            <a:endParaRPr lang="en-US" sz="1600" dirty="0"/>
          </a:p>
        </p:txBody>
      </p:sp>
      <p:sp>
        <p:nvSpPr>
          <p:cNvPr id="9" name="Text 7"/>
          <p:cNvSpPr/>
          <p:nvPr/>
        </p:nvSpPr>
        <p:spPr>
          <a:xfrm>
            <a:off x="1051560" y="2395728"/>
            <a:ext cx="347472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Intra-Country Disparity Is Significant</a:t>
            </a:r>
            <a:endParaRPr lang="en-US" sz="1200" dirty="0"/>
          </a:p>
        </p:txBody>
      </p:sp>
      <p:sp>
        <p:nvSpPr>
          <p:cNvPr id="10" name="Text 8"/>
          <p:cNvSpPr/>
          <p:nvPr/>
        </p:nvSpPr>
        <p:spPr>
          <a:xfrm>
            <a:off x="594360" y="2761488"/>
            <a:ext cx="3931920" cy="621792"/>
          </a:xfrm>
          <a:prstGeom prst="rect">
            <a:avLst/>
          </a:prstGeom>
          <a:noFill/>
          <a:ln/>
        </p:spPr>
        <p:txBody>
          <a:bodyPr wrap="square" rtlCol="0" anchor="ctr"/>
          <a:lstStyle/>
          <a:p>
            <a:pPr marL="0" indent="0">
              <a:buNone/>
            </a:pPr>
            <a:r>
              <a:rPr lang="en-US" sz="1000" dirty="0">
                <a:solidFill>
                  <a:srgbClr val="B8D8E8"/>
                </a:solidFill>
                <a:latin typeface="Calibri" pitchFamily="34" charset="0"/>
                <a:ea typeface="Calibri" pitchFamily="34" charset="-122"/>
                <a:cs typeface="Calibri" pitchFamily="34" charset="-120"/>
              </a:rPr>
              <a:t>Within India alone, rice prices vary by ~50% between the cheapest and most expensive local markets. Remote/landlocked markets show 2–3× higher price volatility.</a:t>
            </a:r>
            <a:endParaRPr lang="en-US" sz="1000" dirty="0"/>
          </a:p>
        </p:txBody>
      </p:sp>
      <p:sp>
        <p:nvSpPr>
          <p:cNvPr id="11" name="Shape 9"/>
          <p:cNvSpPr/>
          <p:nvPr/>
        </p:nvSpPr>
        <p:spPr>
          <a:xfrm>
            <a:off x="457200" y="3602736"/>
            <a:ext cx="4160520" cy="1170432"/>
          </a:xfrm>
          <a:prstGeom prst="roundRect">
            <a:avLst>
              <a:gd name="adj" fmla="val 6250"/>
            </a:avLst>
          </a:prstGeom>
          <a:solidFill>
            <a:srgbClr val="0E3A52">
              <a:alpha val="80000"/>
            </a:srgbClr>
          </a:solidFill>
          <a:ln w="6350">
            <a:solidFill>
              <a:srgbClr val="0E9AA7"/>
            </a:solidFill>
            <a:prstDash val="solid"/>
          </a:ln>
        </p:spPr>
      </p:sp>
      <p:sp>
        <p:nvSpPr>
          <p:cNvPr id="12" name="Text 10"/>
          <p:cNvSpPr/>
          <p:nvPr/>
        </p:nvSpPr>
        <p:spPr>
          <a:xfrm>
            <a:off x="566928" y="3694176"/>
            <a:ext cx="457200" cy="320040"/>
          </a:xfrm>
          <a:prstGeom prst="rect">
            <a:avLst/>
          </a:prstGeom>
          <a:noFill/>
          <a:ln/>
        </p:spPr>
        <p:txBody>
          <a:bodyPr wrap="square" lIns="0" tIns="0" rIns="0" bIns="0" rtlCol="0" anchor="ctr"/>
          <a:lstStyle/>
          <a:p>
            <a:pPr marL="0" indent="0">
              <a:buNone/>
            </a:pPr>
            <a:r>
              <a:rPr lang="en-US" sz="1600" b="1" dirty="0">
                <a:solidFill>
                  <a:srgbClr val="F6AE2D"/>
                </a:solidFill>
                <a:latin typeface="Calibri" pitchFamily="34" charset="0"/>
                <a:ea typeface="Calibri" pitchFamily="34" charset="-122"/>
                <a:cs typeface="Calibri" pitchFamily="34" charset="-120"/>
              </a:rPr>
              <a:t>03</a:t>
            </a:r>
            <a:endParaRPr lang="en-US" sz="1600" dirty="0"/>
          </a:p>
        </p:txBody>
      </p:sp>
      <p:sp>
        <p:nvSpPr>
          <p:cNvPr id="13" name="Text 11"/>
          <p:cNvSpPr/>
          <p:nvPr/>
        </p:nvSpPr>
        <p:spPr>
          <a:xfrm>
            <a:off x="1051560" y="3694176"/>
            <a:ext cx="347472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Meat &amp; Fish Drive Volatility</a:t>
            </a:r>
            <a:endParaRPr lang="en-US" sz="1200" dirty="0"/>
          </a:p>
        </p:txBody>
      </p:sp>
      <p:sp>
        <p:nvSpPr>
          <p:cNvPr id="14" name="Text 12"/>
          <p:cNvSpPr/>
          <p:nvPr/>
        </p:nvSpPr>
        <p:spPr>
          <a:xfrm>
            <a:off x="594360" y="4059936"/>
            <a:ext cx="3931920" cy="621792"/>
          </a:xfrm>
          <a:prstGeom prst="rect">
            <a:avLst/>
          </a:prstGeom>
          <a:noFill/>
          <a:ln/>
        </p:spPr>
        <p:txBody>
          <a:bodyPr wrap="square" rtlCol="0" anchor="ctr"/>
          <a:lstStyle/>
          <a:p>
            <a:pPr marL="0" indent="0">
              <a:buNone/>
            </a:pPr>
            <a:r>
              <a:rPr lang="en-US" sz="1000" dirty="0">
                <a:solidFill>
                  <a:srgbClr val="B8D8E8"/>
                </a:solidFill>
                <a:latin typeface="Calibri" pitchFamily="34" charset="0"/>
                <a:ea typeface="Calibri" pitchFamily="34" charset="-122"/>
                <a:cs typeface="Calibri" pitchFamily="34" charset="-120"/>
              </a:rPr>
              <a:t>Boxplot analysis confirms Meat and Fish have the widest global price distributions. Rice and Bread are the most stable commodities — supporting their status as globally subsidized staples.</a:t>
            </a:r>
            <a:endParaRPr lang="en-US" sz="1000" dirty="0"/>
          </a:p>
        </p:txBody>
      </p:sp>
      <p:sp>
        <p:nvSpPr>
          <p:cNvPr id="15" name="Shape 13"/>
          <p:cNvSpPr/>
          <p:nvPr/>
        </p:nvSpPr>
        <p:spPr>
          <a:xfrm>
            <a:off x="4892040" y="1005840"/>
            <a:ext cx="4160520" cy="1170432"/>
          </a:xfrm>
          <a:prstGeom prst="roundRect">
            <a:avLst>
              <a:gd name="adj" fmla="val 6250"/>
            </a:avLst>
          </a:prstGeom>
          <a:solidFill>
            <a:srgbClr val="0E3A52">
              <a:alpha val="80000"/>
            </a:srgbClr>
          </a:solidFill>
          <a:ln w="6350">
            <a:solidFill>
              <a:srgbClr val="0E9AA7"/>
            </a:solidFill>
            <a:prstDash val="solid"/>
          </a:ln>
        </p:spPr>
      </p:sp>
      <p:sp>
        <p:nvSpPr>
          <p:cNvPr id="16" name="Text 14"/>
          <p:cNvSpPr/>
          <p:nvPr/>
        </p:nvSpPr>
        <p:spPr>
          <a:xfrm>
            <a:off x="5001768" y="1097280"/>
            <a:ext cx="457200" cy="320040"/>
          </a:xfrm>
          <a:prstGeom prst="rect">
            <a:avLst/>
          </a:prstGeom>
          <a:noFill/>
          <a:ln/>
        </p:spPr>
        <p:txBody>
          <a:bodyPr wrap="square" lIns="0" tIns="0" rIns="0" bIns="0" rtlCol="0" anchor="ctr"/>
          <a:lstStyle/>
          <a:p>
            <a:pPr marL="0" indent="0">
              <a:buNone/>
            </a:pPr>
            <a:r>
              <a:rPr lang="en-US" sz="1600" b="1" dirty="0">
                <a:solidFill>
                  <a:srgbClr val="F6AE2D"/>
                </a:solidFill>
                <a:latin typeface="Calibri" pitchFamily="34" charset="0"/>
                <a:ea typeface="Calibri" pitchFamily="34" charset="-122"/>
                <a:cs typeface="Calibri" pitchFamily="34" charset="-120"/>
              </a:rPr>
              <a:t>04</a:t>
            </a:r>
            <a:endParaRPr lang="en-US" sz="1600" dirty="0"/>
          </a:p>
        </p:txBody>
      </p:sp>
      <p:sp>
        <p:nvSpPr>
          <p:cNvPr id="17" name="Text 15"/>
          <p:cNvSpPr/>
          <p:nvPr/>
        </p:nvSpPr>
        <p:spPr>
          <a:xfrm>
            <a:off x="5486400" y="1097280"/>
            <a:ext cx="347472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Afghanistan &amp; Tajikistan Face Rising Costs</a:t>
            </a:r>
            <a:endParaRPr lang="en-US" sz="1200" dirty="0"/>
          </a:p>
        </p:txBody>
      </p:sp>
      <p:sp>
        <p:nvSpPr>
          <p:cNvPr id="18" name="Text 16"/>
          <p:cNvSpPr/>
          <p:nvPr/>
        </p:nvSpPr>
        <p:spPr>
          <a:xfrm>
            <a:off x="5029200" y="1463040"/>
            <a:ext cx="3931920" cy="621792"/>
          </a:xfrm>
          <a:prstGeom prst="rect">
            <a:avLst/>
          </a:prstGeom>
          <a:noFill/>
          <a:ln/>
        </p:spPr>
        <p:txBody>
          <a:bodyPr wrap="square" rtlCol="0" anchor="ctr"/>
          <a:lstStyle/>
          <a:p>
            <a:pPr marL="0" indent="0">
              <a:buNone/>
            </a:pPr>
            <a:r>
              <a:rPr lang="en-US" sz="1000" dirty="0">
                <a:solidFill>
                  <a:srgbClr val="B8D8E8"/>
                </a:solidFill>
                <a:latin typeface="Calibri" pitchFamily="34" charset="0"/>
                <a:ea typeface="Calibri" pitchFamily="34" charset="-122"/>
                <a:cs typeface="Calibri" pitchFamily="34" charset="-120"/>
              </a:rPr>
              <a:t>USD-normalized analysis shows these two countries have the steepest upward price trajectories — forecasting rice approaching $1.20/KG by 2024, a 200%+ increase from 2007 baselines.</a:t>
            </a:r>
            <a:endParaRPr lang="en-US" sz="1000" dirty="0"/>
          </a:p>
        </p:txBody>
      </p:sp>
      <p:sp>
        <p:nvSpPr>
          <p:cNvPr id="19" name="Shape 17"/>
          <p:cNvSpPr/>
          <p:nvPr/>
        </p:nvSpPr>
        <p:spPr>
          <a:xfrm>
            <a:off x="4892040" y="2304288"/>
            <a:ext cx="4160520" cy="1298448"/>
          </a:xfrm>
          <a:prstGeom prst="roundRect">
            <a:avLst>
              <a:gd name="adj" fmla="val 5634"/>
            </a:avLst>
          </a:prstGeom>
          <a:solidFill>
            <a:srgbClr val="0E3A52">
              <a:alpha val="80000"/>
            </a:srgbClr>
          </a:solidFill>
          <a:ln w="6350">
            <a:solidFill>
              <a:srgbClr val="0E9AA7"/>
            </a:solidFill>
            <a:prstDash val="solid"/>
          </a:ln>
        </p:spPr>
      </p:sp>
      <p:sp>
        <p:nvSpPr>
          <p:cNvPr id="20" name="Text 18"/>
          <p:cNvSpPr/>
          <p:nvPr/>
        </p:nvSpPr>
        <p:spPr>
          <a:xfrm>
            <a:off x="5001768" y="2395728"/>
            <a:ext cx="457200" cy="320040"/>
          </a:xfrm>
          <a:prstGeom prst="rect">
            <a:avLst/>
          </a:prstGeom>
          <a:noFill/>
          <a:ln/>
        </p:spPr>
        <p:txBody>
          <a:bodyPr wrap="square" lIns="0" tIns="0" rIns="0" bIns="0" rtlCol="0" anchor="ctr"/>
          <a:lstStyle/>
          <a:p>
            <a:pPr marL="0" indent="0">
              <a:buNone/>
            </a:pPr>
            <a:r>
              <a:rPr lang="en-US" sz="1600" b="1" dirty="0">
                <a:solidFill>
                  <a:srgbClr val="F6AE2D"/>
                </a:solidFill>
                <a:latin typeface="Calibri" pitchFamily="34" charset="0"/>
                <a:ea typeface="Calibri" pitchFamily="34" charset="-122"/>
                <a:cs typeface="Calibri" pitchFamily="34" charset="-120"/>
              </a:rPr>
              <a:t>05</a:t>
            </a:r>
            <a:endParaRPr lang="en-US" sz="1600" dirty="0"/>
          </a:p>
        </p:txBody>
      </p:sp>
      <p:sp>
        <p:nvSpPr>
          <p:cNvPr id="21" name="Text 19"/>
          <p:cNvSpPr/>
          <p:nvPr/>
        </p:nvSpPr>
        <p:spPr>
          <a:xfrm>
            <a:off x="5486400" y="2395728"/>
            <a:ext cx="347472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Exchange Rate is the Hidden Variable</a:t>
            </a:r>
            <a:endParaRPr lang="en-US" sz="1200" dirty="0"/>
          </a:p>
        </p:txBody>
      </p:sp>
      <p:sp>
        <p:nvSpPr>
          <p:cNvPr id="22" name="Text 20"/>
          <p:cNvSpPr/>
          <p:nvPr/>
        </p:nvSpPr>
        <p:spPr>
          <a:xfrm>
            <a:off x="5029200" y="2761488"/>
            <a:ext cx="3931920" cy="621792"/>
          </a:xfrm>
          <a:prstGeom prst="rect">
            <a:avLst/>
          </a:prstGeom>
          <a:noFill/>
          <a:ln/>
        </p:spPr>
        <p:txBody>
          <a:bodyPr wrap="square" rtlCol="0" anchor="ctr"/>
          <a:lstStyle/>
          <a:p>
            <a:pPr marL="0" indent="0">
              <a:buNone/>
            </a:pPr>
            <a:r>
              <a:rPr lang="en-US" sz="1000" dirty="0">
                <a:solidFill>
                  <a:srgbClr val="B8D8E8"/>
                </a:solidFill>
                <a:latin typeface="Calibri" pitchFamily="34" charset="0"/>
                <a:ea typeface="Calibri" pitchFamily="34" charset="-122"/>
                <a:cs typeface="Calibri" pitchFamily="34" charset="-120"/>
              </a:rPr>
              <a:t>Currency devaluation (especially visible in Ukraine 2014–2015) can triple local food prices overnight — often hitting the most vulnerable populations hardest.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1925</Words>
  <Application>Microsoft Office PowerPoint</Application>
  <PresentationFormat>Affichage à l'écran (16:9)</PresentationFormat>
  <Paragraphs>249</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Arial</vt:lpstr>
      <vt:lpstr>Calibri</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Food Price Analysis</dc:title>
  <dc:subject>PptxGenJS Presentation</dc:subject>
  <dc:creator>Data Analytics Team</dc:creator>
  <cp:lastModifiedBy>Maloshree Mukherjee</cp:lastModifiedBy>
  <cp:revision>2</cp:revision>
  <dcterms:created xsi:type="dcterms:W3CDTF">2026-06-27T03:05:12Z</dcterms:created>
  <dcterms:modified xsi:type="dcterms:W3CDTF">2026-06-28T14:04:22Z</dcterms:modified>
</cp:coreProperties>
</file>